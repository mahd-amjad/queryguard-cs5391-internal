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43" autoAdjust="0"/>
  </p:normalViewPr>
  <p:slideViewPr>
    <p:cSldViewPr snapToGrid="0">
      <p:cViewPr varScale="1">
        <p:scale>
          <a:sx n="87" d="100"/>
          <a:sy n="87" d="100"/>
        </p:scale>
        <p:origin x="4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r>
              <a:rPr lang="en-US" sz="1400" b="1">
                <a:solidFill>
                  <a:srgbClr val="F2F0E8"/>
                </a:solidFill>
              </a:rPr>
              <a:t>Evaluation corpus: prompts per class</a:t>
            </a:r>
          </a:p>
        </c:rich>
      </c:tx>
      <c:overlay val="0"/>
    </c:title>
    <c:autoTitleDeleted val="0"/>
    <c:plotArea>
      <c:layout/>
      <c:barChart>
        <c:barDir val="bar"/>
        <c:grouping val="clustered"/>
        <c:varyColors val="0"/>
        <c:ser>
          <c:idx val="0"/>
          <c:order val="0"/>
          <c:tx>
            <c:v>Starter</c:v>
          </c:tx>
          <c:spPr>
            <a:solidFill>
              <a:srgbClr val="8FA3B5"/>
            </a:solidFill>
          </c:spPr>
          <c:invertIfNegative val="0"/>
          <c:cat>
            <c:strLit>
              <c:ptCount val="6"/>
              <c:pt idx="0">
                <c:v>Direct DML</c:v>
              </c:pt>
              <c:pt idx="1">
                <c:v>Write bypass</c:v>
              </c:pt>
              <c:pt idx="2">
                <c:v>Multi-query</c:v>
              </c:pt>
              <c:pt idx="3">
                <c:v>Read exfil</c:v>
              </c:pt>
              <c:pt idx="4">
                <c:v>Schema recon</c:v>
              </c:pt>
              <c:pt idx="5">
                <c:v>Semantic</c:v>
              </c:pt>
            </c:strLit>
          </c:cat>
          <c:val>
            <c:numLit>
              <c:formatCode>General</c:formatCode>
              <c:ptCount val="6"/>
              <c:pt idx="0">
                <c:v>2</c:v>
              </c:pt>
              <c:pt idx="1">
                <c:v>2</c:v>
              </c:pt>
              <c:pt idx="2">
                <c:v>2</c:v>
              </c:pt>
              <c:pt idx="3">
                <c:v>2</c:v>
              </c:pt>
              <c:pt idx="4">
                <c:v>2</c:v>
              </c:pt>
              <c:pt idx="5">
                <c:v>2</c:v>
              </c:pt>
            </c:numLit>
          </c:val>
          <c:extLst xmlns:c16="http://schemas.microsoft.com/office/drawing/2014/chart">
            <c:ext xmlns:c16="http://schemas.microsoft.com/office/drawing/2014/chart" uri="{C3380CC4-5D6E-409C-BE32-E72D297353CC}">
              <c16:uniqueId val="{00000000-515B-4CAF-8631-020B6E8990BF}"/>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out"/>
        <c:minorTickMark val="none"/>
        <c:tickLblPos val="nextTo"/>
        <c:txPr>
          <a:bodyPr/>
          <a:lstStyle/>
          <a:p>
            <a:pPr>
              <a:defRPr>
                <a:solidFill>
                  <a:srgbClr val="F2F0E8"/>
                </a:solidFill>
                <a:latin typeface="Calibri"/>
                <a:cs typeface="Calibri"/>
              </a:defRPr>
            </a:pPr>
            <a:endParaRPr lang="en-US"/>
          </a:p>
        </c:txPr>
        <c:crossAx val="2"/>
        <c:crosses val="autoZero"/>
        <c:auto val="1"/>
        <c:lblAlgn val="ctr"/>
        <c:lblOffset val="100"/>
        <c:noMultiLvlLbl val="1"/>
      </c:catAx>
      <c:valAx>
        <c:axId val="2"/>
        <c:scaling>
          <c:orientation val="minMax"/>
        </c:scaling>
        <c:delete val="0"/>
        <c:axPos val="b"/>
        <c:majorGridlines/>
        <c:numFmt formatCode="General" sourceLinked="1"/>
        <c:majorTickMark val="out"/>
        <c:minorTickMark val="none"/>
        <c:tickLblPos val="nextTo"/>
        <c:txPr>
          <a:bodyPr/>
          <a:lstStyle/>
          <a:p>
            <a:pPr>
              <a:defRPr>
                <a:solidFill>
                  <a:srgbClr val="F2F0E8"/>
                </a:solidFill>
                <a:latin typeface="Calibri"/>
                <a:cs typeface="Calibri"/>
              </a:defRPr>
            </a:pPr>
            <a:endParaRPr lang="en-US"/>
          </a:p>
        </c:txPr>
        <c:crossAx val="1"/>
        <c:crosses val="autoZero"/>
        <c:crossBetween val="between"/>
      </c:valAx>
    </c:plotArea>
    <c:legend>
      <c:legendPos val="b"/>
      <c:overlay val="0"/>
      <c:txPr>
        <a:bodyPr/>
        <a:lstStyle/>
        <a:p>
          <a:pPr>
            <a:defRPr>
              <a:solidFill>
                <a:srgbClr val="F2F0E8"/>
              </a:solidFill>
              <a:latin typeface="Calibri"/>
              <a:cs typeface="Calibri"/>
            </a:defRPr>
          </a:pPr>
          <a:endParaRPr lang="en-US"/>
        </a:p>
      </c:txPr>
    </c:legend>
    <c:plotVisOnly val="1"/>
    <c:dispBlanksAs val="gap"/>
    <c:showDLblsOverMax val="1"/>
  </c:chart>
  <c:txPr>
    <a:bodyPr/>
    <a:lstStyle/>
    <a:p>
      <a:pPr>
        <a:defRPr>
          <a:solidFill>
            <a:srgbClr val="F2F0E8"/>
          </a:solidFill>
          <a:latin typeface="Calibri"/>
          <a:cs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9/3/2026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Good afternoon. We are proposing QueryGuard, a safety gate for SQL generated by large language models. The flow on the slide is the whole idea: a question goes in, the LLM drafts SQL, our gate checks it against ten rules, and only then does it reach the database. I will cover the problem, why existing defenses leave a gap, our design, how we measure it, and the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[30s] The thesis in one sentence: every generated query should be checked before it touches the database. The CVEs since 2024 show what happens when nobody checks. Our contribution is making the check visible and measured.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Frameworks like LangChain, LlamaIndex, and Vanna wire an unvetted code generator straight into the database. The numbers: three CVEs in major frameworks since 2024, one at CVSS 9.8; published attacks reach roughly 50 percent success with no defenses; and victims get no explanation. Transition: people have tried to fix this.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[60s] Three families. Model-side fixes like </a:t>
            </a:r>
            <a:r>
              <a:rPr lang="en-US" dirty="0" err="1"/>
              <a:t>StruQ</a:t>
            </a:r>
            <a:r>
              <a:rPr lang="en-US" dirty="0"/>
              <a:t> and </a:t>
            </a:r>
            <a:r>
              <a:rPr lang="en-US" dirty="0" err="1"/>
              <a:t>SecAlign</a:t>
            </a:r>
            <a:r>
              <a:rPr lang="en-US" dirty="0"/>
              <a:t> need retraining, so a deployment cannot adopt them without swapping models. Generic guardrails like </a:t>
            </a:r>
            <a:r>
              <a:rPr lang="en-US" dirty="0" err="1"/>
              <a:t>NeMo</a:t>
            </a:r>
            <a:r>
              <a:rPr lang="en-US" dirty="0"/>
              <a:t> and Guardrails AI are opaque and not SQL-aware. Domain tools exist but are not SQL-specific and not reproducible side-by-side. The gap: a transparent, SQL-specific gate at the application layer with measured false positives. Measured is the word to stress. If asked about </a:t>
            </a:r>
            <a:r>
              <a:rPr lang="en-US" dirty="0" err="1"/>
              <a:t>HeimdaLLM</a:t>
            </a:r>
            <a:r>
              <a:rPr lang="en-US" dirty="0"/>
              <a:t>: it reports evaluations, but on its own setup; our point is comparability, not that no numbers exist anywhere.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QueryGuard is a pipeline with a hard trust boundary: the executor accepts queries only from the gate, so no code path bypasses it. Ten rules cover the published attack classes; a rule returns PASS, BLOCK, or MASK. Each component becomes a numbered SRS requirement and a team lane. Effort split: 40 percent gate, 20 evaluation, 20 application, 20 documentation.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[60s] We measure, we do not assert. The corpus comes from the six published attack classes: the starter ships two prompts per class, the target is five per class, thirty attacks plus thirty benign overall. Block rate per class and false positives on benign prompts come from one command, and the same corpus runs in CI so a rule that stops working breaks the build. False positives get the same visibility as block rates; v1 target under 10 percent. If asked about small n: it is a first course-scale checkpoint and we state confidence honestly. If asked about dialects: rules run on a normalized AST; dialect-specific behavior is rule-scoped and tested per dialect.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checkpoints, each with a receipt. Proposal and SRS before midterm, with review comments recorded. A working path plus a green CI corpus gate after midterm. A final demo rehearsed twice with live metrics on screen. The rule we hold ourselves to: if a checkpoint cannot show its receipt, it is not done.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[45s] Three items unblock everything else. The group confirms topic, stack, and lanes this week. We capture the Canvas project page and the exact midterm date in September. The corpus grows to thirty attacks plus thirty benign by October. Close: a measured gate that explains itself turns AI-generated SQL from a risk into a demo. 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p:nvPr>
        </p:nvSpPr>
        <p:spPr>
          <a:xfrm>
            <a:off x="838200" y="1825625"/>
            <a:ext cx="5181600" cy="4351338"/>
          </a:xfrm>
        </p:spPr>
        <p:txBody>
          <a:bodyPr/>
          <a:lstStyle/>
          <a:p>
            <a:endParaRPr lang="en-US"/>
          </a:p>
        </p:txBody>
      </p:sp>
      <p:sp>
        <p:nvSpPr>
          <p:cNvPr id="4" name="Content Right"/>
          <p:cNvSpPr>
            <a:spLocks noGrp="1"/>
          </p:cNvSpPr>
          <p:nvPr>
            <p:ph type="body"/>
          </p:nvPr>
        </p:nvSpPr>
        <p:spPr>
          <a:xfrm>
            <a:off x="6172200" y="1825625"/>
            <a:ext cx="5181600" cy="4351338"/>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7560000" y="0"/>
            <a:ext cx="7200000" cy="7200000"/>
          </a:xfrm>
          <a:prstGeom prst="ellipse">
            <a:avLst/>
          </a:prstGeom>
          <a:solidFill>
            <a:srgbClr val="1B2027">
              <a:alpha val="12000"/>
            </a:srgbClr>
          </a:solidFill>
          <a:ln>
            <a:noFill/>
          </a:ln>
        </p:spPr>
        <p:txBody>
          <a:bodyPr/>
          <a:lstStyle/>
          <a:p>
            <a:endParaRPr/>
          </a:p>
        </p:txBody>
      </p:sp>
      <p:sp>
        <p:nvSpPr>
          <p:cNvPr id="3" name="!!sa2"/>
          <p:cNvSpPr/>
          <p:nvPr/>
        </p:nvSpPr>
        <p:spPr>
          <a:xfrm>
            <a:off x="9360000" y="3600000"/>
            <a:ext cx="4320000" cy="4320000"/>
          </a:xfrm>
          <a:prstGeom prst="ellipse">
            <a:avLst/>
          </a:prstGeom>
          <a:solidFill>
            <a:srgbClr val="20262E">
              <a:alpha val="15000"/>
            </a:srgbClr>
          </a:solidFill>
          <a:ln>
            <a:noFill/>
          </a:ln>
        </p:spPr>
        <p:txBody>
          <a:bodyPr/>
          <a:lstStyle/>
          <a:p>
            <a:endParaRPr/>
          </a:p>
        </p:txBody>
      </p:sp>
      <p:sp>
        <p:nvSpPr>
          <p:cNvPr id="4" name="!!sa3"/>
          <p:cNvSpPr/>
          <p:nvPr/>
        </p:nvSpPr>
        <p:spPr>
          <a:xfrm>
            <a:off x="0" y="0"/>
            <a:ext cx="2160000" cy="2160000"/>
          </a:xfrm>
          <a:prstGeom prst="rect">
            <a:avLst/>
          </a:prstGeom>
          <a:solidFill>
            <a:srgbClr val="1B2027">
              <a:alpha val="7000"/>
            </a:srgbClr>
          </a:solidFill>
          <a:ln>
            <a:noFill/>
          </a:ln>
        </p:spPr>
        <p:txBody>
          <a:bodyPr/>
          <a:lstStyle/>
          <a:p>
            <a:endParaRPr/>
          </a:p>
        </p:txBody>
      </p:sp>
      <p:sp>
        <p:nvSpPr>
          <p:cNvPr id="5" name="!!sa4"/>
          <p:cNvSpPr/>
          <p:nvPr/>
        </p:nvSpPr>
        <p:spPr>
          <a:xfrm>
            <a:off x="360000" y="468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8000"/>
            </a:srgbClr>
          </a:solidFill>
          <a:ln>
            <a:noFill/>
          </a:ln>
        </p:spPr>
        <p:txBody>
          <a:bodyPr/>
          <a:lstStyle/>
          <a:p>
            <a:endParaRPr/>
          </a:p>
        </p:txBody>
      </p:sp>
      <p:sp>
        <p:nvSpPr>
          <p:cNvPr id="6" name="!!sa5"/>
          <p:cNvSpPr/>
          <p:nvPr/>
        </p:nvSpPr>
        <p:spPr>
          <a:xfrm>
            <a:off x="6192000" y="2016000"/>
            <a:ext cx="360000" cy="360000"/>
          </a:xfrm>
          <a:prstGeom prst="ellipse">
            <a:avLst/>
          </a:prstGeom>
          <a:solidFill>
            <a:srgbClr val="1B2027">
              <a:alpha val="6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9" name="!!hl_tag_txt"/>
          <p:cNvSpPr/>
          <p:nvPr/>
        </p:nvSpPr>
        <p:spPr>
          <a:xfrm>
            <a:off x="432000" y="792000"/>
            <a:ext cx="2520000" cy="432000"/>
          </a:xfrm>
          <a:prstGeom prst="rect">
            <a:avLst/>
          </a:prstGeom>
          <a:noFill/>
          <a:ln>
            <a:noFill/>
          </a:ln>
        </p:spPr>
        <p:txBody>
          <a:bodyPr/>
          <a:lstStyle/>
          <a:p>
            <a:r>
              <a:rPr lang="en-US" sz="1100" b="1">
                <a:solidFill>
                  <a:srgbClr val="F2F0E8"/>
                </a:solidFill>
                <a:latin typeface="Calibri"/>
                <a:ea typeface="Calibri"/>
              </a:rPr>
              <a:t>CS 5391 · GROUP PROJECT PROPOSAL</a:t>
            </a:r>
          </a:p>
        </p:txBody>
      </p:sp>
      <p:sp>
        <p:nvSpPr>
          <p:cNvPr id="10" name="!!hl_title"/>
          <p:cNvSpPr/>
          <p:nvPr/>
        </p:nvSpPr>
        <p:spPr>
          <a:xfrm>
            <a:off x="432000" y="1188000"/>
            <a:ext cx="5940000" cy="2160000"/>
          </a:xfrm>
          <a:prstGeom prst="rect">
            <a:avLst/>
          </a:prstGeom>
          <a:noFill/>
          <a:ln>
            <a:noFill/>
          </a:ln>
        </p:spPr>
        <p:txBody>
          <a:bodyPr/>
          <a:lstStyle/>
          <a:p>
            <a:r>
              <a:rPr lang="en-US" sz="6800" b="0">
                <a:solidFill>
                  <a:srgbClr val="E74C3C"/>
                </a:solidFill>
                <a:latin typeface="Cambria"/>
                <a:ea typeface="Cambria"/>
              </a:rPr>
              <a:t>QueryGuard</a:t>
            </a:r>
          </a:p>
        </p:txBody>
      </p:sp>
      <p:sp>
        <p:nvSpPr>
          <p:cNvPr id="11" name="!!hl_sub"/>
          <p:cNvSpPr/>
          <p:nvPr/>
        </p:nvSpPr>
        <p:spPr>
          <a:xfrm>
            <a:off x="432000" y="3492000"/>
            <a:ext cx="5940000" cy="774000"/>
          </a:xfrm>
          <a:prstGeom prst="rect">
            <a:avLst/>
          </a:prstGeom>
          <a:noFill/>
          <a:ln>
            <a:noFill/>
          </a:ln>
        </p:spPr>
        <p:txBody>
          <a:bodyPr/>
          <a:lstStyle/>
          <a:p>
            <a:r>
              <a:rPr lang="en-US" sz="2200" b="0">
                <a:solidFill>
                  <a:srgbClr val="A8B2BB"/>
                </a:solidFill>
                <a:latin typeface="Calibri"/>
                <a:ea typeface="Calibri"/>
              </a:rPr>
              <a:t>A safety gate for LLM-generated SQL</a:t>
            </a:r>
          </a:p>
        </p:txBody>
      </p:sp>
      <p:sp>
        <p:nvSpPr>
          <p:cNvPr id="12" name="!!co_line"/>
          <p:cNvSpPr/>
          <p:nvPr/>
        </p:nvSpPr>
        <p:spPr>
          <a:xfrm>
            <a:off x="432000" y="4320000"/>
            <a:ext cx="1800000" cy="72000"/>
          </a:xfrm>
          <a:prstGeom prst="rect">
            <a:avLst/>
          </a:prstGeom>
          <a:solidFill>
            <a:srgbClr val="E74C3C"/>
          </a:solidFill>
          <a:ln>
            <a:noFill/>
          </a:ln>
        </p:spPr>
        <p:txBody>
          <a:bodyPr/>
          <a:lstStyle/>
          <a:p>
            <a:endParaRPr/>
          </a:p>
        </p:txBody>
      </p:sp>
      <p:sp>
        <p:nvSpPr>
          <p:cNvPr id="13" name="!!co_org"/>
          <p:cNvSpPr/>
          <p:nvPr/>
        </p:nvSpPr>
        <p:spPr>
          <a:xfrm>
            <a:off x="432000" y="4500000"/>
            <a:ext cx="3600000" cy="558000"/>
          </a:xfrm>
          <a:prstGeom prst="rect">
            <a:avLst/>
          </a:prstGeom>
          <a:noFill/>
          <a:ln>
            <a:noFill/>
          </a:ln>
        </p:spPr>
        <p:txBody>
          <a:bodyPr/>
          <a:lstStyle/>
          <a:p>
            <a:r>
              <a:rPr lang="en-US" sz="1600" dirty="0">
                <a:solidFill>
                  <a:srgbClr val="A8B2BB"/>
                </a:solidFill>
                <a:latin typeface="Calibri"/>
                <a:ea typeface="Calibri"/>
              </a:rPr>
              <a:t>M. Mahd Amjad · Arwa Arafeh</a:t>
            </a:r>
            <a:endParaRPr lang="en-US" sz="1600" dirty="0">
              <a:solidFill>
                <a:srgbClr val="A8B2BB"/>
              </a:solidFill>
              <a:latin typeface="Calibri"/>
              <a:ea typeface="Calibri"/>
            </a:endParaRPr>
          </a:p>
          <a:p>
            <a:r>
              <a:rPr lang="en-US" sz="1600" dirty="0">
                <a:solidFill>
                  <a:srgbClr val="A8B2BB"/>
                </a:solidFill>
                <a:latin typeface="Calibri"/>
                <a:ea typeface="Calibri"/>
              </a:rPr>
              <a:t>September 9, 2026</a:t>
            </a:r>
          </a:p>
        </p:txBody>
      </p:sp>
      <p:sp>
        <p:nvSpPr>
          <p:cNvPr id="14" name="!!co_imgph"/>
          <p:cNvSpPr/>
          <p:nvPr/>
        </p:nvSpPr>
        <p:spPr>
          <a:xfrm>
            <a:off x="6480000" y="360000"/>
            <a:ext cx="5520000" cy="6120000"/>
          </a:xfrm>
          <a:prstGeom prst="roundRect">
            <a:avLst/>
          </a:prstGeom>
          <a:solidFill>
            <a:srgbClr val="1B2027"/>
          </a:solidFill>
          <a:ln w="2">
            <a:solidFill>
              <a:srgbClr val="232A32"/>
            </a:solidFill>
          </a:ln>
        </p:spPr>
        <p:txBody>
          <a:bodyPr/>
          <a:lstStyle/>
          <a:p>
            <a:endParaRPr/>
          </a:p>
        </p:txBody>
      </p:sp>
      <p:sp>
        <p:nvSpPr>
          <p:cNvPr id="100000" name="!!CoverFlow0"/>
          <p:cNvSpPr/>
          <p:nvPr/>
        </p:nvSpPr>
        <p:spPr>
          <a:xfrm>
            <a:off x="8229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QUESTION</a:t>
            </a:r>
          </a:p>
        </p:txBody>
      </p:sp>
      <p:sp>
        <p:nvSpPr>
          <p:cNvPr id="100001" name="!!CoverArrow0"/>
          <p:cNvSpPr/>
          <p:nvPr/>
        </p:nvSpPr>
        <p:spPr>
          <a:xfrm>
            <a:off x="2753360" y="5257800"/>
            <a:ext cx="304800" cy="152400"/>
          </a:xfrm>
          <a:prstGeom prst="rect">
            <a:avLst/>
          </a:prstGeom>
          <a:solidFill>
            <a:srgbClr val="39485C"/>
          </a:solidFill>
          <a:ln>
            <a:noFill/>
          </a:ln>
        </p:spPr>
        <p:txBody>
          <a:bodyPr/>
          <a:lstStyle/>
          <a:p>
            <a:endParaRPr/>
          </a:p>
        </p:txBody>
      </p:sp>
      <p:sp>
        <p:nvSpPr>
          <p:cNvPr id="100002" name="!!CoverFlow1"/>
          <p:cNvSpPr/>
          <p:nvPr/>
        </p:nvSpPr>
        <p:spPr>
          <a:xfrm>
            <a:off x="30581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LLM DRAFTS SQL</a:t>
            </a:r>
          </a:p>
        </p:txBody>
      </p:sp>
      <p:sp>
        <p:nvSpPr>
          <p:cNvPr id="100003" name="!!CoverArrow1"/>
          <p:cNvSpPr/>
          <p:nvPr/>
        </p:nvSpPr>
        <p:spPr>
          <a:xfrm>
            <a:off x="4988560" y="5257800"/>
            <a:ext cx="304800" cy="152400"/>
          </a:xfrm>
          <a:prstGeom prst="rect">
            <a:avLst/>
          </a:prstGeom>
          <a:solidFill>
            <a:srgbClr val="39485C"/>
          </a:solidFill>
          <a:ln>
            <a:noFill/>
          </a:ln>
        </p:spPr>
        <p:txBody>
          <a:bodyPr/>
          <a:lstStyle/>
          <a:p>
            <a:endParaRPr/>
          </a:p>
        </p:txBody>
      </p:sp>
      <p:sp>
        <p:nvSpPr>
          <p:cNvPr id="100004" name="!!CoverFlow2"/>
          <p:cNvSpPr/>
          <p:nvPr/>
        </p:nvSpPr>
        <p:spPr>
          <a:xfrm>
            <a:off x="5293360" y="5080000"/>
            <a:ext cx="1905000" cy="508000"/>
          </a:xfrm>
          <a:prstGeom prst="roundRect">
            <a:avLst/>
          </a:prstGeom>
          <a:solidFill>
            <a:srgbClr val="39485C"/>
          </a:solidFill>
          <a:ln>
            <a:noFill/>
          </a:ln>
        </p:spPr>
        <p:txBody>
          <a:bodyPr anchor="ctr"/>
          <a:lstStyle/>
          <a:p>
            <a:pPr algn="ctr"/>
            <a:r>
              <a:rPr lang="en-US" sz="1300" b="1">
                <a:solidFill>
                  <a:srgbClr val="FFFFFF"/>
                </a:solidFill>
                <a:latin typeface="Calibri"/>
                <a:ea typeface="Calibri"/>
              </a:rPr>
              <a:t>GATE: 10 RULES</a:t>
            </a:r>
          </a:p>
        </p:txBody>
      </p:sp>
      <p:sp>
        <p:nvSpPr>
          <p:cNvPr id="100005" name="!!CoverArrow2"/>
          <p:cNvSpPr/>
          <p:nvPr/>
        </p:nvSpPr>
        <p:spPr>
          <a:xfrm>
            <a:off x="7223760" y="5257800"/>
            <a:ext cx="304800" cy="152400"/>
          </a:xfrm>
          <a:prstGeom prst="rect">
            <a:avLst/>
          </a:prstGeom>
          <a:solidFill>
            <a:srgbClr val="39485C"/>
          </a:solidFill>
          <a:ln>
            <a:noFill/>
          </a:ln>
        </p:spPr>
        <p:txBody>
          <a:bodyPr/>
          <a:lstStyle/>
          <a:p>
            <a:endParaRPr/>
          </a:p>
        </p:txBody>
      </p:sp>
      <p:sp>
        <p:nvSpPr>
          <p:cNvPr id="100006" name="!!CoverFlow3"/>
          <p:cNvSpPr/>
          <p:nvPr/>
        </p:nvSpPr>
        <p:spPr>
          <a:xfrm>
            <a:off x="7528560" y="5080000"/>
            <a:ext cx="1905000" cy="508000"/>
          </a:xfrm>
          <a:prstGeom prst="roundRect">
            <a:avLst/>
          </a:prstGeom>
          <a:solidFill>
            <a:srgbClr val="2A313A"/>
          </a:solidFill>
          <a:ln>
            <a:noFill/>
          </a:ln>
        </p:spPr>
        <p:txBody>
          <a:bodyPr anchor="ctr"/>
          <a:lstStyle/>
          <a:p>
            <a:pPr algn="ctr"/>
            <a:r>
              <a:rPr lang="en-US" sz="1300" b="1">
                <a:solidFill>
                  <a:srgbClr val="F2F0E8"/>
                </a:solidFill>
                <a:latin typeface="Calibri"/>
                <a:ea typeface="Calibri"/>
              </a:rPr>
              <a:t>DATABASE</a:t>
            </a:r>
          </a:p>
        </p:txBody>
      </p:sp>
    </p:spTree>
  </p:cSld>
  <p:clrMapOvr>
    <a:masterClrMapping/>
  </p:clrMapOvr>
</p:sld>
</file>

<file path=ppt/slides/slide2.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5400000" cy="5400000"/>
          </a:xfrm>
          <a:prstGeom prst="ellipse">
            <a:avLst/>
          </a:prstGeom>
          <a:solidFill>
            <a:srgbClr val="20262E">
              <a:alpha val="10000"/>
            </a:srgbClr>
          </a:solidFill>
          <a:ln>
            <a:noFill/>
          </a:ln>
        </p:spPr>
        <p:txBody>
          <a:bodyPr/>
          <a:lstStyle/>
          <a:p>
            <a:endParaRPr/>
          </a:p>
        </p:txBody>
      </p:sp>
      <p:sp>
        <p:nvSpPr>
          <p:cNvPr id="3" name="!!sa2"/>
          <p:cNvSpPr/>
          <p:nvPr/>
        </p:nvSpPr>
        <p:spPr>
          <a:xfrm>
            <a:off x="9720000" y="3960000"/>
            <a:ext cx="4320000" cy="4320000"/>
          </a:xfrm>
          <a:prstGeom prst="ellipse">
            <a:avLst/>
          </a:prstGeom>
          <a:solidFill>
            <a:srgbClr val="1B2027">
              <a:alpha val="10000"/>
            </a:srgbClr>
          </a:solidFill>
          <a:ln>
            <a:noFill/>
          </a:ln>
        </p:spPr>
        <p:txBody>
          <a:bodyPr/>
          <a:lstStyle/>
          <a:p>
            <a:endParaRPr/>
          </a:p>
        </p:txBody>
      </p:sp>
      <p:sp>
        <p:nvSpPr>
          <p:cNvPr id="4" name="!!sa3"/>
          <p:cNvSpPr/>
          <p:nvPr/>
        </p:nvSpPr>
        <p:spPr>
          <a:xfrm>
            <a:off x="0" y="0"/>
            <a:ext cx="12192000" cy="6858000"/>
          </a:xfrm>
          <a:prstGeom prst="rect">
            <a:avLst/>
          </a:prstGeom>
          <a:solidFill>
            <a:srgbClr val="20262E">
              <a:alpha val="5000"/>
            </a:srgbClr>
          </a:solidFill>
          <a:ln>
            <a:noFill/>
          </a:ln>
        </p:spPr>
        <p:txBody>
          <a:bodyPr/>
          <a:lstStyle/>
          <a:p>
            <a:endParaRPr/>
          </a:p>
        </p:txBody>
      </p:sp>
      <p:sp>
        <p:nvSpPr>
          <p:cNvPr id="5" name="!!sa4"/>
          <p:cNvSpPr/>
          <p:nvPr/>
        </p:nvSpPr>
        <p:spPr>
          <a:xfrm>
            <a:off x="9000000" y="1440000"/>
            <a:ext cx="1800000" cy="180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6" name="!!sa5"/>
          <p:cNvSpPr/>
          <p:nvPr/>
        </p:nvSpPr>
        <p:spPr>
          <a:xfrm>
            <a:off x="1080000" y="5400000"/>
            <a:ext cx="504000" cy="504000"/>
          </a:xfrm>
          <a:prstGeom prst="ellipse">
            <a:avLst/>
          </a:prstGeom>
          <a:solidFill>
            <a:srgbClr val="20262E">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co_accent"/>
          <p:cNvSpPr/>
          <p:nvPr/>
        </p:nvSpPr>
        <p:spPr>
          <a:xfrm>
            <a:off x="432000" y="2016000"/>
            <a:ext cx="1440000" cy="144000"/>
          </a:xfrm>
          <a:prstGeom prst="rect">
            <a:avLst/>
          </a:prstGeom>
          <a:solidFill>
            <a:srgbClr val="E74C3C"/>
          </a:solidFill>
          <a:ln>
            <a:noFill/>
          </a:ln>
        </p:spPr>
        <p:txBody>
          <a:bodyPr/>
          <a:lstStyle/>
          <a:p>
            <a:endParaRPr/>
          </a:p>
        </p:txBody>
      </p:sp>
      <p:sp>
        <p:nvSpPr>
          <p:cNvPr id="9" name="!!hl_title"/>
          <p:cNvSpPr/>
          <p:nvPr/>
        </p:nvSpPr>
        <p:spPr>
          <a:xfrm>
            <a:off x="432000" y="2268000"/>
            <a:ext cx="6660000" cy="2520000"/>
          </a:xfrm>
          <a:prstGeom prst="rect">
            <a:avLst/>
          </a:prstGeom>
          <a:noFill/>
          <a:ln>
            <a:noFill/>
          </a:ln>
        </p:spPr>
        <p:txBody>
          <a:bodyPr/>
          <a:lstStyle/>
          <a:p>
            <a:r>
              <a:rPr lang="en-US" sz="4000" b="0">
                <a:solidFill>
                  <a:srgbClr val="F2F0E8"/>
                </a:solidFill>
                <a:latin typeface="Cambria"/>
                <a:ea typeface="Cambria"/>
              </a:rPr>
              <a:t>Every generated query should be checked before it touches the database.</a:t>
            </a:r>
          </a:p>
        </p:txBody>
      </p:sp>
      <p:sp>
        <p:nvSpPr>
          <p:cNvPr id="10" name="!!hl_sub"/>
          <p:cNvSpPr/>
          <p:nvPr/>
        </p:nvSpPr>
        <p:spPr>
          <a:xfrm>
            <a:off x="432000" y="4896000"/>
            <a:ext cx="9000000" cy="720000"/>
          </a:xfrm>
          <a:prstGeom prst="rect">
            <a:avLst/>
          </a:prstGeom>
          <a:noFill/>
          <a:ln>
            <a:noFill/>
          </a:ln>
        </p:spPr>
        <p:txBody>
          <a:bodyPr/>
          <a:lstStyle/>
          <a:p>
            <a:r>
              <a:rPr lang="en-US" sz="2000" i="1">
                <a:solidFill>
                  <a:srgbClr val="A8B2BB"/>
                </a:solidFill>
                <a:latin typeface="Calibri"/>
                <a:ea typeface="Calibri"/>
              </a:rPr>
              <a:t>Three CVEs since 2024 show what happens when they are not. We make the check visible and measured.</a:t>
            </a:r>
          </a:p>
        </p:txBody>
      </p:sp>
      <p:sp>
        <p:nvSpPr>
          <p:cNvPr id="100007" name="!!Footer2"/>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4" name="!!QuoteGlyph"/>
          <p:cNvSpPr txBox="1"/>
          <p:nvPr/>
        </p:nvSpPr>
        <p:spPr>
          <a:xfrm>
            <a:off x="685800" y="762000"/>
            <a:ext cx="762000" cy="1206000"/>
          </a:xfrm>
          <a:prstGeom prst="rect">
            <a:avLst/>
          </a:prstGeom>
          <a:noFill/>
          <a:ln>
            <a:noFill/>
          </a:ln>
        </p:spPr>
        <p:txBody>
          <a:bodyPr/>
          <a:lstStyle/>
          <a:p>
            <a:pPr algn="l"/>
            <a:r>
              <a:rPr lang="en-US" sz="7200" b="1">
                <a:solidFill>
                  <a:srgbClr val="E74C3C"/>
                </a:solidFill>
                <a:latin typeface="Georgia"/>
                <a:ea typeface="Georgia"/>
              </a:rPr>
              <a:t>“</a:t>
            </a:r>
          </a:p>
        </p:txBody>
      </p:sp>
      <p:sp>
        <p:nvSpPr>
          <p:cNvPr id="100015" name="!!LeftBand"/>
          <p:cNvSpPr/>
          <p:nvPr/>
        </p:nvSpPr>
        <p:spPr>
          <a:xfrm>
            <a:off x="0" y="0"/>
            <a:ext cx="126000" cy="6858000"/>
          </a:xfrm>
          <a:prstGeom prst="rect">
            <a:avLst/>
          </a:prstGeom>
          <a:solidFill>
            <a:srgbClr val="39485C"/>
          </a:solidFill>
          <a:ln>
            <a:noFill/>
          </a:ln>
        </p:spPr>
        <p:txBody>
          <a:bodyPr/>
          <a:lstStyle/>
          <a:p>
            <a:endParaRPr/>
          </a:p>
        </p:txBody>
      </p:sp>
      <p:sp>
        <p:nvSpPr>
          <p:cNvPr id="100028" name="!!verdictcard"/>
          <p:cNvSpPr/>
          <p:nvPr/>
        </p:nvSpPr>
        <p:spPr>
          <a:xfrm>
            <a:off x="7380000" y="1980000"/>
            <a:ext cx="4392000" cy="2952000"/>
          </a:xfrm>
          <a:prstGeom prst="roundRect">
            <a:avLst/>
          </a:prstGeom>
          <a:solidFill>
            <a:srgbClr val="1B2027"/>
          </a:solidFill>
          <a:ln w="12700">
            <a:solidFill>
              <a:srgbClr val="39485C"/>
            </a:solidFill>
          </a:ln>
        </p:spPr>
        <p:txBody>
          <a:bodyPr/>
          <a:lstStyle/>
          <a:p>
            <a:endParaRPr/>
          </a:p>
        </p:txBody>
      </p:sp>
      <p:sp>
        <p:nvSpPr>
          <p:cNvPr id="100029" name="!!vlabel"/>
          <p:cNvSpPr txBox="1"/>
          <p:nvPr/>
        </p:nvSpPr>
        <p:spPr>
          <a:xfrm>
            <a:off x="7668000" y="2196000"/>
            <a:ext cx="3816000" cy="252000"/>
          </a:xfrm>
          <a:prstGeom prst="rect">
            <a:avLst/>
          </a:prstGeom>
        </p:spPr>
        <p:txBody>
          <a:bodyPr/>
          <a:lstStyle/>
          <a:p>
            <a:r>
              <a:rPr lang="en-US" sz="1100" b="1">
                <a:solidFill>
                  <a:srgbClr val="E74C3C"/>
                </a:solidFill>
                <a:latin typeface="Calibri"/>
                <a:ea typeface="Calibri"/>
              </a:rPr>
              <a:t>WHAT THE GATE SEES</a:t>
            </a:r>
          </a:p>
        </p:txBody>
      </p:sp>
      <p:sp>
        <p:nvSpPr>
          <p:cNvPr id="100030" name="!!vquery"/>
          <p:cNvSpPr txBox="1"/>
          <p:nvPr/>
        </p:nvSpPr>
        <p:spPr>
          <a:xfrm>
            <a:off x="7668000" y="2592000"/>
            <a:ext cx="3816000" cy="360000"/>
          </a:xfrm>
          <a:prstGeom prst="rect">
            <a:avLst/>
          </a:prstGeom>
        </p:spPr>
        <p:txBody>
          <a:bodyPr/>
          <a:lstStyle/>
          <a:p>
            <a:r>
              <a:rPr lang="en-US" sz="1500" i="1">
                <a:solidFill>
                  <a:srgbClr val="F2F0E8"/>
                </a:solidFill>
                <a:latin typeface="Consolas"/>
                <a:ea typeface="Consolas"/>
              </a:rPr>
              <a:t>"Show me every user account."</a:t>
            </a:r>
          </a:p>
        </p:txBody>
      </p:sp>
      <p:sp>
        <p:nvSpPr>
          <p:cNvPr id="100031" name="!!vdraft"/>
          <p:cNvSpPr txBox="1"/>
          <p:nvPr/>
        </p:nvSpPr>
        <p:spPr>
          <a:xfrm>
            <a:off x="7668000" y="3096000"/>
            <a:ext cx="3816000" cy="558000"/>
          </a:xfrm>
          <a:prstGeom prst="rect">
            <a:avLst/>
          </a:prstGeom>
        </p:spPr>
        <p:txBody>
          <a:bodyPr/>
          <a:lstStyle/>
          <a:p>
            <a:r>
              <a:rPr lang="en-US" sz="1400">
                <a:solidFill>
                  <a:srgbClr val="F2F0E8"/>
                </a:solidFill>
                <a:latin typeface="Consolas"/>
                <a:ea typeface="Consolas"/>
              </a:rPr>
              <a:t>LLM drafts:  SELECT * FROM users; DROP TABLE users;</a:t>
            </a:r>
          </a:p>
        </p:txBody>
      </p:sp>
      <p:sp>
        <p:nvSpPr>
          <p:cNvPr id="100032" name="!!vstamp"/>
          <p:cNvSpPr/>
          <p:nvPr/>
        </p:nvSpPr>
        <p:spPr>
          <a:xfrm>
            <a:off x="7668000" y="3888000"/>
            <a:ext cx="3816000" cy="396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BLOCKED - multi-statement escape</a:t>
            </a:r>
          </a:p>
        </p:txBody>
      </p:sp>
      <p:sp>
        <p:nvSpPr>
          <p:cNvPr id="100033" name="!!vwhy"/>
          <p:cNvSpPr txBox="1"/>
          <p:nvPr/>
        </p:nvSpPr>
        <p:spPr>
          <a:xfrm>
            <a:off x="7668000" y="4392000"/>
            <a:ext cx="3816000" cy="504000"/>
          </a:xfrm>
          <a:prstGeom prst="rect">
            <a:avLst/>
          </a:prstGeom>
        </p:spPr>
        <p:txBody>
          <a:bodyPr/>
          <a:lstStyle/>
          <a:p>
            <a:r>
              <a:rPr lang="en-US" sz="1400">
                <a:solidFill>
                  <a:srgbClr val="A8B2BB"/>
                </a:solidFill>
                <a:latin typeface="Calibri"/>
                <a:ea typeface="Calibri"/>
              </a:rPr>
              <a:t>Verdict logged with the rule that fired.</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3.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1800000"/>
            <a:ext cx="12192000" cy="5400000"/>
          </a:xfrm>
          <a:prstGeom prst="rect">
            <a:avLst/>
          </a:prstGeom>
          <a:solidFill>
            <a:srgbClr val="1B2027">
              <a:alpha val="5000"/>
            </a:srgbClr>
          </a:solidFill>
          <a:ln>
            <a:noFill/>
          </a:ln>
        </p:spPr>
        <p:txBody>
          <a:bodyPr/>
          <a:lstStyle/>
          <a:p>
            <a:endParaRPr/>
          </a:p>
        </p:txBody>
      </p:sp>
      <p:sp>
        <p:nvSpPr>
          <p:cNvPr id="3" name="!!sa2"/>
          <p:cNvSpPr/>
          <p:nvPr/>
        </p:nvSpPr>
        <p:spPr>
          <a:xfrm>
            <a:off x="9000000" y="3600000"/>
            <a:ext cx="5400000" cy="5400000"/>
          </a:xfrm>
          <a:prstGeom prst="ellipse">
            <a:avLst/>
          </a:prstGeom>
          <a:solidFill>
            <a:srgbClr val="20262E">
              <a:alpha val="8000"/>
            </a:srgbClr>
          </a:solidFill>
          <a:ln>
            <a:noFill/>
          </a:ln>
        </p:spPr>
        <p:txBody>
          <a:bodyPr/>
          <a:lstStyle/>
          <a:p>
            <a:endParaRPr/>
          </a:p>
        </p:txBody>
      </p:sp>
      <p:sp>
        <p:nvSpPr>
          <p:cNvPr id="4" name="!!sa3"/>
          <p:cNvSpPr/>
          <p:nvPr/>
        </p:nvSpPr>
        <p:spPr>
          <a:xfrm>
            <a:off x="0" y="0"/>
            <a:ext cx="4680000" cy="1620000"/>
          </a:xfrm>
          <a:prstGeom prst="rect">
            <a:avLst/>
          </a:prstGeom>
          <a:solidFill>
            <a:srgbClr val="1B2027">
              <a:alpha val="5000"/>
            </a:srgbClr>
          </a:solidFill>
          <a:ln>
            <a:noFill/>
          </a:ln>
        </p:spPr>
        <p:txBody>
          <a:bodyPr/>
          <a:lstStyle/>
          <a:p>
            <a:endParaRPr/>
          </a:p>
        </p:txBody>
      </p:sp>
      <p:sp>
        <p:nvSpPr>
          <p:cNvPr id="5" name="!!sa4"/>
          <p:cNvSpPr/>
          <p:nvPr/>
        </p:nvSpPr>
        <p:spPr>
          <a:xfrm>
            <a:off x="360000" y="576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7" name="!!sa6"/>
          <p:cNvSpPr/>
          <p:nvPr/>
        </p:nvSpPr>
        <p:spPr>
          <a:xfrm>
            <a:off x="0" y="0"/>
            <a:ext cx="12192000" cy="108000"/>
          </a:xfrm>
          <a:prstGeom prst="rect">
            <a:avLst/>
          </a:prstGeom>
          <a:solidFill>
            <a:srgbClr val="E74C3C"/>
          </a:solidFill>
          <a:ln>
            <a:noFill/>
          </a:ln>
        </p:spPr>
        <p:txBody>
          <a:bodyPr/>
          <a:lstStyle/>
          <a:p>
            <a:endParaRPr/>
          </a:p>
        </p:txBody>
      </p:sp>
      <p:sp>
        <p:nvSpPr>
          <p:cNvPr id="8" name="!!hl_tag"/>
          <p:cNvSpPr/>
          <p:nvPr/>
        </p:nvSpPr>
        <p:spPr>
          <a:xfrm>
            <a:off x="432000" y="360000"/>
            <a:ext cx="1800000" cy="108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PROBLEM</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LLM-to-database is unsafe by default</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Frameworks pass LLM-generated SQL straight to the database. Three CVEs since 2024 show the result.</a:t>
            </a:r>
          </a:p>
        </p:txBody>
      </p:sp>
      <p:sp>
        <p:nvSpPr>
          <p:cNvPr id="12" name="!!co_card0"/>
          <p:cNvSpPr/>
          <p:nvPr/>
        </p:nvSpPr>
        <p:spPr>
          <a:xfrm>
            <a:off x="432000" y="2304000"/>
            <a:ext cx="2736000" cy="3060000"/>
          </a:xfrm>
          <a:prstGeom prst="roundRect">
            <a:avLst/>
          </a:prstGeom>
          <a:solidFill>
            <a:srgbClr val="1B2027"/>
          </a:solidFill>
          <a:ln w="1">
            <a:solidFill>
              <a:srgbClr val="232A32"/>
            </a:solidFill>
          </a:ln>
        </p:spPr>
        <p:txBody>
          <a:bodyPr/>
          <a:lstStyle/>
          <a:p>
            <a:endParaRPr/>
          </a:p>
        </p:txBody>
      </p:sp>
      <p:sp>
        <p:nvSpPr>
          <p:cNvPr id="13" name="!!co_strip0"/>
          <p:cNvSpPr/>
          <p:nvPr/>
        </p:nvSpPr>
        <p:spPr>
          <a:xfrm>
            <a:off x="432000" y="2304000"/>
            <a:ext cx="2736000" cy="108000"/>
          </a:xfrm>
          <a:prstGeom prst="rect">
            <a:avLst/>
          </a:prstGeom>
          <a:solidFill>
            <a:srgbClr val="E74C3C"/>
          </a:solidFill>
          <a:ln>
            <a:noFill/>
          </a:ln>
        </p:spPr>
        <p:txBody>
          <a:bodyPr/>
          <a:lstStyle/>
          <a:p>
            <a:endParaRPr/>
          </a:p>
        </p:txBody>
      </p:sp>
      <p:sp>
        <p:nvSpPr>
          <p:cNvPr id="14" name="!!co_num_bg0"/>
          <p:cNvSpPr/>
          <p:nvPr/>
        </p:nvSpPr>
        <p:spPr>
          <a:xfrm>
            <a:off x="576000" y="2520000"/>
            <a:ext cx="720000" cy="720000"/>
          </a:xfrm>
          <a:prstGeom prst="ellipse">
            <a:avLst/>
          </a:prstGeom>
          <a:solidFill>
            <a:srgbClr val="1B2027">
              <a:alpha val="15000"/>
            </a:srgbClr>
          </a:solidFill>
          <a:ln>
            <a:noFill/>
          </a:ln>
        </p:spPr>
        <p:txBody>
          <a:bodyPr/>
          <a:lstStyle/>
          <a:p>
            <a:endParaRPr/>
          </a:p>
        </p:txBody>
      </p:sp>
      <p:sp>
        <p:nvSpPr>
          <p:cNvPr id="15" name="!!co_num0"/>
          <p:cNvSpPr/>
          <p:nvPr/>
        </p:nvSpPr>
        <p:spPr>
          <a:xfrm>
            <a:off x="576000" y="2520000"/>
            <a:ext cx="720000" cy="720000"/>
          </a:xfrm>
          <a:prstGeom prst="rect">
            <a:avLst/>
          </a:prstGeom>
          <a:noFill/>
          <a:ln>
            <a:noFill/>
          </a:ln>
        </p:spPr>
        <p:txBody>
          <a:bodyPr/>
          <a:lstStyle/>
          <a:p>
            <a:r>
              <a:rPr lang="en-US" sz="2000" b="1">
                <a:solidFill>
                  <a:srgbClr val="E74C3C"/>
                </a:solidFill>
                <a:latin typeface="Calibri"/>
                <a:ea typeface="Calibri"/>
              </a:rPr>
              <a:t>1</a:t>
            </a:r>
          </a:p>
        </p:txBody>
      </p:sp>
      <p:sp>
        <p:nvSpPr>
          <p:cNvPr id="16" name="!!co_ctitle0"/>
          <p:cNvSpPr/>
          <p:nvPr/>
        </p:nvSpPr>
        <p:spPr>
          <a:xfrm>
            <a:off x="576000" y="3348000"/>
            <a:ext cx="2448000" cy="540000"/>
          </a:xfrm>
          <a:prstGeom prst="rect">
            <a:avLst/>
          </a:prstGeom>
          <a:noFill/>
          <a:ln>
            <a:noFill/>
          </a:ln>
        </p:spPr>
        <p:txBody>
          <a:bodyPr/>
          <a:lstStyle/>
          <a:p>
            <a:r>
              <a:rPr lang="en-US" sz="1900" b="0">
                <a:solidFill>
                  <a:srgbClr val="F2F0E8"/>
                </a:solidFill>
                <a:latin typeface="Cambria"/>
                <a:ea typeface="Cambria"/>
              </a:rPr>
              <a:t>3 CVEs</a:t>
            </a:r>
          </a:p>
        </p:txBody>
      </p:sp>
      <p:sp>
        <p:nvSpPr>
          <p:cNvPr id="17" name="!!co_cb0_ico"/>
          <p:cNvSpPr/>
          <p:nvPr/>
        </p:nvSpPr>
        <p:spPr>
          <a:xfrm>
            <a:off x="576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18" name="!!co_cb0_txt"/>
          <p:cNvSpPr/>
          <p:nvPr/>
        </p:nvSpPr>
        <p:spPr>
          <a:xfrm>
            <a:off x="1296000" y="3960000"/>
            <a:ext cx="1728000" cy="702000"/>
          </a:xfrm>
          <a:prstGeom prst="rect">
            <a:avLst/>
          </a:prstGeom>
          <a:noFill/>
          <a:ln>
            <a:noFill/>
          </a:ln>
        </p:spPr>
        <p:txBody>
          <a:bodyPr/>
          <a:lstStyle/>
          <a:p>
            <a:r>
              <a:rPr lang="en-US" sz="1300">
                <a:solidFill>
                  <a:srgbClr val="A8B2BB"/>
                </a:solidFill>
                <a:latin typeface="Calibri"/>
                <a:ea typeface="Calibri"/>
              </a:rPr>
              <a:t>Disclosed 2024-2026 in LLM-DB frameworks</a:t>
            </a:r>
          </a:p>
        </p:txBody>
      </p:sp>
      <p:sp>
        <p:nvSpPr>
          <p:cNvPr id="19" name="!!co_card1"/>
          <p:cNvSpPr/>
          <p:nvPr/>
        </p:nvSpPr>
        <p:spPr>
          <a:xfrm>
            <a:off x="3276000" y="2304000"/>
            <a:ext cx="2736000" cy="3060000"/>
          </a:xfrm>
          <a:prstGeom prst="roundRect">
            <a:avLst/>
          </a:prstGeom>
          <a:solidFill>
            <a:srgbClr val="1B2027"/>
          </a:solidFill>
          <a:ln w="1">
            <a:solidFill>
              <a:srgbClr val="232A32"/>
            </a:solidFill>
          </a:ln>
        </p:spPr>
        <p:txBody>
          <a:bodyPr/>
          <a:lstStyle/>
          <a:p>
            <a:endParaRPr/>
          </a:p>
        </p:txBody>
      </p:sp>
      <p:sp>
        <p:nvSpPr>
          <p:cNvPr id="20" name="!!co_strip1"/>
          <p:cNvSpPr/>
          <p:nvPr/>
        </p:nvSpPr>
        <p:spPr>
          <a:xfrm>
            <a:off x="3276000" y="2304000"/>
            <a:ext cx="2736000" cy="108000"/>
          </a:xfrm>
          <a:prstGeom prst="rect">
            <a:avLst/>
          </a:prstGeom>
          <a:solidFill>
            <a:srgbClr val="E74C3C"/>
          </a:solidFill>
          <a:ln>
            <a:noFill/>
          </a:ln>
        </p:spPr>
        <p:txBody>
          <a:bodyPr/>
          <a:lstStyle/>
          <a:p>
            <a:endParaRPr/>
          </a:p>
        </p:txBody>
      </p:sp>
      <p:sp>
        <p:nvSpPr>
          <p:cNvPr id="21" name="!!co_num_bg1"/>
          <p:cNvSpPr/>
          <p:nvPr/>
        </p:nvSpPr>
        <p:spPr>
          <a:xfrm>
            <a:off x="3420000" y="2520000"/>
            <a:ext cx="720000" cy="720000"/>
          </a:xfrm>
          <a:prstGeom prst="ellipse">
            <a:avLst/>
          </a:prstGeom>
          <a:solidFill>
            <a:srgbClr val="1B2027">
              <a:alpha val="15000"/>
            </a:srgbClr>
          </a:solidFill>
          <a:ln>
            <a:noFill/>
          </a:ln>
        </p:spPr>
        <p:txBody>
          <a:bodyPr/>
          <a:lstStyle/>
          <a:p>
            <a:endParaRPr/>
          </a:p>
        </p:txBody>
      </p:sp>
      <p:sp>
        <p:nvSpPr>
          <p:cNvPr id="22" name="!!co_num1"/>
          <p:cNvSpPr/>
          <p:nvPr/>
        </p:nvSpPr>
        <p:spPr>
          <a:xfrm>
            <a:off x="3420000" y="2520000"/>
            <a:ext cx="720000" cy="720000"/>
          </a:xfrm>
          <a:prstGeom prst="rect">
            <a:avLst/>
          </a:prstGeom>
          <a:noFill/>
          <a:ln>
            <a:noFill/>
          </a:ln>
        </p:spPr>
        <p:txBody>
          <a:bodyPr/>
          <a:lstStyle/>
          <a:p>
            <a:r>
              <a:rPr lang="en-US" sz="2000" b="1">
                <a:solidFill>
                  <a:srgbClr val="E74C3C"/>
                </a:solidFill>
                <a:latin typeface="Calibri"/>
                <a:ea typeface="Calibri"/>
              </a:rPr>
              <a:t>2</a:t>
            </a:r>
          </a:p>
        </p:txBody>
      </p:sp>
      <p:sp>
        <p:nvSpPr>
          <p:cNvPr id="23" name="!!co_ctitle1"/>
          <p:cNvSpPr/>
          <p:nvPr/>
        </p:nvSpPr>
        <p:spPr>
          <a:xfrm>
            <a:off x="3420000" y="3348000"/>
            <a:ext cx="2448000" cy="540000"/>
          </a:xfrm>
          <a:prstGeom prst="rect">
            <a:avLst/>
          </a:prstGeom>
          <a:noFill/>
          <a:ln>
            <a:noFill/>
          </a:ln>
        </p:spPr>
        <p:txBody>
          <a:bodyPr/>
          <a:lstStyle/>
          <a:p>
            <a:r>
              <a:rPr lang="en-US" sz="1900" b="0">
                <a:solidFill>
                  <a:srgbClr val="F2F0E8"/>
                </a:solidFill>
                <a:latin typeface="Cambria"/>
                <a:ea typeface="Cambria"/>
              </a:rPr>
              <a:t>CVSS 9.8</a:t>
            </a:r>
          </a:p>
        </p:txBody>
      </p:sp>
      <p:sp>
        <p:nvSpPr>
          <p:cNvPr id="24" name="!!co_cb1_ico"/>
          <p:cNvSpPr/>
          <p:nvPr/>
        </p:nvSpPr>
        <p:spPr>
          <a:xfrm>
            <a:off x="3420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25" name="!!co_cb1_txt"/>
          <p:cNvSpPr/>
          <p:nvPr/>
        </p:nvSpPr>
        <p:spPr>
          <a:xfrm>
            <a:off x="4140000" y="3960000"/>
            <a:ext cx="1728000" cy="540000"/>
          </a:xfrm>
          <a:prstGeom prst="rect">
            <a:avLst/>
          </a:prstGeom>
          <a:noFill/>
          <a:ln>
            <a:noFill/>
          </a:ln>
        </p:spPr>
        <p:txBody>
          <a:bodyPr/>
          <a:lstStyle/>
          <a:p>
            <a:r>
              <a:rPr lang="en-US" sz="1300">
                <a:solidFill>
                  <a:srgbClr val="A8B2BB"/>
                </a:solidFill>
                <a:latin typeface="Calibri"/>
                <a:ea typeface="Calibri"/>
              </a:rPr>
              <a:t>PII extraction via AnythingLLM</a:t>
            </a:r>
          </a:p>
        </p:txBody>
      </p:sp>
      <p:sp>
        <p:nvSpPr>
          <p:cNvPr id="26" name="!!co_card2"/>
          <p:cNvSpPr/>
          <p:nvPr/>
        </p:nvSpPr>
        <p:spPr>
          <a:xfrm>
            <a:off x="6120000" y="2304000"/>
            <a:ext cx="2736000" cy="3060000"/>
          </a:xfrm>
          <a:prstGeom prst="roundRect">
            <a:avLst/>
          </a:prstGeom>
          <a:solidFill>
            <a:srgbClr val="1B2027"/>
          </a:solidFill>
          <a:ln w="1">
            <a:solidFill>
              <a:srgbClr val="232A32"/>
            </a:solidFill>
          </a:ln>
        </p:spPr>
        <p:txBody>
          <a:bodyPr/>
          <a:lstStyle/>
          <a:p>
            <a:endParaRPr/>
          </a:p>
        </p:txBody>
      </p:sp>
      <p:sp>
        <p:nvSpPr>
          <p:cNvPr id="27" name="!!co_strip2"/>
          <p:cNvSpPr/>
          <p:nvPr/>
        </p:nvSpPr>
        <p:spPr>
          <a:xfrm>
            <a:off x="6120000" y="2304000"/>
            <a:ext cx="2736000" cy="108000"/>
          </a:xfrm>
          <a:prstGeom prst="rect">
            <a:avLst/>
          </a:prstGeom>
          <a:solidFill>
            <a:srgbClr val="E74C3C"/>
          </a:solidFill>
          <a:ln>
            <a:noFill/>
          </a:ln>
        </p:spPr>
        <p:txBody>
          <a:bodyPr/>
          <a:lstStyle/>
          <a:p>
            <a:endParaRPr/>
          </a:p>
        </p:txBody>
      </p:sp>
      <p:sp>
        <p:nvSpPr>
          <p:cNvPr id="28" name="!!co_num_bg2"/>
          <p:cNvSpPr/>
          <p:nvPr/>
        </p:nvSpPr>
        <p:spPr>
          <a:xfrm>
            <a:off x="6264000" y="2520000"/>
            <a:ext cx="720000" cy="720000"/>
          </a:xfrm>
          <a:prstGeom prst="ellipse">
            <a:avLst/>
          </a:prstGeom>
          <a:solidFill>
            <a:srgbClr val="1B2027">
              <a:alpha val="15000"/>
            </a:srgbClr>
          </a:solidFill>
          <a:ln>
            <a:noFill/>
          </a:ln>
        </p:spPr>
        <p:txBody>
          <a:bodyPr/>
          <a:lstStyle/>
          <a:p>
            <a:endParaRPr/>
          </a:p>
        </p:txBody>
      </p:sp>
      <p:sp>
        <p:nvSpPr>
          <p:cNvPr id="29" name="!!co_num2"/>
          <p:cNvSpPr/>
          <p:nvPr/>
        </p:nvSpPr>
        <p:spPr>
          <a:xfrm>
            <a:off x="6264000" y="2520000"/>
            <a:ext cx="720000" cy="720000"/>
          </a:xfrm>
          <a:prstGeom prst="rect">
            <a:avLst/>
          </a:prstGeom>
          <a:noFill/>
          <a:ln>
            <a:noFill/>
          </a:ln>
        </p:spPr>
        <p:txBody>
          <a:bodyPr/>
          <a:lstStyle/>
          <a:p>
            <a:r>
              <a:rPr lang="en-US" sz="2000" b="1">
                <a:solidFill>
                  <a:srgbClr val="E74C3C"/>
                </a:solidFill>
                <a:latin typeface="Calibri"/>
                <a:ea typeface="Calibri"/>
              </a:rPr>
              <a:t>3</a:t>
            </a:r>
          </a:p>
        </p:txBody>
      </p:sp>
      <p:sp>
        <p:nvSpPr>
          <p:cNvPr id="30" name="!!co_ctitle2"/>
          <p:cNvSpPr/>
          <p:nvPr/>
        </p:nvSpPr>
        <p:spPr>
          <a:xfrm>
            <a:off x="6264000" y="3348000"/>
            <a:ext cx="2448000" cy="540000"/>
          </a:xfrm>
          <a:prstGeom prst="rect">
            <a:avLst/>
          </a:prstGeom>
          <a:noFill/>
          <a:ln>
            <a:noFill/>
          </a:ln>
        </p:spPr>
        <p:txBody>
          <a:bodyPr/>
          <a:lstStyle/>
          <a:p>
            <a:r>
              <a:rPr lang="en-US" sz="1900" b="0">
                <a:solidFill>
                  <a:srgbClr val="F2F0E8"/>
                </a:solidFill>
                <a:latin typeface="Cambria"/>
                <a:ea typeface="Cambria"/>
              </a:rPr>
              <a:t>50% ASR</a:t>
            </a:r>
          </a:p>
        </p:txBody>
      </p:sp>
      <p:sp>
        <p:nvSpPr>
          <p:cNvPr id="31" name="!!co_cb2_ico"/>
          <p:cNvSpPr/>
          <p:nvPr/>
        </p:nvSpPr>
        <p:spPr>
          <a:xfrm>
            <a:off x="6264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2" name="!!co_cb2_txt"/>
          <p:cNvSpPr/>
          <p:nvPr/>
        </p:nvSpPr>
        <p:spPr>
          <a:xfrm>
            <a:off x="6984000" y="3960000"/>
            <a:ext cx="1728000" cy="702000"/>
          </a:xfrm>
          <a:prstGeom prst="rect">
            <a:avLst/>
          </a:prstGeom>
          <a:noFill/>
          <a:ln>
            <a:noFill/>
          </a:ln>
        </p:spPr>
        <p:txBody>
          <a:bodyPr/>
          <a:lstStyle/>
          <a:p>
            <a:r>
              <a:rPr lang="en-US" sz="1300">
                <a:solidFill>
                  <a:srgbClr val="A8B2BB"/>
                </a:solidFill>
                <a:latin typeface="Calibri"/>
                <a:ea typeface="Calibri"/>
              </a:rPr>
              <a:t>Attack success rate without defenses</a:t>
            </a:r>
          </a:p>
        </p:txBody>
      </p:sp>
      <p:sp>
        <p:nvSpPr>
          <p:cNvPr id="33" name="!!co_card3"/>
          <p:cNvSpPr/>
          <p:nvPr/>
        </p:nvSpPr>
        <p:spPr>
          <a:xfrm>
            <a:off x="8964000" y="2304000"/>
            <a:ext cx="2736000" cy="3060000"/>
          </a:xfrm>
          <a:prstGeom prst="roundRect">
            <a:avLst/>
          </a:prstGeom>
          <a:solidFill>
            <a:srgbClr val="1B2027"/>
          </a:solidFill>
          <a:ln w="1">
            <a:solidFill>
              <a:srgbClr val="232A32"/>
            </a:solidFill>
          </a:ln>
        </p:spPr>
        <p:txBody>
          <a:bodyPr/>
          <a:lstStyle/>
          <a:p>
            <a:endParaRPr/>
          </a:p>
        </p:txBody>
      </p:sp>
      <p:sp>
        <p:nvSpPr>
          <p:cNvPr id="34" name="!!co_strip3"/>
          <p:cNvSpPr/>
          <p:nvPr/>
        </p:nvSpPr>
        <p:spPr>
          <a:xfrm>
            <a:off x="8964000" y="2304000"/>
            <a:ext cx="2736000" cy="108000"/>
          </a:xfrm>
          <a:prstGeom prst="rect">
            <a:avLst/>
          </a:prstGeom>
          <a:solidFill>
            <a:srgbClr val="E74C3C"/>
          </a:solidFill>
          <a:ln>
            <a:noFill/>
          </a:ln>
        </p:spPr>
        <p:txBody>
          <a:bodyPr/>
          <a:lstStyle/>
          <a:p>
            <a:endParaRPr/>
          </a:p>
        </p:txBody>
      </p:sp>
      <p:sp>
        <p:nvSpPr>
          <p:cNvPr id="35" name="!!co_num_bg3"/>
          <p:cNvSpPr/>
          <p:nvPr/>
        </p:nvSpPr>
        <p:spPr>
          <a:xfrm>
            <a:off x="9108000" y="2520000"/>
            <a:ext cx="720000" cy="720000"/>
          </a:xfrm>
          <a:prstGeom prst="ellipse">
            <a:avLst/>
          </a:prstGeom>
          <a:solidFill>
            <a:srgbClr val="1B2027">
              <a:alpha val="15000"/>
            </a:srgbClr>
          </a:solidFill>
          <a:ln>
            <a:noFill/>
          </a:ln>
        </p:spPr>
        <p:txBody>
          <a:bodyPr/>
          <a:lstStyle/>
          <a:p>
            <a:endParaRPr/>
          </a:p>
        </p:txBody>
      </p:sp>
      <p:sp>
        <p:nvSpPr>
          <p:cNvPr id="36" name="!!co_num3"/>
          <p:cNvSpPr/>
          <p:nvPr/>
        </p:nvSpPr>
        <p:spPr>
          <a:xfrm>
            <a:off x="9108000" y="2520000"/>
            <a:ext cx="720000" cy="720000"/>
          </a:xfrm>
          <a:prstGeom prst="rect">
            <a:avLst/>
          </a:prstGeom>
          <a:noFill/>
          <a:ln>
            <a:noFill/>
          </a:ln>
        </p:spPr>
        <p:txBody>
          <a:bodyPr/>
          <a:lstStyle/>
          <a:p>
            <a:r>
              <a:rPr lang="en-US" sz="2000" b="1">
                <a:solidFill>
                  <a:srgbClr val="E74C3C"/>
                </a:solidFill>
                <a:latin typeface="Calibri"/>
                <a:ea typeface="Calibri"/>
              </a:rPr>
              <a:t>4</a:t>
            </a:r>
          </a:p>
        </p:txBody>
      </p:sp>
      <p:sp>
        <p:nvSpPr>
          <p:cNvPr id="37" name="!!co_ctitle3"/>
          <p:cNvSpPr/>
          <p:nvPr/>
        </p:nvSpPr>
        <p:spPr>
          <a:xfrm>
            <a:off x="9108000" y="3348000"/>
            <a:ext cx="2448000" cy="540000"/>
          </a:xfrm>
          <a:prstGeom prst="rect">
            <a:avLst/>
          </a:prstGeom>
          <a:noFill/>
          <a:ln>
            <a:noFill/>
          </a:ln>
        </p:spPr>
        <p:txBody>
          <a:bodyPr/>
          <a:lstStyle/>
          <a:p>
            <a:r>
              <a:rPr lang="en-US" sz="1900" b="0">
                <a:solidFill>
                  <a:srgbClr val="F2F0E8"/>
                </a:solidFill>
                <a:latin typeface="Cambria"/>
                <a:ea typeface="Cambria"/>
              </a:rPr>
              <a:t>0 explanations</a:t>
            </a:r>
          </a:p>
        </p:txBody>
      </p:sp>
      <p:sp>
        <p:nvSpPr>
          <p:cNvPr id="38" name="!!co_cb3_ico"/>
          <p:cNvSpPr/>
          <p:nvPr/>
        </p:nvSpPr>
        <p:spPr>
          <a:xfrm>
            <a:off x="9108000" y="4014000"/>
            <a:ext cx="540000" cy="540000"/>
          </a:xfrm>
          <a:custGeom>
            <a:avLst/>
            <a:gdLst/>
            <a:ahLst/>
            <a:cxnLst/>
            <a:rect l="0" t="0" r="r" b="b"/>
            <a:pathLst>
              <a:path w="82" h="72">
                <a:moveTo>
                  <a:pt x="15" y="50"/>
                </a:moveTo>
                <a:lnTo>
                  <a:pt x="38" y="72"/>
                </a:lnTo>
                <a:lnTo>
                  <a:pt x="82" y="22"/>
                </a:lnTo>
              </a:path>
            </a:pathLst>
          </a:custGeom>
          <a:noFill/>
          <a:ln w="6">
            <a:solidFill>
              <a:srgbClr val="39485C"/>
            </a:solidFill>
          </a:ln>
        </p:spPr>
        <p:txBody>
          <a:bodyPr/>
          <a:lstStyle/>
          <a:p>
            <a:endParaRPr/>
          </a:p>
        </p:txBody>
      </p:sp>
      <p:sp>
        <p:nvSpPr>
          <p:cNvPr id="39" name="!!co_cb3_txt"/>
          <p:cNvSpPr/>
          <p:nvPr/>
        </p:nvSpPr>
        <p:spPr>
          <a:xfrm>
            <a:off x="9828000" y="3960000"/>
            <a:ext cx="1728000" cy="540000"/>
          </a:xfrm>
          <a:prstGeom prst="rect">
            <a:avLst/>
          </a:prstGeom>
          <a:noFill/>
          <a:ln>
            <a:noFill/>
          </a:ln>
        </p:spPr>
        <p:txBody>
          <a:bodyPr/>
          <a:lstStyle/>
          <a:p>
            <a:r>
              <a:rPr lang="en-US" sz="1300">
                <a:solidFill>
                  <a:srgbClr val="A8B2BB"/>
                </a:solidFill>
                <a:latin typeface="Calibri"/>
                <a:ea typeface="Calibri"/>
              </a:rPr>
              <a:t>Tools never explain a block</a:t>
            </a:r>
          </a:p>
        </p:txBody>
      </p:sp>
      <p:sp>
        <p:nvSpPr>
          <p:cNvPr id="40" name="!!co_footer"/>
          <p:cNvSpPr/>
          <p:nvPr/>
        </p:nvSpPr>
        <p:spPr>
          <a:xfrm>
            <a:off x="432000" y="5616000"/>
            <a:ext cx="11328000" cy="720000"/>
          </a:xfrm>
          <a:prstGeom prst="rect">
            <a:avLst/>
          </a:prstGeom>
          <a:noFill/>
          <a:ln>
            <a:noFill/>
          </a:ln>
        </p:spPr>
        <p:txBody>
          <a:bodyPr/>
          <a:lstStyle/>
          <a:p>
            <a:r>
              <a:rPr lang="en-US" sz="1200">
                <a:solidFill>
                  <a:srgbClr val="A8B2BB"/>
                </a:solidFill>
                <a:latin typeface="Calibri"/>
                <a:ea typeface="Calibri"/>
              </a:rPr>
              <a:t>The problem is documented in public CVEs and academic studies; the project builds the missing layer between LLM and database.</a:t>
            </a:r>
          </a:p>
        </p:txBody>
      </p:sp>
      <p:sp>
        <p:nvSpPr>
          <p:cNvPr id="100008" name="!!Footer3"/>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4.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360000" y="900000"/>
            <a:ext cx="5760000" cy="5760000"/>
          </a:xfrm>
          <a:prstGeom prst="ellipse">
            <a:avLst/>
          </a:prstGeom>
          <a:solidFill>
            <a:srgbClr val="1B2027">
              <a:alpha val="30000"/>
            </a:srgbClr>
          </a:solidFill>
          <a:ln>
            <a:noFill/>
          </a:ln>
        </p:spPr>
        <p:txBody>
          <a:bodyPr/>
          <a:lstStyle/>
          <a:p>
            <a:endParaRPr/>
          </a:p>
        </p:txBody>
      </p:sp>
      <p:sp>
        <p:nvSpPr>
          <p:cNvPr id="3" name="!!sa2"/>
          <p:cNvSpPr/>
          <p:nvPr/>
        </p:nvSpPr>
        <p:spPr>
          <a:xfrm>
            <a:off x="5400000" y="2160000"/>
            <a:ext cx="3960000" cy="3960000"/>
          </a:xfrm>
          <a:prstGeom prst="ellipse">
            <a:avLst/>
          </a:prstGeom>
          <a:solidFill>
            <a:srgbClr val="20262E">
              <a:alpha val="20000"/>
            </a:srgbClr>
          </a:solidFill>
          <a:ln>
            <a:noFill/>
          </a:ln>
        </p:spPr>
        <p:txBody>
          <a:bodyPr/>
          <a:lstStyle/>
          <a:p>
            <a:endParaRPr/>
          </a:p>
        </p:txBody>
      </p:sp>
      <p:sp>
        <p:nvSpPr>
          <p:cNvPr id="4" name="!!sa3"/>
          <p:cNvSpPr/>
          <p:nvPr/>
        </p:nvSpPr>
        <p:spPr>
          <a:xfrm>
            <a:off x="0" y="0"/>
            <a:ext cx="12192000" cy="1800000"/>
          </a:xfrm>
          <a:prstGeom prst="rect">
            <a:avLst/>
          </a:prstGeom>
          <a:solidFill>
            <a:srgbClr val="1B2027">
              <a:alpha val="4000"/>
            </a:srgbClr>
          </a:solidFill>
          <a:ln>
            <a:noFill/>
          </a:ln>
        </p:spPr>
        <p:txBody>
          <a:bodyPr/>
          <a:lstStyle/>
          <a:p>
            <a:endParaRPr/>
          </a:p>
        </p:txBody>
      </p:sp>
      <p:sp>
        <p:nvSpPr>
          <p:cNvPr id="5" name="!!sa4"/>
          <p:cNvSpPr/>
          <p:nvPr/>
        </p:nvSpPr>
        <p:spPr>
          <a:xfrm>
            <a:off x="11160000" y="5400000"/>
            <a:ext cx="1440000" cy="144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6" name="!!sa5"/>
          <p:cNvSpPr/>
          <p:nvPr/>
        </p:nvSpPr>
        <p:spPr>
          <a:xfrm>
            <a:off x="360000" y="6120000"/>
            <a:ext cx="504000" cy="504000"/>
          </a:xfrm>
          <a:prstGeom prst="ellipse">
            <a:avLst/>
          </a:prstGeom>
          <a:solidFill>
            <a:srgbClr val="1B2027">
              <a:alpha val="50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2880000" cy="288000"/>
          </a:xfrm>
          <a:prstGeom prst="rect">
            <a:avLst/>
          </a:prstGeom>
          <a:solidFill>
            <a:srgbClr val="39485C"/>
          </a:solidFill>
          <a:ln>
            <a:noFill/>
          </a:ln>
        </p:spPr>
        <p:txBody>
          <a:bodyPr/>
          <a:lstStyle/>
          <a:p>
            <a:endParaRPr/>
          </a:p>
        </p:txBody>
      </p:sp>
      <p:sp>
        <p:nvSpPr>
          <p:cNvPr id="9" name="!!hl_tag_txt"/>
          <p:cNvSpPr/>
          <p:nvPr/>
        </p:nvSpPr>
        <p:spPr>
          <a:xfrm>
            <a:off x="432000" y="360000"/>
            <a:ext cx="2880000" cy="252000"/>
          </a:xfrm>
          <a:prstGeom prst="rect">
            <a:avLst/>
          </a:prstGeom>
          <a:noFill/>
          <a:ln>
            <a:noFill/>
          </a:ln>
        </p:spPr>
        <p:txBody>
          <a:bodyPr/>
          <a:lstStyle/>
          <a:p>
            <a:r>
              <a:rPr lang="en-US" sz="1000" b="1">
                <a:solidFill>
                  <a:srgbClr val="F2F0E8"/>
                </a:solidFill>
                <a:latin typeface="Calibri"/>
                <a:ea typeface="Calibri"/>
              </a:rPr>
              <a:t>EXISTING DEFENSES</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What exists today</a:t>
            </a:r>
          </a:p>
        </p:txBody>
      </p:sp>
      <p:sp>
        <p:nvSpPr>
          <p:cNvPr id="11" name="!!co_k1"/>
          <p:cNvSpPr/>
          <p:nvPr/>
        </p:nvSpPr>
        <p:spPr>
          <a:xfrm>
            <a:off x="432000" y="1980000"/>
            <a:ext cx="3600000" cy="1008000"/>
          </a:xfrm>
          <a:prstGeom prst="rect">
            <a:avLst/>
          </a:prstGeom>
          <a:noFill/>
          <a:ln>
            <a:noFill/>
          </a:ln>
        </p:spPr>
        <p:txBody>
          <a:bodyPr/>
          <a:lstStyle/>
          <a:p>
            <a:r>
              <a:rPr lang="en-US" sz="6000" b="0">
                <a:solidFill>
                  <a:srgbClr val="F2F0E8"/>
                </a:solidFill>
                <a:latin typeface="Cambria"/>
                <a:ea typeface="Cambria"/>
              </a:rPr>
              <a:t>Retrain</a:t>
            </a:r>
          </a:p>
        </p:txBody>
      </p:sp>
      <p:sp>
        <p:nvSpPr>
          <p:cNvPr id="12" name="!!co_k1_lbl"/>
          <p:cNvSpPr/>
          <p:nvPr/>
        </p:nvSpPr>
        <p:spPr>
          <a:xfrm>
            <a:off x="432000" y="3816000"/>
            <a:ext cx="3600000" cy="504000"/>
          </a:xfrm>
          <a:prstGeom prst="rect">
            <a:avLst/>
          </a:prstGeom>
          <a:noFill/>
          <a:ln>
            <a:noFill/>
          </a:ln>
        </p:spPr>
        <p:txBody>
          <a:bodyPr/>
          <a:lstStyle/>
          <a:p>
            <a:r>
              <a:rPr lang="en-US" sz="1700">
                <a:solidFill>
                  <a:srgbClr val="A8B2BB"/>
                </a:solidFill>
                <a:latin typeface="Calibri"/>
                <a:ea typeface="Calibri"/>
              </a:rPr>
              <a:t>StruQ, SecAlign: model-side</a:t>
            </a:r>
          </a:p>
        </p:txBody>
      </p:sp>
      <p:sp>
        <p:nvSpPr>
          <p:cNvPr id="13" name="!!co_k1_note_ico"/>
          <p:cNvSpPr/>
          <p:nvPr/>
        </p:nvSpPr>
        <p:spPr>
          <a:xfrm>
            <a:off x="432000" y="4446000"/>
            <a:ext cx="540000" cy="540000"/>
          </a:xfrm>
          <a:custGeom>
            <a:avLst/>
            <a:gdLst/>
            <a:ahLst/>
            <a:cxnLst/>
            <a:rect l="0" t="0" r="r" b="b"/>
            <a:pathLst>
              <a:path w="88" h="80">
                <a:moveTo>
                  <a:pt x="10" y="80"/>
                </a:moveTo>
                <a:lnTo>
                  <a:pt x="10" y="50"/>
                </a:lnTo>
                <a:lnTo>
                  <a:pt x="28" y="50"/>
                </a:lnTo>
                <a:lnTo>
                  <a:pt x="28" y="80"/>
                </a:lnTo>
                <a:moveTo>
                  <a:pt x="40" y="80"/>
                </a:moveTo>
                <a:lnTo>
                  <a:pt x="40" y="25"/>
                </a:lnTo>
                <a:lnTo>
                  <a:pt x="58" y="25"/>
                </a:lnTo>
                <a:lnTo>
                  <a:pt x="58" y="80"/>
                </a:lnTo>
                <a:moveTo>
                  <a:pt x="70" y="80"/>
                </a:moveTo>
                <a:lnTo>
                  <a:pt x="70" y="55"/>
                </a:lnTo>
                <a:lnTo>
                  <a:pt x="88" y="55"/>
                </a:lnTo>
                <a:lnTo>
                  <a:pt x="88" y="80"/>
                </a:lnTo>
              </a:path>
            </a:pathLst>
          </a:custGeom>
          <a:noFill/>
          <a:ln w="9525">
            <a:solidFill>
              <a:srgbClr val="E74C3C"/>
            </a:solidFill>
          </a:ln>
        </p:spPr>
        <p:txBody>
          <a:bodyPr/>
          <a:lstStyle/>
          <a:p>
            <a:endParaRPr/>
          </a:p>
        </p:txBody>
      </p:sp>
      <p:sp>
        <p:nvSpPr>
          <p:cNvPr id="14" name="!!co_k1_note_txt"/>
          <p:cNvSpPr/>
          <p:nvPr/>
        </p:nvSpPr>
        <p:spPr>
          <a:xfrm>
            <a:off x="1152000" y="4392000"/>
            <a:ext cx="2880000" cy="540000"/>
          </a:xfrm>
          <a:prstGeom prst="rect">
            <a:avLst/>
          </a:prstGeom>
          <a:noFill/>
          <a:ln>
            <a:noFill/>
          </a:ln>
        </p:spPr>
        <p:txBody>
          <a:bodyPr/>
          <a:lstStyle/>
          <a:p>
            <a:r>
              <a:rPr lang="en-US" sz="1500">
                <a:solidFill>
                  <a:srgbClr val="A8B2BB"/>
                </a:solidFill>
                <a:latin typeface="Calibri"/>
                <a:ea typeface="Calibri"/>
              </a:rPr>
              <a:t>Requires swapping or tuning the model</a:t>
            </a:r>
          </a:p>
        </p:txBody>
      </p:sp>
      <p:sp>
        <p:nvSpPr>
          <p:cNvPr id="15" name="!!co_k2"/>
          <p:cNvSpPr/>
          <p:nvPr/>
        </p:nvSpPr>
        <p:spPr>
          <a:xfrm>
            <a:off x="4320000" y="2340000"/>
            <a:ext cx="3240000" cy="1440000"/>
          </a:xfrm>
          <a:prstGeom prst="rect">
            <a:avLst/>
          </a:prstGeom>
          <a:noFill/>
          <a:ln>
            <a:noFill/>
          </a:ln>
        </p:spPr>
        <p:txBody>
          <a:bodyPr/>
          <a:lstStyle/>
          <a:p>
            <a:r>
              <a:rPr lang="en-US" sz="5400" b="0">
                <a:solidFill>
                  <a:srgbClr val="F2F0E8"/>
                </a:solidFill>
                <a:latin typeface="Cambria"/>
                <a:ea typeface="Cambria"/>
              </a:rPr>
              <a:t>Generic</a:t>
            </a:r>
          </a:p>
        </p:txBody>
      </p:sp>
      <p:sp>
        <p:nvSpPr>
          <p:cNvPr id="16" name="!!co_k2_lbl"/>
          <p:cNvSpPr/>
          <p:nvPr/>
        </p:nvSpPr>
        <p:spPr>
          <a:xfrm>
            <a:off x="4320000" y="3816000"/>
            <a:ext cx="3240000" cy="504000"/>
          </a:xfrm>
          <a:prstGeom prst="rect">
            <a:avLst/>
          </a:prstGeom>
          <a:noFill/>
          <a:ln>
            <a:noFill/>
          </a:ln>
        </p:spPr>
        <p:txBody>
          <a:bodyPr/>
          <a:lstStyle/>
          <a:p>
            <a:r>
              <a:rPr lang="en-US" sz="1700">
                <a:solidFill>
                  <a:srgbClr val="A8B2BB"/>
                </a:solidFill>
                <a:latin typeface="Calibri"/>
                <a:ea typeface="Calibri"/>
              </a:rPr>
              <a:t>NeMo, Guardrails AI</a:t>
            </a:r>
          </a:p>
        </p:txBody>
      </p:sp>
      <p:sp>
        <p:nvSpPr>
          <p:cNvPr id="17" name="!!co_k2_note_ico"/>
          <p:cNvSpPr/>
          <p:nvPr/>
        </p:nvSpPr>
        <p:spPr>
          <a:xfrm>
            <a:off x="4320000" y="4446000"/>
            <a:ext cx="540000" cy="540000"/>
          </a:xfrm>
          <a:custGeom>
            <a:avLst/>
            <a:gdLst/>
            <a:ahLst/>
            <a:cxnLst/>
            <a:rect l="0" t="0" r="r" b="b"/>
            <a:pathLst>
              <a:path w="75" h="70">
                <a:moveTo>
                  <a:pt x="20" y="50"/>
                </a:moveTo>
                <a:lnTo>
                  <a:pt x="70" y="50"/>
                </a:lnTo>
                <a:moveTo>
                  <a:pt x="52" y="30"/>
                </a:moveTo>
                <a:lnTo>
                  <a:pt x="75" y="50"/>
                </a:lnTo>
                <a:lnTo>
                  <a:pt x="52" y="70"/>
                </a:lnTo>
              </a:path>
            </a:pathLst>
          </a:custGeom>
          <a:noFill/>
          <a:ln w="9525">
            <a:solidFill>
              <a:srgbClr val="39485C"/>
            </a:solidFill>
          </a:ln>
        </p:spPr>
        <p:txBody>
          <a:bodyPr/>
          <a:lstStyle/>
          <a:p>
            <a:endParaRPr/>
          </a:p>
        </p:txBody>
      </p:sp>
      <p:sp>
        <p:nvSpPr>
          <p:cNvPr id="18" name="!!co_k2_note_txt"/>
          <p:cNvSpPr/>
          <p:nvPr/>
        </p:nvSpPr>
        <p:spPr>
          <a:xfrm>
            <a:off x="5040000" y="4392000"/>
            <a:ext cx="2520000" cy="540000"/>
          </a:xfrm>
          <a:prstGeom prst="rect">
            <a:avLst/>
          </a:prstGeom>
          <a:noFill/>
          <a:ln>
            <a:noFill/>
          </a:ln>
        </p:spPr>
        <p:txBody>
          <a:bodyPr/>
          <a:lstStyle/>
          <a:p>
            <a:r>
              <a:rPr lang="en-US" sz="1500">
                <a:solidFill>
                  <a:srgbClr val="A8B2BB"/>
                </a:solidFill>
                <a:latin typeface="Calibri"/>
                <a:ea typeface="Calibri"/>
              </a:rPr>
              <a:t>Opaque, not SQL-aware</a:t>
            </a:r>
          </a:p>
        </p:txBody>
      </p:sp>
      <p:sp>
        <p:nvSpPr>
          <p:cNvPr id="19" name="!!co_k3"/>
          <p:cNvSpPr/>
          <p:nvPr/>
        </p:nvSpPr>
        <p:spPr>
          <a:xfrm>
            <a:off x="7920000" y="2700000"/>
            <a:ext cx="2880000" cy="1080000"/>
          </a:xfrm>
          <a:prstGeom prst="rect">
            <a:avLst/>
          </a:prstGeom>
          <a:noFill/>
          <a:ln>
            <a:noFill/>
          </a:ln>
        </p:spPr>
        <p:txBody>
          <a:bodyPr/>
          <a:lstStyle/>
          <a:p>
            <a:r>
              <a:rPr lang="en-US" sz="4400" b="0">
                <a:solidFill>
                  <a:srgbClr val="A8B2BB"/>
                </a:solidFill>
                <a:latin typeface="Cambria"/>
                <a:ea typeface="Cambria"/>
              </a:rPr>
              <a:t>Tools</a:t>
            </a:r>
          </a:p>
        </p:txBody>
      </p:sp>
      <p:sp>
        <p:nvSpPr>
          <p:cNvPr id="20" name="!!co_k3_lbl"/>
          <p:cNvSpPr/>
          <p:nvPr/>
        </p:nvSpPr>
        <p:spPr>
          <a:xfrm>
            <a:off x="7920000" y="3816000"/>
            <a:ext cx="2880000" cy="612000"/>
          </a:xfrm>
          <a:prstGeom prst="rect">
            <a:avLst/>
          </a:prstGeom>
          <a:noFill/>
          <a:ln>
            <a:noFill/>
          </a:ln>
        </p:spPr>
        <p:txBody>
          <a:bodyPr/>
          <a:lstStyle/>
          <a:p>
            <a:r>
              <a:rPr lang="en-US" sz="1700">
                <a:solidFill>
                  <a:srgbClr val="A8B2BB"/>
                </a:solidFill>
                <a:latin typeface="Calibri"/>
                <a:ea typeface="Calibri"/>
              </a:rPr>
              <a:t>HeimdaLLM, sql-data-guard</a:t>
            </a:r>
          </a:p>
        </p:txBody>
      </p:sp>
      <p:sp>
        <p:nvSpPr>
          <p:cNvPr id="21" name="!!co_k3_note_ico"/>
          <p:cNvSpPr/>
          <p:nvPr/>
        </p:nvSpPr>
        <p:spPr>
          <a:xfrm>
            <a:off x="7920000" y="4446000"/>
            <a:ext cx="540000" cy="54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9525">
            <a:solidFill>
              <a:srgbClr val="A8B2BB"/>
            </a:solidFill>
          </a:ln>
        </p:spPr>
        <p:txBody>
          <a:bodyPr/>
          <a:lstStyle/>
          <a:p>
            <a:endParaRPr/>
          </a:p>
        </p:txBody>
      </p:sp>
      <p:sp>
        <p:nvSpPr>
          <p:cNvPr id="22" name="!!co_k3_note_txt"/>
          <p:cNvSpPr/>
          <p:nvPr/>
        </p:nvSpPr>
        <p:spPr>
          <a:xfrm>
            <a:off x="8640000" y="4392000"/>
            <a:ext cx="2160000" cy="540000"/>
          </a:xfrm>
          <a:prstGeom prst="rect">
            <a:avLst/>
          </a:prstGeom>
          <a:noFill/>
          <a:ln>
            <a:noFill/>
          </a:ln>
        </p:spPr>
        <p:txBody>
          <a:bodyPr/>
          <a:lstStyle/>
          <a:p>
            <a:r>
              <a:rPr lang="en-US" sz="1500">
                <a:solidFill>
                  <a:srgbClr val="A8B2BB"/>
                </a:solidFill>
                <a:latin typeface="Calibri"/>
                <a:ea typeface="Calibri"/>
              </a:rPr>
              <a:t>Gates exist, numbers don't</a:t>
            </a:r>
          </a:p>
        </p:txBody>
      </p:sp>
      <p:sp>
        <p:nvSpPr>
          <p:cNvPr id="23" name="!!co_iline"/>
          <p:cNvSpPr/>
          <p:nvPr/>
        </p:nvSpPr>
        <p:spPr>
          <a:xfrm>
            <a:off x="432000" y="5256000"/>
            <a:ext cx="11328000" cy="72000"/>
          </a:xfrm>
          <a:prstGeom prst="rect">
            <a:avLst/>
          </a:prstGeom>
          <a:solidFill>
            <a:srgbClr val="E74C3C"/>
          </a:solidFill>
          <a:ln>
            <a:noFill/>
          </a:ln>
        </p:spPr>
        <p:txBody>
          <a:bodyPr/>
          <a:lstStyle/>
          <a:p>
            <a:endParaRPr/>
          </a:p>
        </p:txBody>
      </p:sp>
      <p:sp>
        <p:nvSpPr>
          <p:cNvPr id="24" name="!!co_insight"/>
          <p:cNvSpPr/>
          <p:nvPr/>
        </p:nvSpPr>
        <p:spPr>
          <a:xfrm>
            <a:off x="432000" y="5400000"/>
            <a:ext cx="11328000" cy="900000"/>
          </a:xfrm>
          <a:prstGeom prst="rect">
            <a:avLst/>
          </a:prstGeom>
          <a:noFill/>
          <a:ln>
            <a:noFill/>
          </a:ln>
        </p:spPr>
        <p:txBody>
          <a:bodyPr/>
          <a:lstStyle/>
          <a:p>
            <a:r>
              <a:rPr lang="en-US" sz="1800">
                <a:solidFill>
                  <a:srgbClr val="A8B2BB"/>
                </a:solidFill>
                <a:latin typeface="Calibri"/>
                <a:ea typeface="Calibri"/>
              </a:rPr>
              <a:t>The gap: a check that is transparent (you can read every rule), SQL-specific (knows your schema), and measured (publishes its own mistake rate).</a:t>
            </a:r>
          </a:p>
        </p:txBody>
      </p:sp>
      <p:sp>
        <p:nvSpPr>
          <p:cNvPr id="100009" name="!!Footer4"/>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5.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6192000" cy="6858000"/>
          </a:xfrm>
          <a:prstGeom prst="rect">
            <a:avLst/>
          </a:prstGeom>
          <a:solidFill>
            <a:srgbClr val="1B2027">
              <a:alpha val="5000"/>
            </a:srgbClr>
          </a:solidFill>
          <a:ln>
            <a:noFill/>
          </a:ln>
        </p:spPr>
        <p:txBody>
          <a:bodyPr/>
          <a:lstStyle/>
          <a:p>
            <a:endParaRPr/>
          </a:p>
        </p:txBody>
      </p:sp>
      <p:sp>
        <p:nvSpPr>
          <p:cNvPr id="3" name="!!sa2"/>
          <p:cNvSpPr/>
          <p:nvPr/>
        </p:nvSpPr>
        <p:spPr>
          <a:xfrm>
            <a:off x="6336000" y="0"/>
            <a:ext cx="5856000" cy="6858000"/>
          </a:xfrm>
          <a:prstGeom prst="rect">
            <a:avLst/>
          </a:prstGeom>
          <a:solidFill>
            <a:srgbClr val="20262E">
              <a:alpha val="5000"/>
            </a:srgbClr>
          </a:solidFill>
          <a:ln>
            <a:noFill/>
          </a:ln>
        </p:spPr>
        <p:txBody>
          <a:bodyPr/>
          <a:lstStyle/>
          <a:p>
            <a:endParaRPr/>
          </a:p>
        </p:txBody>
      </p:sp>
      <p:sp>
        <p:nvSpPr>
          <p:cNvPr id="4" name="!!sa3"/>
          <p:cNvSpPr/>
          <p:nvPr/>
        </p:nvSpPr>
        <p:spPr>
          <a:xfrm>
            <a:off x="6192000" y="1800000"/>
            <a:ext cx="144000" cy="4338000"/>
          </a:xfrm>
          <a:prstGeom prst="rect">
            <a:avLst/>
          </a:prstGeom>
          <a:solidFill>
            <a:srgbClr val="E74C3C"/>
          </a:solidFill>
          <a:ln>
            <a:noFill/>
          </a:ln>
        </p:spPr>
        <p:txBody>
          <a:bodyPr/>
          <a:lstStyle/>
          <a:p>
            <a:endParaRPr/>
          </a:p>
        </p:txBody>
      </p:sp>
      <p:sp>
        <p:nvSpPr>
          <p:cNvPr id="5" name="!!sa4"/>
          <p:cNvSpPr/>
          <p:nvPr/>
        </p:nvSpPr>
        <p:spPr>
          <a:xfrm>
            <a:off x="0" y="0"/>
            <a:ext cx="3600000" cy="3600000"/>
          </a:xfrm>
          <a:prstGeom prst="ellipse">
            <a:avLst/>
          </a:prstGeom>
          <a:solidFill>
            <a:srgbClr val="1B2027">
              <a:alpha val="8000"/>
            </a:srgbClr>
          </a:solidFill>
          <a:ln>
            <a:noFill/>
          </a:ln>
        </p:spPr>
        <p:txBody>
          <a:bodyPr/>
          <a:lstStyle/>
          <a:p>
            <a:endParaRPr/>
          </a:p>
        </p:txBody>
      </p:sp>
      <p:sp>
        <p:nvSpPr>
          <p:cNvPr id="6" name="!!sa5"/>
          <p:cNvSpPr/>
          <p:nvPr/>
        </p:nvSpPr>
        <p:spPr>
          <a:xfrm>
            <a:off x="8496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2000"/>
            </a:srgbClr>
          </a:solidFill>
          <a:ln>
            <a:noFill/>
          </a:ln>
        </p:spPr>
        <p:txBody>
          <a:bodyPr/>
          <a:lstStyle/>
          <a:p>
            <a:endParaRPr/>
          </a:p>
        </p:txBody>
      </p:sp>
      <p:sp>
        <p:nvSpPr>
          <p:cNvPr id="7" name="!!sa6"/>
          <p:cNvSpPr/>
          <p:nvPr/>
        </p:nvSpPr>
        <p:spPr>
          <a:xfrm>
            <a:off x="0" y="0"/>
            <a:ext cx="6192000" cy="108000"/>
          </a:xfrm>
          <a:prstGeom prst="rect">
            <a:avLst/>
          </a:prstGeom>
          <a:solidFill>
            <a:srgbClr val="E74C3C"/>
          </a:solidFill>
          <a:ln>
            <a:noFill/>
          </a:ln>
        </p:spPr>
        <p:txBody>
          <a:bodyPr/>
          <a:lstStyle/>
          <a:p>
            <a:endParaRPr/>
          </a:p>
        </p:txBody>
      </p:sp>
      <p:sp>
        <p:nvSpPr>
          <p:cNvPr id="8" name="!!hl_tag"/>
          <p:cNvSpPr/>
          <p:nvPr/>
        </p:nvSpPr>
        <p:spPr>
          <a:xfrm>
            <a:off x="432000" y="360000"/>
            <a:ext cx="3240000" cy="252000"/>
          </a:xfrm>
          <a:prstGeom prst="rect">
            <a:avLst/>
          </a:prstGeom>
          <a:solidFill>
            <a:srgbClr val="E74C3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OUR SOLUTION</a:t>
            </a:r>
          </a:p>
        </p:txBody>
      </p:sp>
      <p:sp>
        <p:nvSpPr>
          <p:cNvPr id="10" name="!!hl_title"/>
          <p:cNvSpPr/>
          <p:nvPr/>
        </p:nvSpPr>
        <p:spPr>
          <a:xfrm>
            <a:off x="432000" y="540000"/>
            <a:ext cx="11329200" cy="1080000"/>
          </a:xfrm>
          <a:prstGeom prst="rect">
            <a:avLst/>
          </a:prstGeom>
          <a:noFill/>
          <a:ln>
            <a:noFill/>
          </a:ln>
        </p:spPr>
        <p:txBody>
          <a:bodyPr/>
          <a:lstStyle/>
          <a:p>
            <a:r>
              <a:rPr lang="en-US" sz="3600" b="0">
                <a:solidFill>
                  <a:srgbClr val="F2F0E8"/>
                </a:solidFill>
                <a:latin typeface="Cambria"/>
                <a:ea typeface="Cambria"/>
              </a:rPr>
              <a:t>A transparent gate at the application layer</a:t>
            </a:r>
          </a:p>
        </p:txBody>
      </p:sp>
      <p:sp>
        <p:nvSpPr>
          <p:cNvPr id="11" name="!!hl_sub"/>
          <p:cNvSpPr/>
          <p:nvPr/>
        </p:nvSpPr>
        <p:spPr>
          <a:xfrm>
            <a:off x="432000" y="1692000"/>
            <a:ext cx="5400000" cy="648000"/>
          </a:xfrm>
          <a:prstGeom prst="rect">
            <a:avLst/>
          </a:prstGeom>
          <a:noFill/>
          <a:ln>
            <a:noFill/>
          </a:ln>
        </p:spPr>
        <p:txBody>
          <a:bodyPr/>
          <a:lstStyle/>
          <a:p>
            <a:r>
              <a:rPr lang="en-US" sz="1800">
                <a:solidFill>
                  <a:srgbClr val="A8B2BB"/>
                </a:solidFill>
                <a:latin typeface="Calibri"/>
                <a:ea typeface="Calibri"/>
              </a:rPr>
              <a:t>Four workstreams; each becomes a numbered SRS requirement and a team lane.</a:t>
            </a:r>
          </a:p>
        </p:txBody>
      </p:sp>
      <p:sp>
        <p:nvSpPr>
          <p:cNvPr id="12" name="!!co_rbar0"/>
          <p:cNvSpPr/>
          <p:nvPr/>
        </p:nvSpPr>
        <p:spPr>
          <a:xfrm>
            <a:off x="432000" y="2304000"/>
            <a:ext cx="144000" cy="828000"/>
          </a:xfrm>
          <a:prstGeom prst="rect">
            <a:avLst/>
          </a:prstGeom>
          <a:solidFill>
            <a:srgbClr val="E74C3C"/>
          </a:solidFill>
          <a:ln>
            <a:noFill/>
          </a:ln>
        </p:spPr>
        <p:txBody>
          <a:bodyPr/>
          <a:lstStyle/>
          <a:p>
            <a:endParaRPr/>
          </a:p>
        </p:txBody>
      </p:sp>
      <p:sp>
        <p:nvSpPr>
          <p:cNvPr id="13" name="!!co_rtxt0"/>
          <p:cNvSpPr/>
          <p:nvPr/>
        </p:nvSpPr>
        <p:spPr>
          <a:xfrm>
            <a:off x="720000" y="2484000"/>
            <a:ext cx="5112000" cy="432000"/>
          </a:xfrm>
          <a:prstGeom prst="rect">
            <a:avLst/>
          </a:prstGeom>
          <a:noFill/>
          <a:ln>
            <a:noFill/>
          </a:ln>
        </p:spPr>
        <p:txBody>
          <a:bodyPr/>
          <a:lstStyle/>
          <a:p>
            <a:r>
              <a:rPr lang="en-US" sz="1600">
                <a:solidFill>
                  <a:srgbClr val="A8B2BB"/>
                </a:solidFill>
                <a:latin typeface="Calibri"/>
                <a:ea typeface="Calibri"/>
              </a:rPr>
              <a:t>Validation gate - AST rule engine (40%)</a:t>
            </a:r>
          </a:p>
        </p:txBody>
      </p:sp>
      <p:sp>
        <p:nvSpPr>
          <p:cNvPr id="14" name="!!co_rbar1"/>
          <p:cNvSpPr/>
          <p:nvPr/>
        </p:nvSpPr>
        <p:spPr>
          <a:xfrm>
            <a:off x="432000" y="3348000"/>
            <a:ext cx="144000" cy="828000"/>
          </a:xfrm>
          <a:prstGeom prst="rect">
            <a:avLst/>
          </a:prstGeom>
          <a:solidFill>
            <a:srgbClr val="39485C"/>
          </a:solidFill>
          <a:ln>
            <a:noFill/>
          </a:ln>
        </p:spPr>
        <p:txBody>
          <a:bodyPr/>
          <a:lstStyle/>
          <a:p>
            <a:endParaRPr/>
          </a:p>
        </p:txBody>
      </p:sp>
      <p:sp>
        <p:nvSpPr>
          <p:cNvPr id="15" name="!!co_rtxt1"/>
          <p:cNvSpPr/>
          <p:nvPr/>
        </p:nvSpPr>
        <p:spPr>
          <a:xfrm>
            <a:off x="720000" y="3528000"/>
            <a:ext cx="5112000" cy="432000"/>
          </a:xfrm>
          <a:prstGeom prst="rect">
            <a:avLst/>
          </a:prstGeom>
          <a:noFill/>
          <a:ln>
            <a:noFill/>
          </a:ln>
        </p:spPr>
        <p:txBody>
          <a:bodyPr/>
          <a:lstStyle/>
          <a:p>
            <a:r>
              <a:rPr lang="en-US" sz="1600">
                <a:solidFill>
                  <a:srgbClr val="A8B2BB"/>
                </a:solidFill>
                <a:latin typeface="Calibri"/>
                <a:ea typeface="Calibri"/>
              </a:rPr>
              <a:t>Evaluation harness - corpus + CI (20%)</a:t>
            </a:r>
          </a:p>
        </p:txBody>
      </p:sp>
      <p:sp>
        <p:nvSpPr>
          <p:cNvPr id="16" name="!!co_rbar2"/>
          <p:cNvSpPr/>
          <p:nvPr/>
        </p:nvSpPr>
        <p:spPr>
          <a:xfrm>
            <a:off x="432000" y="4392000"/>
            <a:ext cx="144000" cy="828000"/>
          </a:xfrm>
          <a:prstGeom prst="rect">
            <a:avLst/>
          </a:prstGeom>
          <a:solidFill>
            <a:srgbClr val="39485C"/>
          </a:solidFill>
          <a:ln>
            <a:noFill/>
          </a:ln>
        </p:spPr>
        <p:txBody>
          <a:bodyPr/>
          <a:lstStyle/>
          <a:p>
            <a:endParaRPr/>
          </a:p>
        </p:txBody>
      </p:sp>
      <p:sp>
        <p:nvSpPr>
          <p:cNvPr id="17" name="!!co_rtxt2"/>
          <p:cNvSpPr/>
          <p:nvPr/>
        </p:nvSpPr>
        <p:spPr>
          <a:xfrm>
            <a:off x="720000" y="4572000"/>
            <a:ext cx="5112000" cy="432000"/>
          </a:xfrm>
          <a:prstGeom prst="rect">
            <a:avLst/>
          </a:prstGeom>
          <a:noFill/>
          <a:ln>
            <a:noFill/>
          </a:ln>
        </p:spPr>
        <p:txBody>
          <a:bodyPr/>
          <a:lstStyle/>
          <a:p>
            <a:r>
              <a:rPr lang="en-US" sz="1600">
                <a:solidFill>
                  <a:srgbClr val="A8B2BB"/>
                </a:solidFill>
                <a:latin typeface="Calibri"/>
                <a:ea typeface="Calibri"/>
              </a:rPr>
              <a:t>Web application - UI and API (20%)</a:t>
            </a:r>
          </a:p>
        </p:txBody>
      </p:sp>
      <p:sp>
        <p:nvSpPr>
          <p:cNvPr id="18" name="!!co_rbar3"/>
          <p:cNvSpPr/>
          <p:nvPr/>
        </p:nvSpPr>
        <p:spPr>
          <a:xfrm>
            <a:off x="432000" y="5436000"/>
            <a:ext cx="144000" cy="828000"/>
          </a:xfrm>
          <a:prstGeom prst="rect">
            <a:avLst/>
          </a:prstGeom>
          <a:solidFill>
            <a:srgbClr val="A8B2BB"/>
          </a:solidFill>
          <a:ln>
            <a:noFill/>
          </a:ln>
        </p:spPr>
        <p:txBody>
          <a:bodyPr/>
          <a:lstStyle/>
          <a:p>
            <a:endParaRPr/>
          </a:p>
        </p:txBody>
      </p:sp>
      <p:sp>
        <p:nvSpPr>
          <p:cNvPr id="19" name="!!co_rtxt3"/>
          <p:cNvSpPr/>
          <p:nvPr/>
        </p:nvSpPr>
        <p:spPr>
          <a:xfrm>
            <a:off x="720000" y="5616000"/>
            <a:ext cx="5112000" cy="432000"/>
          </a:xfrm>
          <a:prstGeom prst="rect">
            <a:avLst/>
          </a:prstGeom>
          <a:noFill/>
          <a:ln>
            <a:noFill/>
          </a:ln>
        </p:spPr>
        <p:txBody>
          <a:bodyPr/>
          <a:lstStyle/>
          <a:p>
            <a:r>
              <a:rPr lang="en-US" sz="1600">
                <a:solidFill>
                  <a:srgbClr val="A8B2BB"/>
                </a:solidFill>
                <a:latin typeface="Calibri"/>
                <a:ea typeface="Calibri"/>
              </a:rPr>
              <a:t>Docs, decisions and presentation (20%)</a:t>
            </a:r>
          </a:p>
        </p:txBody>
      </p:sp>
      <p:sp>
        <p:nvSpPr>
          <p:cNvPr id="100010" name="!!Footer5"/>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8" name="!!pipe1"/>
          <p:cNvSpPr/>
          <p:nvPr/>
        </p:nvSpPr>
        <p:spPr>
          <a:xfrm>
            <a:off x="6660000" y="248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1 · Intake — session and question log</a:t>
            </a:r>
          </a:p>
        </p:txBody>
      </p:sp>
      <p:sp>
        <p:nvSpPr>
          <p:cNvPr id="100019" name="!!pipe2"/>
          <p:cNvSpPr/>
          <p:nvPr/>
        </p:nvSpPr>
        <p:spPr>
          <a:xfrm>
            <a:off x="6660000" y="329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2 · Generator — LLM drafts SQL + intent</a:t>
            </a:r>
          </a:p>
        </p:txBody>
      </p:sp>
      <p:sp>
        <p:nvSpPr>
          <p:cNvPr id="100020" name="!!pipe3"/>
          <p:cNvSpPr/>
          <p:nvPr/>
        </p:nvSpPr>
        <p:spPr>
          <a:xfrm>
            <a:off x="6660000" y="4104000"/>
            <a:ext cx="4500000" cy="486000"/>
          </a:xfrm>
          <a:prstGeom prst="roundRect">
            <a:avLst/>
          </a:prstGeom>
          <a:solidFill>
            <a:srgbClr val="E74C3C"/>
          </a:solidFill>
          <a:ln>
            <a:noFill/>
          </a:ln>
        </p:spPr>
        <p:txBody>
          <a:bodyPr anchor="ctr"/>
          <a:lstStyle/>
          <a:p>
            <a:pPr algn="ctr"/>
            <a:r>
              <a:rPr lang="en-US" sz="1600" b="1">
                <a:solidFill>
                  <a:srgbClr val="FFFFFF"/>
                </a:solidFill>
                <a:latin typeface="Calibri"/>
                <a:ea typeface="Calibri"/>
              </a:rPr>
              <a:t>3 · VALIDATION GATE — 10 rules</a:t>
            </a:r>
          </a:p>
        </p:txBody>
      </p:sp>
      <p:sp>
        <p:nvSpPr>
          <p:cNvPr id="100021" name="!!pipe4"/>
          <p:cNvSpPr/>
          <p:nvPr/>
        </p:nvSpPr>
        <p:spPr>
          <a:xfrm>
            <a:off x="6660000" y="491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4 · Executor — read-only, gate-passed only</a:t>
            </a:r>
          </a:p>
        </p:txBody>
      </p:sp>
      <p:sp>
        <p:nvSpPr>
          <p:cNvPr id="100022" name="!!pipe5"/>
          <p:cNvSpPr/>
          <p:nvPr/>
        </p:nvSpPr>
        <p:spPr>
          <a:xfrm>
            <a:off x="6660000" y="5724000"/>
            <a:ext cx="4500000" cy="486000"/>
          </a:xfrm>
          <a:prstGeom prst="roundRect">
            <a:avLst/>
          </a:prstGeom>
          <a:solidFill>
            <a:srgbClr val="39485C"/>
          </a:solidFill>
          <a:ln>
            <a:noFill/>
          </a:ln>
        </p:spPr>
        <p:txBody>
          <a:bodyPr anchor="ctr"/>
          <a:lstStyle/>
          <a:p>
            <a:pPr algn="ctr"/>
            <a:r>
              <a:rPr lang="en-US" sz="1400">
                <a:solidFill>
                  <a:srgbClr val="FFFFFF"/>
                </a:solidFill>
                <a:latin typeface="Calibri"/>
                <a:ea typeface="Calibri"/>
              </a:rPr>
              <a:t>5 · Audit log — every verdict recorded</a:t>
            </a:r>
          </a:p>
        </p:txBody>
      </p:sp>
      <p:sp>
        <p:nvSpPr>
          <p:cNvPr id="100023" name="!!arr1"/>
          <p:cNvSpPr/>
          <p:nvPr/>
        </p:nvSpPr>
        <p:spPr>
          <a:xfrm>
            <a:off x="8730000" y="3006000"/>
            <a:ext cx="252000" cy="252000"/>
          </a:xfrm>
          <a:prstGeom prst="downArrow">
            <a:avLst/>
          </a:prstGeom>
          <a:solidFill>
            <a:srgbClr val="A8B2BB"/>
          </a:solidFill>
          <a:ln>
            <a:noFill/>
          </a:ln>
        </p:spPr>
        <p:txBody>
          <a:bodyPr/>
          <a:lstStyle/>
          <a:p>
            <a:endParaRPr/>
          </a:p>
        </p:txBody>
      </p:sp>
      <p:sp>
        <p:nvSpPr>
          <p:cNvPr id="100024" name="!!arr2"/>
          <p:cNvSpPr/>
          <p:nvPr/>
        </p:nvSpPr>
        <p:spPr>
          <a:xfrm>
            <a:off x="8730000" y="3816000"/>
            <a:ext cx="252000" cy="252000"/>
          </a:xfrm>
          <a:prstGeom prst="downArrow">
            <a:avLst/>
          </a:prstGeom>
          <a:solidFill>
            <a:srgbClr val="A8B2BB"/>
          </a:solidFill>
          <a:ln>
            <a:noFill/>
          </a:ln>
        </p:spPr>
        <p:txBody>
          <a:bodyPr/>
          <a:lstStyle/>
          <a:p>
            <a:endParaRPr/>
          </a:p>
        </p:txBody>
      </p:sp>
      <p:sp>
        <p:nvSpPr>
          <p:cNvPr id="100025" name="!!arr3"/>
          <p:cNvSpPr/>
          <p:nvPr/>
        </p:nvSpPr>
        <p:spPr>
          <a:xfrm>
            <a:off x="8730000" y="4626000"/>
            <a:ext cx="252000" cy="252000"/>
          </a:xfrm>
          <a:prstGeom prst="downArrow">
            <a:avLst/>
          </a:prstGeom>
          <a:solidFill>
            <a:srgbClr val="A8B2BB"/>
          </a:solidFill>
          <a:ln>
            <a:noFill/>
          </a:ln>
        </p:spPr>
        <p:txBody>
          <a:bodyPr/>
          <a:lstStyle/>
          <a:p>
            <a:endParaRPr/>
          </a:p>
        </p:txBody>
      </p:sp>
      <p:sp>
        <p:nvSpPr>
          <p:cNvPr id="100026" name="!!arr4"/>
          <p:cNvSpPr/>
          <p:nvPr/>
        </p:nvSpPr>
        <p:spPr>
          <a:xfrm>
            <a:off x="8730000" y="5436000"/>
            <a:ext cx="252000" cy="252000"/>
          </a:xfrm>
          <a:prstGeom prst="downArrow">
            <a:avLst/>
          </a:prstGeom>
          <a:solidFill>
            <a:srgbClr val="A8B2BB"/>
          </a:solidFill>
          <a:ln>
            <a:noFill/>
          </a:ln>
        </p:spPr>
        <p:txBody>
          <a:bodyPr/>
          <a:lstStyle/>
          <a:p>
            <a:endParaRPr/>
          </a:p>
        </p:txBody>
      </p:sp>
      <p:sp>
        <p:nvSpPr>
          <p:cNvPr id="100027" name="!!boundary"/>
          <p:cNvSpPr txBox="1"/>
          <p:nvPr/>
        </p:nvSpPr>
        <p:spPr>
          <a:xfrm>
            <a:off x="6660000" y="6217200"/>
            <a:ext cx="4500000" cy="280800"/>
          </a:xfrm>
          <a:prstGeom prst="rect">
            <a:avLst/>
          </a:prstGeom>
        </p:spPr>
        <p:txBody>
          <a:bodyPr/>
          <a:lstStyle/>
          <a:p>
            <a:pPr algn="ctr"/>
            <a:r>
              <a:rPr lang="en-US" sz="1200" i="1">
                <a:solidFill>
                  <a:srgbClr val="A8B2BB"/>
                </a:solidFill>
                <a:latin typeface="Calibri"/>
                <a:ea typeface="Calibri"/>
              </a:rPr>
              <a:t>Executor accepts only gate-passed queries</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6.xml><?xml version="1.0" encoding="utf-8"?>
<p:sld xmlns:mc="http://schemas.openxmlformats.org/markup-compatibility/2006" xmlns:p159="http://schemas.microsoft.com/office/powerpoint/2015/09/main" xmlns:c="http://schemas.openxmlformats.org/drawingml/2006/chart"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8640000" y="3240000"/>
            <a:ext cx="5400000" cy="5400000"/>
          </a:xfrm>
          <a:prstGeom prst="ellipse">
            <a:avLst/>
          </a:prstGeom>
          <a:solidFill>
            <a:srgbClr val="20262E">
              <a:alpha val="8000"/>
            </a:srgbClr>
          </a:solidFill>
          <a:ln>
            <a:noFill/>
          </a:ln>
        </p:spPr>
        <p:txBody>
          <a:bodyPr/>
          <a:lstStyle/>
          <a:p>
            <a:endParaRPr/>
          </a:p>
        </p:txBody>
      </p:sp>
      <p:sp>
        <p:nvSpPr>
          <p:cNvPr id="3" name="!!sa2"/>
          <p:cNvSpPr/>
          <p:nvPr/>
        </p:nvSpPr>
        <p:spPr>
          <a:xfrm>
            <a:off x="0" y="0"/>
            <a:ext cx="2160000" cy="2160000"/>
          </a:xfrm>
          <a:prstGeom prst="ellipse">
            <a:avLst/>
          </a:prstGeom>
          <a:solidFill>
            <a:srgbClr val="1B2027">
              <a:alpha val="8000"/>
            </a:srgbClr>
          </a:solidFill>
          <a:ln>
            <a:noFill/>
          </a:ln>
        </p:spPr>
        <p:txBody>
          <a:bodyPr/>
          <a:lstStyle/>
          <a:p>
            <a:endParaRPr/>
          </a:p>
        </p:txBody>
      </p:sp>
      <p:sp>
        <p:nvSpPr>
          <p:cNvPr id="4" name="!!sa3"/>
          <p:cNvSpPr/>
          <p:nvPr/>
        </p:nvSpPr>
        <p:spPr>
          <a:xfrm>
            <a:off x="0" y="0"/>
            <a:ext cx="12192000" cy="1080000"/>
          </a:xfrm>
          <a:prstGeom prst="rect">
            <a:avLst/>
          </a:prstGeom>
          <a:solidFill>
            <a:srgbClr val="20262E">
              <a:alpha val="4000"/>
            </a:srgbClr>
          </a:solidFill>
          <a:ln>
            <a:noFill/>
          </a:ln>
        </p:spPr>
        <p:txBody>
          <a:bodyPr/>
          <a:lstStyle/>
          <a:p>
            <a:endParaRPr/>
          </a:p>
        </p:txBody>
      </p:sp>
      <p:sp>
        <p:nvSpPr>
          <p:cNvPr id="5" name="!!sa4"/>
          <p:cNvSpPr/>
          <p:nvPr/>
        </p:nvSpPr>
        <p:spPr>
          <a:xfrm>
            <a:off x="0" y="0"/>
            <a:ext cx="108000" cy="6858000"/>
          </a:xfrm>
          <a:prstGeom prst="rect">
            <a:avLst/>
          </a:prstGeom>
          <a:solidFill>
            <a:srgbClr val="E74C3C"/>
          </a:solidFill>
          <a:ln>
            <a:noFill/>
          </a:ln>
        </p:spPr>
        <p:txBody>
          <a:bodyPr/>
          <a:lstStyle/>
          <a:p>
            <a:endParaRPr/>
          </a:p>
        </p:txBody>
      </p:sp>
      <p:sp>
        <p:nvSpPr>
          <p:cNvPr id="6" name="!!sa5"/>
          <p:cNvSpPr/>
          <p:nvPr/>
        </p:nvSpPr>
        <p:spPr>
          <a:xfrm>
            <a:off x="1440000" y="540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15000"/>
            </a:srgbClr>
          </a:solidFill>
          <a:ln>
            <a:noFill/>
          </a:ln>
        </p:spPr>
        <p:txBody>
          <a:bodyPr/>
          <a:lstStyle/>
          <a:p>
            <a:endParaRPr/>
          </a:p>
        </p:txBody>
      </p:sp>
      <p:sp>
        <p:nvSpPr>
          <p:cNvPr id="7" name="!!sa6"/>
          <p:cNvSpPr/>
          <p:nvPr/>
        </p:nvSpPr>
        <p:spPr>
          <a:xfrm>
            <a:off x="0" y="0"/>
            <a:ext cx="12192000" cy="108000"/>
          </a:xfrm>
          <a:prstGeom prst="rect">
            <a:avLst/>
          </a:prstGeom>
          <a:solidFill>
            <a:srgbClr val="39485C"/>
          </a:solidFill>
          <a:ln>
            <a:noFill/>
          </a:ln>
        </p:spPr>
        <p:txBody>
          <a:bodyPr/>
          <a:lstStyle/>
          <a:p>
            <a:endParaRPr/>
          </a:p>
        </p:txBody>
      </p:sp>
      <p:sp>
        <p:nvSpPr>
          <p:cNvPr id="8" name="!!hl_tag"/>
          <p:cNvSpPr/>
          <p:nvPr/>
        </p:nvSpPr>
        <p:spPr>
          <a:xfrm>
            <a:off x="432000" y="360000"/>
            <a:ext cx="3240000" cy="2520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EVALUATION</a:t>
            </a:r>
          </a:p>
        </p:txBody>
      </p:sp>
      <p:sp>
        <p:nvSpPr>
          <p:cNvPr id="10" name="!!hl_title"/>
          <p:cNvSpPr/>
          <p:nvPr/>
        </p:nvSpPr>
        <p:spPr>
          <a:xfrm>
            <a:off x="432000" y="540000"/>
            <a:ext cx="11328000" cy="1080000"/>
          </a:xfrm>
          <a:prstGeom prst="rect">
            <a:avLst/>
          </a:prstGeom>
          <a:noFill/>
          <a:ln>
            <a:noFill/>
          </a:ln>
        </p:spPr>
        <p:txBody>
          <a:bodyPr/>
          <a:lstStyle/>
          <a:p>
            <a:r>
              <a:rPr lang="en-US" sz="3600" b="0">
                <a:solidFill>
                  <a:srgbClr val="F2F0E8"/>
                </a:solidFill>
                <a:latin typeface="Cambria"/>
                <a:ea typeface="Cambria"/>
              </a:rPr>
              <a:t>Measured, not asserted</a:t>
            </a:r>
          </a:p>
        </p:txBody>
      </p:sp>
      <p:sp>
        <p:nvSpPr>
          <p:cNvPr id="11" name="!!hl_sub"/>
          <p:cNvSpPr/>
          <p:nvPr/>
        </p:nvSpPr>
        <p:spPr>
          <a:xfrm>
            <a:off x="432000" y="1692000"/>
            <a:ext cx="11328000" cy="648000"/>
          </a:xfrm>
          <a:prstGeom prst="rect">
            <a:avLst/>
          </a:prstGeom>
          <a:noFill/>
          <a:ln>
            <a:noFill/>
          </a:ln>
        </p:spPr>
        <p:txBody>
          <a:bodyPr/>
          <a:lstStyle/>
          <a:p>
            <a:r>
              <a:rPr lang="en-US" sz="1800">
                <a:solidFill>
                  <a:srgbClr val="A8B2BB"/>
                </a:solidFill>
                <a:latin typeface="Calibri"/>
                <a:ea typeface="Calibri"/>
              </a:rPr>
              <a:t>Six attack classes from the published taxonomy; starter ships two prompts per class, target five.</a:t>
            </a:r>
          </a:p>
        </p:txBody>
      </p:sp>
      <p:sp>
        <p:nvSpPr>
          <p:cNvPr id="100011" name="!!Footer6"/>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34" name="!!evalpanel"/>
          <p:cNvSpPr/>
          <p:nvPr/>
        </p:nvSpPr>
        <p:spPr>
          <a:xfrm>
            <a:off x="432000" y="2304000"/>
            <a:ext cx="5472000" cy="3996000"/>
          </a:xfrm>
          <a:prstGeom prst="roundRect">
            <a:avLst/>
          </a:prstGeom>
          <a:solidFill>
            <a:srgbClr val="1B2027"/>
          </a:solidFill>
          <a:ln w="12700">
            <a:solidFill>
              <a:srgbClr val="232A32"/>
            </a:solidFill>
          </a:ln>
        </p:spPr>
        <p:txBody>
          <a:bodyPr/>
          <a:lstStyle/>
          <a:p/>
        </p:txBody>
      </p:sp>
      <p:sp>
        <p:nvSpPr>
          <p:cNvPr id="100035" name="!!pn1"/>
          <p:cNvSpPr/>
          <p:nvPr/>
        </p:nvSpPr>
        <p:spPr>
          <a:xfrm>
            <a:off x="792000" y="248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Corpus — 30 attacks + 30 benign</a:t>
            </a:r>
          </a:p>
        </p:txBody>
      </p:sp>
      <p:sp>
        <p:nvSpPr>
          <p:cNvPr id="100036" name="!!pn2"/>
          <p:cNvSpPr/>
          <p:nvPr/>
        </p:nvSpPr>
        <p:spPr>
          <a:xfrm>
            <a:off x="792000" y="320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Gate under test — all 10 rules</a:t>
            </a:r>
          </a:p>
        </p:txBody>
      </p:sp>
      <p:sp>
        <p:nvSpPr>
          <p:cNvPr id="100037" name="!!pn3"/>
          <p:cNvSpPr/>
          <p:nvPr/>
        </p:nvSpPr>
        <p:spPr>
          <a:xfrm>
            <a:off x="792000" y="3924000"/>
            <a:ext cx="4752000" cy="468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Gate verdicts — per rule, per class</a:t>
            </a:r>
          </a:p>
        </p:txBody>
      </p:sp>
      <p:sp>
        <p:nvSpPr>
          <p:cNvPr id="100038" name="!!pn4"/>
          <p:cNvSpPr/>
          <p:nvPr/>
        </p:nvSpPr>
        <p:spPr>
          <a:xfrm>
            <a:off x="792000" y="4644000"/>
            <a:ext cx="4752000" cy="468000"/>
          </a:xfrm>
          <a:prstGeom prst="roundRect">
            <a:avLst/>
          </a:prstGeom>
          <a:solidFill>
            <a:srgbClr val="39485C"/>
          </a:solidFill>
          <a:ln>
            <a:noFill/>
          </a:ln>
        </p:spPr>
        <p:txBody>
          <a:bodyPr anchor="ctr"/>
          <a:lstStyle/>
          <a:p>
            <a:pPr algn="ctr"/>
            <a:r>
              <a:rPr lang="en-US" sz="1400">
                <a:solidFill>
                  <a:srgbClr val="F2F0E8"/>
                </a:solidFill>
                <a:latin typeface="Calibri"/>
                <a:ea typeface="Calibri"/>
              </a:rPr>
              <a:t>Report — block rate + false positives</a:t>
            </a:r>
          </a:p>
        </p:txBody>
      </p:sp>
      <p:sp>
        <p:nvSpPr>
          <p:cNvPr id="100039" name="!!cib"/>
          <p:cNvSpPr/>
          <p:nvPr/>
        </p:nvSpPr>
        <p:spPr>
          <a:xfrm>
            <a:off x="792000" y="5220000"/>
            <a:ext cx="4752000" cy="360000"/>
          </a:xfrm>
          <a:prstGeom prst="roundRect">
            <a:avLst/>
          </a:prstGeom>
          <a:solidFill>
            <a:srgbClr val="E74C3C"/>
          </a:solidFill>
          <a:ln>
            <a:noFill/>
          </a:ln>
        </p:spPr>
        <p:txBody>
          <a:bodyPr anchor="ctr"/>
          <a:lstStyle/>
          <a:p>
            <a:pPr algn="ctr"/>
            <a:r>
              <a:rPr lang="en-US" sz="1400" b="1">
                <a:solidFill>
                  <a:srgbClr val="FFFFFF"/>
                </a:solidFill>
                <a:latin typeface="Calibri"/>
                <a:ea typeface="Calibri"/>
              </a:rPr>
              <a:t>CI: any regression fails the build</a:t>
            </a:r>
          </a:p>
        </p:txBody>
      </p:sp>
      <p:sp>
        <p:nvSpPr>
          <p:cNvPr id="100040" name="!!critbg"/>
          <p:cNvSpPr/>
          <p:nvPr/>
        </p:nvSpPr>
        <p:spPr>
          <a:xfrm>
            <a:off x="6336000" y="2304000"/>
            <a:ext cx="5364000" cy="3996000"/>
          </a:xfrm>
          <a:prstGeom prst="roundRect">
            <a:avLst/>
          </a:prstGeom>
          <a:solidFill>
            <a:srgbClr val="1B2027"/>
          </a:solidFill>
          <a:ln w="12700">
            <a:solidFill>
              <a:srgbClr val="232A32"/>
            </a:solidFill>
          </a:ln>
        </p:spPr>
        <p:txBody>
          <a:bodyPr/>
          <a:lstStyle/>
          <a:p/>
        </p:txBody>
      </p:sp>
      <p:sp>
        <p:nvSpPr>
          <p:cNvPr id="100041" name="!!c1b"/>
          <p:cNvSpPr txBox="1"/>
          <p:nvPr/>
        </p:nvSpPr>
        <p:spPr>
          <a:xfrm>
            <a:off x="6552000" y="2520000"/>
            <a:ext cx="1728000" cy="684000"/>
          </a:xfrm>
          <a:prstGeom prst="rect">
            <a:avLst/>
          </a:prstGeom>
        </p:spPr>
        <p:txBody>
          <a:bodyPr/>
          <a:lstStyle/>
          <a:p>
            <a:pPr algn="ctr"/>
            <a:r>
              <a:rPr lang="en-US" sz="3600" b="1">
                <a:solidFill>
                  <a:srgbClr val="E74C3C"/>
                </a:solidFill>
                <a:latin typeface="Cambria"/>
                <a:ea typeface="Cambria"/>
              </a:rPr>
              <a:t>100%</a:t>
            </a:r>
          </a:p>
        </p:txBody>
      </p:sp>
      <p:sp>
        <p:nvSpPr>
          <p:cNvPr id="100042" name="!!c1t"/>
          <p:cNvSpPr txBox="1"/>
          <p:nvPr/>
        </p:nvSpPr>
        <p:spPr>
          <a:xfrm>
            <a:off x="8640000" y="2682000"/>
            <a:ext cx="3024000" cy="522000"/>
          </a:xfrm>
          <a:prstGeom prst="rect">
            <a:avLst/>
          </a:prstGeom>
        </p:spPr>
        <p:txBody>
          <a:bodyPr/>
          <a:lstStyle/>
          <a:p>
            <a:pPr algn="l"/>
            <a:r>
              <a:rPr lang="en-US" sz="1400">
                <a:solidFill>
                  <a:srgbClr val="F2F0E8"/>
                </a:solidFill>
                <a:latin typeface="Calibri"/>
                <a:ea typeface="Calibri"/>
              </a:rPr>
              <a:t>block rate on destructive classes</a:t>
            </a:r>
          </a:p>
        </p:txBody>
      </p:sp>
      <p:sp>
        <p:nvSpPr>
          <p:cNvPr id="100043" name="!!c2b"/>
          <p:cNvSpPr txBox="1"/>
          <p:nvPr/>
        </p:nvSpPr>
        <p:spPr>
          <a:xfrm>
            <a:off x="6552000" y="3420000"/>
            <a:ext cx="3024000" cy="684000"/>
          </a:xfrm>
          <a:prstGeom prst="rect">
            <a:avLst/>
          </a:prstGeom>
        </p:spPr>
        <p:txBody>
          <a:bodyPr/>
          <a:lstStyle/>
          <a:p>
            <a:pPr algn="ctr"/>
            <a:r>
              <a:rPr lang="en-US" sz="3600" b="1">
                <a:solidFill>
                  <a:srgbClr val="E74C3C"/>
                </a:solidFill>
                <a:latin typeface="Cambria"/>
                <a:ea typeface="Cambria"/>
              </a:rPr>
              <a:t>&lt; 10%</a:t>
            </a:r>
          </a:p>
        </p:txBody>
      </p:sp>
      <p:sp>
        <p:nvSpPr>
          <p:cNvPr id="100044" name="!!c2t"/>
          <p:cNvSpPr txBox="1"/>
          <p:nvPr/>
        </p:nvSpPr>
        <p:spPr>
          <a:xfrm>
            <a:off x="8640000" y="3582000"/>
            <a:ext cx="3024000" cy="522000"/>
          </a:xfrm>
          <a:prstGeom prst="rect">
            <a:avLst/>
          </a:prstGeom>
        </p:spPr>
        <p:txBody>
          <a:bodyPr/>
          <a:lstStyle/>
          <a:p>
            <a:pPr algn="l"/>
            <a:r>
              <a:rPr lang="en-US" sz="1400">
                <a:solidFill>
                  <a:srgbClr val="F2F0E8"/>
                </a:solidFill>
                <a:latin typeface="Calibri"/>
                <a:ea typeface="Calibri"/>
              </a:rPr>
              <a:t>false positives, reported openly</a:t>
            </a:r>
          </a:p>
        </p:txBody>
      </p:sp>
      <p:sp>
        <p:nvSpPr>
          <p:cNvPr id="100045" name="!!c3b"/>
          <p:cNvSpPr txBox="1"/>
          <p:nvPr/>
        </p:nvSpPr>
        <p:spPr>
          <a:xfrm>
            <a:off x="6552000" y="4320000"/>
            <a:ext cx="2088000" cy="684000"/>
          </a:xfrm>
          <a:prstGeom prst="rect">
            <a:avLst/>
          </a:prstGeom>
        </p:spPr>
        <p:txBody>
          <a:bodyPr/>
          <a:lstStyle/>
          <a:p>
            <a:pPr algn="ctr"/>
            <a:r>
              <a:rPr lang="en-US" sz="3600" b="1">
                <a:solidFill>
                  <a:srgbClr val="E74C3C"/>
                </a:solidFill>
                <a:latin typeface="Cambria"/>
                <a:ea typeface="Cambria"/>
              </a:rPr>
              <a:t>&lt; 50 ms</a:t>
            </a:r>
          </a:p>
        </p:txBody>
      </p:sp>
      <p:sp>
        <p:nvSpPr>
          <p:cNvPr id="100046" name="!!c3t"/>
          <p:cNvSpPr txBox="1"/>
          <p:nvPr/>
        </p:nvSpPr>
        <p:spPr>
          <a:xfrm>
            <a:off x="8640000" y="4482000"/>
            <a:ext cx="2088000" cy="522000"/>
          </a:xfrm>
          <a:prstGeom prst="rect">
            <a:avLst/>
          </a:prstGeom>
        </p:spPr>
        <p:txBody>
          <a:bodyPr/>
          <a:lstStyle/>
          <a:p>
            <a:pPr algn="l"/>
            <a:r>
              <a:rPr lang="en-US" sz="1400">
                <a:solidFill>
                  <a:srgbClr val="F2F0E8"/>
                </a:solidFill>
                <a:latin typeface="Calibri"/>
                <a:ea typeface="Calibri"/>
              </a:rPr>
              <a:t>p95 gate latency per query</a:t>
            </a:r>
          </a:p>
        </p:txBody>
      </p:sp>
      <p:sp>
        <p:nvSpPr>
          <p:cNvPr id="100047" name="!!c4b"/>
          <p:cNvSpPr txBox="1"/>
          <p:nvPr/>
        </p:nvSpPr>
        <p:spPr>
          <a:xfrm>
            <a:off x="6552000" y="5220000"/>
            <a:ext cx="2088000" cy="684000"/>
          </a:xfrm>
          <a:prstGeom prst="rect">
            <a:avLst/>
          </a:prstGeom>
        </p:spPr>
        <p:txBody>
          <a:bodyPr/>
          <a:lstStyle/>
          <a:p>
            <a:pPr algn="ctr"/>
            <a:r>
              <a:rPr lang="en-US" sz="3600" b="1">
                <a:solidFill>
                  <a:srgbClr val="E74C3C"/>
                </a:solidFill>
                <a:latin typeface="Cambria"/>
                <a:ea typeface="Cambria"/>
              </a:rPr>
              <a:t>0</a:t>
            </a:r>
          </a:p>
        </p:txBody>
      </p:sp>
      <p:sp>
        <p:nvSpPr>
          <p:cNvPr id="100048" name="!!c4t"/>
          <p:cNvSpPr txBox="1"/>
          <p:nvPr/>
        </p:nvSpPr>
        <p:spPr>
          <a:xfrm>
            <a:off x="8640000" y="5382000"/>
            <a:ext cx="3024000" cy="522000"/>
          </a:xfrm>
          <a:prstGeom prst="rect">
            <a:avLst/>
          </a:prstGeom>
        </p:spPr>
        <p:txBody>
          <a:bodyPr/>
          <a:lstStyle/>
          <a:p>
            <a:pPr algn="l"/>
            <a:r>
              <a:rPr lang="en-US" sz="1400">
                <a:solidFill>
                  <a:srgbClr val="F2F0E8"/>
                </a:solidFill>
                <a:latin typeface="Calibri"/>
                <a:ea typeface="Calibri"/>
              </a:rPr>
              <a:t>silent regressions - CI-enforced</a:t>
            </a:r>
          </a:p>
        </p:txBody>
      </p:sp>
      <p:sp>
        <p:nvSpPr>
          <p:cNvPr id="100049" name="!!ea1"/>
          <p:cNvSpPr/>
          <p:nvPr/>
        </p:nvSpPr>
        <p:spPr>
          <a:xfrm>
            <a:off x="3060000" y="2988000"/>
            <a:ext cx="216000" cy="180000"/>
          </a:xfrm>
          <a:prstGeom prst="downArrow">
            <a:avLst/>
          </a:prstGeom>
          <a:solidFill>
            <a:srgbClr val="85929E"/>
          </a:solidFill>
          <a:ln>
            <a:noFill/>
          </a:ln>
        </p:spPr>
        <p:txBody>
          <a:bodyPr/>
          <a:lstStyle/>
          <a:p/>
        </p:txBody>
      </p:sp>
      <p:sp>
        <p:nvSpPr>
          <p:cNvPr id="100050" name="!!ea2"/>
          <p:cNvSpPr/>
          <p:nvPr/>
        </p:nvSpPr>
        <p:spPr>
          <a:xfrm>
            <a:off x="3060000" y="3708000"/>
            <a:ext cx="216000" cy="180000"/>
          </a:xfrm>
          <a:prstGeom prst="downArrow">
            <a:avLst/>
          </a:prstGeom>
          <a:solidFill>
            <a:srgbClr val="85929E"/>
          </a:solidFill>
          <a:ln>
            <a:noFill/>
          </a:ln>
        </p:spPr>
        <p:txBody>
          <a:bodyPr/>
          <a:lstStyle/>
          <a:p/>
        </p:txBody>
      </p:sp>
      <p:sp>
        <p:nvSpPr>
          <p:cNvPr id="100051" name="!!ea3"/>
          <p:cNvSpPr/>
          <p:nvPr/>
        </p:nvSpPr>
        <p:spPr>
          <a:xfrm>
            <a:off x="3060000" y="4428000"/>
            <a:ext cx="216000" cy="180000"/>
          </a:xfrm>
          <a:prstGeom prst="downArrow">
            <a:avLst/>
          </a:prstGeom>
          <a:solidFill>
            <a:srgbClr val="85929E"/>
          </a:solidFill>
          <a:ln>
            <a:noFill/>
          </a:ln>
        </p:spPr>
        <p:txBody>
          <a:bodyPr/>
          <a:lstStyle/>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c="http://schemas.openxmlformats.org/drawingml/2006/chart">
      <p:transition>
        <p:fade/>
      </p:transition>
    </mc:Fallback>
  </mc:AlternateContent>
</p:sld>
</file>

<file path=ppt/slides/slide7.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4176000" y="0"/>
            <a:ext cx="7200000" cy="7200000"/>
          </a:xfrm>
          <a:prstGeom prst="ellipse">
            <a:avLst/>
          </a:prstGeom>
          <a:solidFill>
            <a:srgbClr val="1B2027">
              <a:alpha val="7000"/>
            </a:srgbClr>
          </a:solidFill>
          <a:ln>
            <a:noFill/>
          </a:ln>
        </p:spPr>
        <p:txBody>
          <a:bodyPr/>
          <a:lstStyle/>
          <a:p>
            <a:endParaRPr/>
          </a:p>
        </p:txBody>
      </p:sp>
      <p:sp>
        <p:nvSpPr>
          <p:cNvPr id="3" name="!!sa2"/>
          <p:cNvSpPr/>
          <p:nvPr/>
        </p:nvSpPr>
        <p:spPr>
          <a:xfrm>
            <a:off x="0" y="3240000"/>
            <a:ext cx="3600000" cy="3600000"/>
          </a:xfrm>
          <a:prstGeom prst="ellipse">
            <a:avLst/>
          </a:prstGeom>
          <a:solidFill>
            <a:srgbClr val="20262E">
              <a:alpha val="8000"/>
            </a:srgbClr>
          </a:solidFill>
          <a:ln>
            <a:noFill/>
          </a:ln>
        </p:spPr>
        <p:txBody>
          <a:bodyPr/>
          <a:lstStyle/>
          <a:p>
            <a:endParaRPr/>
          </a:p>
        </p:txBody>
      </p:sp>
      <p:sp>
        <p:nvSpPr>
          <p:cNvPr id="4" name="!!sa3"/>
          <p:cNvSpPr/>
          <p:nvPr/>
        </p:nvSpPr>
        <p:spPr>
          <a:xfrm>
            <a:off x="9360000" y="720000"/>
            <a:ext cx="2880000" cy="5418000"/>
          </a:xfrm>
          <a:prstGeom prst="rect">
            <a:avLst/>
          </a:prstGeom>
          <a:solidFill>
            <a:srgbClr val="1B2027">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39485C"/>
          </a:solidFill>
          <a:ln>
            <a:noFill/>
          </a:ln>
        </p:spPr>
        <p:txBody>
          <a:bodyPr/>
          <a:lstStyle/>
          <a:p>
            <a:endParaRPr/>
          </a:p>
        </p:txBody>
      </p:sp>
      <p:sp>
        <p:nvSpPr>
          <p:cNvPr id="6" name="!!sa5"/>
          <p:cNvSpPr/>
          <p:nvPr/>
        </p:nvSpPr>
        <p:spPr>
          <a:xfrm>
            <a:off x="11520000" y="5400000"/>
            <a:ext cx="1080000" cy="1080000"/>
          </a:xfrm>
          <a:custGeom>
            <a:avLst/>
            <a:gdLst/>
            <a:ahLst/>
            <a:cxnLst/>
            <a:rect l="0" t="0" r="r" b="b"/>
            <a:pathLst>
              <a:path w="92" h="92">
                <a:moveTo>
                  <a:pt x="50" y="8"/>
                </a:moveTo>
                <a:lnTo>
                  <a:pt x="92" y="50"/>
                </a:lnTo>
                <a:lnTo>
                  <a:pt x="50" y="92"/>
                </a:lnTo>
                <a:lnTo>
                  <a:pt x="8" y="50"/>
                </a:lnTo>
                <a:close/>
              </a:path>
            </a:pathLst>
          </a:custGeom>
          <a:solidFill>
            <a:srgbClr val="20262E">
              <a:alpha val="15000"/>
            </a:srgbClr>
          </a:solidFill>
          <a:ln>
            <a:noFill/>
          </a:ln>
        </p:spPr>
        <p:txBody>
          <a:bodyPr/>
          <a:lstStyle/>
          <a:p>
            <a:endParaRPr/>
          </a:p>
        </p:txBody>
      </p:sp>
      <p:sp>
        <p:nvSpPr>
          <p:cNvPr id="7" name="!!sa6"/>
          <p:cNvSpPr/>
          <p:nvPr/>
        </p:nvSpPr>
        <p:spPr>
          <a:xfrm>
            <a:off x="360000" y="1080000"/>
            <a:ext cx="504000" cy="504000"/>
          </a:xfrm>
          <a:prstGeom prst="ellipse">
            <a:avLst/>
          </a:prstGeom>
          <a:solidFill>
            <a:srgbClr val="1B2027">
              <a:alpha val="50000"/>
            </a:srgbClr>
          </a:solidFill>
          <a:ln>
            <a:noFill/>
          </a:ln>
        </p:spPr>
        <p:txBody>
          <a:bodyPr/>
          <a:lstStyle/>
          <a:p>
            <a:endParaRPr/>
          </a:p>
        </p:txBody>
      </p:sp>
      <p:sp>
        <p:nvSpPr>
          <p:cNvPr id="8" name="!!hl_tag"/>
          <p:cNvSpPr/>
          <p:nvPr/>
        </p:nvSpPr>
        <p:spPr>
          <a:xfrm>
            <a:off x="432000" y="360000"/>
            <a:ext cx="3240000" cy="274400"/>
          </a:xfrm>
          <a:prstGeom prst="rect">
            <a:avLst/>
          </a:prstGeom>
          <a:solidFill>
            <a:srgbClr val="39485C"/>
          </a:solidFill>
          <a:ln>
            <a:noFill/>
          </a:ln>
        </p:spPr>
        <p:txBody>
          <a:bodyPr/>
          <a:lstStyle/>
          <a:p>
            <a:endParaRPr/>
          </a:p>
        </p:txBody>
      </p:sp>
      <p:sp>
        <p:nvSpPr>
          <p:cNvPr id="9" name="!!hl_tag_txt"/>
          <p:cNvSpPr/>
          <p:nvPr/>
        </p:nvSpPr>
        <p:spPr>
          <a:xfrm>
            <a:off x="432000" y="360000"/>
            <a:ext cx="3240000" cy="252000"/>
          </a:xfrm>
          <a:prstGeom prst="rect">
            <a:avLst/>
          </a:prstGeom>
          <a:noFill/>
          <a:ln>
            <a:noFill/>
          </a:ln>
        </p:spPr>
        <p:txBody>
          <a:bodyPr/>
          <a:lstStyle/>
          <a:p>
            <a:r>
              <a:rPr lang="en-US" sz="1000" b="1">
                <a:solidFill>
                  <a:srgbClr val="F2F0E8"/>
                </a:solidFill>
                <a:latin typeface="Calibri"/>
                <a:ea typeface="Calibri"/>
              </a:rPr>
              <a:t>MILESTONES</a:t>
            </a:r>
          </a:p>
        </p:txBody>
      </p:sp>
      <p:sp>
        <p:nvSpPr>
          <p:cNvPr id="10" name="!!hl_title"/>
          <p:cNvSpPr/>
          <p:nvPr/>
        </p:nvSpPr>
        <p:spPr>
          <a:xfrm>
            <a:off x="432000" y="540000"/>
            <a:ext cx="7920000" cy="1206000"/>
          </a:xfrm>
          <a:prstGeom prst="rect">
            <a:avLst/>
          </a:prstGeom>
          <a:noFill/>
          <a:ln>
            <a:noFill/>
          </a:ln>
        </p:spPr>
        <p:txBody>
          <a:bodyPr/>
          <a:lstStyle/>
          <a:p>
            <a:r>
              <a:rPr lang="en-US" sz="3600" b="0">
                <a:solidFill>
                  <a:srgbClr val="F2F0E8"/>
                </a:solidFill>
                <a:latin typeface="Cambria"/>
                <a:ea typeface="Cambria"/>
              </a:rPr>
              <a:t>Three checkpoints, all verifiable</a:t>
            </a:r>
          </a:p>
        </p:txBody>
      </p:sp>
      <p:sp>
        <p:nvSpPr>
          <p:cNvPr id="11" name="!!hl_sub"/>
          <p:cNvSpPr/>
          <p:nvPr/>
        </p:nvSpPr>
        <p:spPr>
          <a:xfrm>
            <a:off x="432000" y="1692000"/>
            <a:ext cx="7920000" cy="648000"/>
          </a:xfrm>
          <a:prstGeom prst="rect">
            <a:avLst/>
          </a:prstGeom>
          <a:noFill/>
          <a:ln>
            <a:noFill/>
          </a:ln>
        </p:spPr>
        <p:txBody>
          <a:bodyPr/>
          <a:lstStyle/>
          <a:p>
            <a:r>
              <a:rPr lang="en-US" sz="1800">
                <a:solidFill>
                  <a:srgbClr val="A8B2BB"/>
                </a:solidFill>
                <a:latin typeface="Calibri"/>
                <a:ea typeface="Calibri"/>
              </a:rPr>
              <a:t>Every checkpoint has a receipt: submission proof, green CI, or a live demo.</a:t>
            </a:r>
          </a:p>
        </p:txBody>
      </p:sp>
      <p:sp>
        <p:nvSpPr>
          <p:cNvPr id="12" name="!!co_pc0"/>
          <p:cNvSpPr/>
          <p:nvPr/>
        </p:nvSpPr>
        <p:spPr>
          <a:xfrm>
            <a:off x="432000" y="2304000"/>
            <a:ext cx="3744000" cy="3060000"/>
          </a:xfrm>
          <a:prstGeom prst="roundRect">
            <a:avLst/>
          </a:prstGeom>
          <a:solidFill>
            <a:srgbClr val="1B2027"/>
          </a:solidFill>
          <a:ln w="1">
            <a:solidFill>
              <a:srgbClr val="232A32"/>
            </a:solidFill>
          </a:ln>
        </p:spPr>
        <p:txBody>
          <a:bodyPr/>
          <a:lstStyle/>
          <a:p>
            <a:endParaRPr/>
          </a:p>
        </p:txBody>
      </p:sp>
      <p:sp>
        <p:nvSpPr>
          <p:cNvPr id="13" name="!!co_pstrip0"/>
          <p:cNvSpPr/>
          <p:nvPr/>
        </p:nvSpPr>
        <p:spPr>
          <a:xfrm>
            <a:off x="432000" y="2304000"/>
            <a:ext cx="3744000" cy="144000"/>
          </a:xfrm>
          <a:prstGeom prst="rect">
            <a:avLst/>
          </a:prstGeom>
          <a:solidFill>
            <a:srgbClr val="E74C3C"/>
          </a:solidFill>
          <a:ln>
            <a:noFill/>
          </a:ln>
        </p:spPr>
        <p:txBody>
          <a:bodyPr/>
          <a:lstStyle/>
          <a:p>
            <a:endParaRPr/>
          </a:p>
        </p:txBody>
      </p:sp>
      <p:sp>
        <p:nvSpPr>
          <p:cNvPr id="14" name="!!co_pico0"/>
          <p:cNvSpPr/>
          <p:nvPr/>
        </p:nvSpPr>
        <p:spPr>
          <a:xfrm>
            <a:off x="648000" y="2592000"/>
            <a:ext cx="720000" cy="720000"/>
          </a:xfrm>
          <a:custGeom>
            <a:avLst/>
            <a:gdLst/>
            <a:ahLst/>
            <a:cxnLst/>
            <a:rect l="0" t="0" r="r" b="b"/>
            <a:pathLst>
              <a:path w="75" h="70">
                <a:moveTo>
                  <a:pt x="20" y="50"/>
                </a:moveTo>
                <a:lnTo>
                  <a:pt x="70" y="50"/>
                </a:lnTo>
                <a:moveTo>
                  <a:pt x="52" y="30"/>
                </a:moveTo>
                <a:lnTo>
                  <a:pt x="75" y="50"/>
                </a:lnTo>
                <a:lnTo>
                  <a:pt x="52" y="70"/>
                </a:lnTo>
              </a:path>
            </a:pathLst>
          </a:custGeom>
          <a:noFill/>
          <a:ln w="7">
            <a:solidFill>
              <a:srgbClr val="E74C3C"/>
            </a:solidFill>
          </a:ln>
        </p:spPr>
        <p:txBody>
          <a:bodyPr/>
          <a:lstStyle/>
          <a:p>
            <a:endParaRPr/>
          </a:p>
        </p:txBody>
      </p:sp>
      <p:sp>
        <p:nvSpPr>
          <p:cNvPr id="15" name="!!co_ptit0"/>
          <p:cNvSpPr/>
          <p:nvPr/>
        </p:nvSpPr>
        <p:spPr>
          <a:xfrm>
            <a:off x="648000" y="3384000"/>
            <a:ext cx="3312000" cy="540000"/>
          </a:xfrm>
          <a:prstGeom prst="rect">
            <a:avLst/>
          </a:prstGeom>
          <a:noFill/>
          <a:ln>
            <a:noFill/>
          </a:ln>
        </p:spPr>
        <p:txBody>
          <a:bodyPr/>
          <a:lstStyle/>
          <a:p>
            <a:r>
              <a:rPr lang="en-US" sz="1900" b="0">
                <a:solidFill>
                  <a:srgbClr val="E74C3C"/>
                </a:solidFill>
                <a:latin typeface="Cambria"/>
                <a:ea typeface="Cambria"/>
              </a:rPr>
              <a:t>Proposal and SRS</a:t>
            </a:r>
          </a:p>
        </p:txBody>
      </p:sp>
      <p:sp>
        <p:nvSpPr>
          <p:cNvPr id="16" name="!!co_ptxt0"/>
          <p:cNvSpPr/>
          <p:nvPr/>
        </p:nvSpPr>
        <p:spPr>
          <a:xfrm>
            <a:off x="648000" y="3996000"/>
            <a:ext cx="3312000" cy="1224000"/>
          </a:xfrm>
          <a:prstGeom prst="rect">
            <a:avLst/>
          </a:prstGeom>
          <a:noFill/>
          <a:ln>
            <a:noFill/>
          </a:ln>
        </p:spPr>
        <p:txBody>
          <a:bodyPr/>
          <a:lstStyle/>
          <a:p>
            <a:r>
              <a:rPr lang="en-US" sz="1500">
                <a:solidFill>
                  <a:srgbClr val="A8B2BB"/>
                </a:solidFill>
                <a:latin typeface="Calibri"/>
                <a:ea typeface="Calibri"/>
              </a:rPr>
              <a:t>Submitted with review comments recorded before midterm; deck follows the course style rules.</a:t>
            </a:r>
          </a:p>
        </p:txBody>
      </p:sp>
      <p:sp>
        <p:nvSpPr>
          <p:cNvPr id="17" name="!!co_pc1"/>
          <p:cNvSpPr/>
          <p:nvPr/>
        </p:nvSpPr>
        <p:spPr>
          <a:xfrm>
            <a:off x="4356000" y="2304000"/>
            <a:ext cx="3744000" cy="3060000"/>
          </a:xfrm>
          <a:prstGeom prst="roundRect">
            <a:avLst/>
          </a:prstGeom>
          <a:solidFill>
            <a:srgbClr val="1B2027"/>
          </a:solidFill>
          <a:ln w="1">
            <a:solidFill>
              <a:srgbClr val="232A32"/>
            </a:solidFill>
          </a:ln>
        </p:spPr>
        <p:txBody>
          <a:bodyPr/>
          <a:lstStyle/>
          <a:p>
            <a:endParaRPr/>
          </a:p>
        </p:txBody>
      </p:sp>
      <p:sp>
        <p:nvSpPr>
          <p:cNvPr id="18" name="!!co_pstrip1"/>
          <p:cNvSpPr/>
          <p:nvPr/>
        </p:nvSpPr>
        <p:spPr>
          <a:xfrm>
            <a:off x="4356000" y="2304000"/>
            <a:ext cx="3744000" cy="144000"/>
          </a:xfrm>
          <a:prstGeom prst="rect">
            <a:avLst/>
          </a:prstGeom>
          <a:solidFill>
            <a:srgbClr val="39485C"/>
          </a:solidFill>
          <a:ln>
            <a:noFill/>
          </a:ln>
        </p:spPr>
        <p:txBody>
          <a:bodyPr/>
          <a:lstStyle/>
          <a:p>
            <a:endParaRPr/>
          </a:p>
        </p:txBody>
      </p:sp>
      <p:sp>
        <p:nvSpPr>
          <p:cNvPr id="19" name="!!co_pico1"/>
          <p:cNvSpPr/>
          <p:nvPr/>
        </p:nvSpPr>
        <p:spPr>
          <a:xfrm>
            <a:off x="4572000" y="2592000"/>
            <a:ext cx="720000" cy="720000"/>
          </a:xfrm>
          <a:custGeom>
            <a:avLst/>
            <a:gdLst/>
            <a:ahLst/>
            <a:cxnLst/>
            <a:rect l="0" t="0" r="r" b="b"/>
            <a:pathLst>
              <a:path w="90" h="84">
                <a:moveTo>
                  <a:pt x="50" y="10"/>
                </a:moveTo>
                <a:lnTo>
                  <a:pt x="61" y="37"/>
                </a:lnTo>
                <a:lnTo>
                  <a:pt x="90" y="37"/>
                </a:lnTo>
                <a:lnTo>
                  <a:pt x="67" y="57"/>
                </a:lnTo>
                <a:lnTo>
                  <a:pt x="75" y="84"/>
                </a:lnTo>
                <a:lnTo>
                  <a:pt x="50" y="67"/>
                </a:lnTo>
                <a:lnTo>
                  <a:pt x="25" y="84"/>
                </a:lnTo>
                <a:lnTo>
                  <a:pt x="33" y="57"/>
                </a:lnTo>
                <a:lnTo>
                  <a:pt x="10" y="37"/>
                </a:lnTo>
                <a:lnTo>
                  <a:pt x="39" y="37"/>
                </a:lnTo>
                <a:close/>
              </a:path>
            </a:pathLst>
          </a:custGeom>
          <a:noFill/>
          <a:ln w="7">
            <a:solidFill>
              <a:srgbClr val="39485C"/>
            </a:solidFill>
          </a:ln>
        </p:spPr>
        <p:txBody>
          <a:bodyPr/>
          <a:lstStyle/>
          <a:p>
            <a:endParaRPr/>
          </a:p>
        </p:txBody>
      </p:sp>
      <p:sp>
        <p:nvSpPr>
          <p:cNvPr id="20" name="!!co_ptit1"/>
          <p:cNvSpPr/>
          <p:nvPr/>
        </p:nvSpPr>
        <p:spPr>
          <a:xfrm>
            <a:off x="4572000" y="3384000"/>
            <a:ext cx="3312000" cy="540000"/>
          </a:xfrm>
          <a:prstGeom prst="rect">
            <a:avLst/>
          </a:prstGeom>
          <a:noFill/>
          <a:ln>
            <a:noFill/>
          </a:ln>
        </p:spPr>
        <p:txBody>
          <a:bodyPr/>
          <a:lstStyle/>
          <a:p>
            <a:r>
              <a:rPr lang="en-US" sz="1900" b="0">
                <a:solidFill>
                  <a:srgbClr val="F2F0E8"/>
                </a:solidFill>
                <a:latin typeface="Cambria"/>
                <a:ea typeface="Cambria"/>
              </a:rPr>
              <a:t>Build and CI gate</a:t>
            </a:r>
          </a:p>
        </p:txBody>
      </p:sp>
      <p:sp>
        <p:nvSpPr>
          <p:cNvPr id="21" name="!!co_ptxt1"/>
          <p:cNvSpPr/>
          <p:nvPr/>
        </p:nvSpPr>
        <p:spPr>
          <a:xfrm>
            <a:off x="4572000" y="3996000"/>
            <a:ext cx="3312000" cy="1224000"/>
          </a:xfrm>
          <a:prstGeom prst="rect">
            <a:avLst/>
          </a:prstGeom>
          <a:noFill/>
          <a:ln>
            <a:noFill/>
          </a:ln>
        </p:spPr>
        <p:txBody>
          <a:bodyPr/>
          <a:lstStyle/>
          <a:p>
            <a:r>
              <a:rPr lang="en-US" sz="1500">
                <a:solidFill>
                  <a:srgbClr val="A8B2BB"/>
                </a:solidFill>
                <a:latin typeface="Calibri"/>
                <a:ea typeface="Calibri"/>
              </a:rPr>
              <a:t>Working path from question to verdict after midterm; corpus regression green on every push.</a:t>
            </a:r>
          </a:p>
        </p:txBody>
      </p:sp>
      <p:sp>
        <p:nvSpPr>
          <p:cNvPr id="22" name="!!co_pc2"/>
          <p:cNvSpPr/>
          <p:nvPr/>
        </p:nvSpPr>
        <p:spPr>
          <a:xfrm>
            <a:off x="8280000" y="2304000"/>
            <a:ext cx="3744000" cy="3060000"/>
          </a:xfrm>
          <a:prstGeom prst="roundRect">
            <a:avLst/>
          </a:prstGeom>
          <a:solidFill>
            <a:srgbClr val="1B2027"/>
          </a:solidFill>
          <a:ln w="1">
            <a:solidFill>
              <a:srgbClr val="232A32"/>
            </a:solidFill>
          </a:ln>
        </p:spPr>
        <p:txBody>
          <a:bodyPr/>
          <a:lstStyle/>
          <a:p>
            <a:endParaRPr/>
          </a:p>
        </p:txBody>
      </p:sp>
      <p:sp>
        <p:nvSpPr>
          <p:cNvPr id="23" name="!!co_pstrip2"/>
          <p:cNvSpPr/>
          <p:nvPr/>
        </p:nvSpPr>
        <p:spPr>
          <a:xfrm>
            <a:off x="8280000" y="2304000"/>
            <a:ext cx="3744000" cy="144000"/>
          </a:xfrm>
          <a:prstGeom prst="rect">
            <a:avLst/>
          </a:prstGeom>
          <a:solidFill>
            <a:srgbClr val="A8B2BB"/>
          </a:solidFill>
          <a:ln>
            <a:noFill/>
          </a:ln>
        </p:spPr>
        <p:txBody>
          <a:bodyPr/>
          <a:lstStyle/>
          <a:p>
            <a:endParaRPr/>
          </a:p>
        </p:txBody>
      </p:sp>
      <p:sp>
        <p:nvSpPr>
          <p:cNvPr id="24" name="!!co_pico2"/>
          <p:cNvSpPr/>
          <p:nvPr/>
        </p:nvSpPr>
        <p:spPr>
          <a:xfrm>
            <a:off x="8496000" y="2592000"/>
            <a:ext cx="720000" cy="720000"/>
          </a:xfrm>
          <a:custGeom>
            <a:avLst/>
            <a:gdLst/>
            <a:ahLst/>
            <a:cxnLst/>
            <a:rect l="0" t="0" r="r" b="b"/>
            <a:pathLst>
              <a:path w="88" h="82">
                <a:moveTo>
                  <a:pt x="50" y="12"/>
                </a:moveTo>
                <a:lnTo>
                  <a:pt x="88" y="82"/>
                </a:lnTo>
                <a:lnTo>
                  <a:pt x="12" y="82"/>
                </a:lnTo>
                <a:close/>
                <a:moveTo>
                  <a:pt x="50" y="42"/>
                </a:moveTo>
                <a:lnTo>
                  <a:pt x="50" y="62"/>
                </a:lnTo>
                <a:moveTo>
                  <a:pt x="50" y="70"/>
                </a:moveTo>
                <a:lnTo>
                  <a:pt x="50" y="74"/>
                </a:lnTo>
              </a:path>
            </a:pathLst>
          </a:custGeom>
          <a:noFill/>
          <a:ln w="7">
            <a:solidFill>
              <a:srgbClr val="A8B2BB"/>
            </a:solidFill>
          </a:ln>
        </p:spPr>
        <p:txBody>
          <a:bodyPr/>
          <a:lstStyle/>
          <a:p>
            <a:endParaRPr/>
          </a:p>
        </p:txBody>
      </p:sp>
      <p:sp>
        <p:nvSpPr>
          <p:cNvPr id="25" name="!!co_ptit2"/>
          <p:cNvSpPr/>
          <p:nvPr/>
        </p:nvSpPr>
        <p:spPr>
          <a:xfrm>
            <a:off x="8496000" y="3384000"/>
            <a:ext cx="3312000" cy="540000"/>
          </a:xfrm>
          <a:prstGeom prst="rect">
            <a:avLst/>
          </a:prstGeom>
          <a:noFill/>
          <a:ln>
            <a:noFill/>
          </a:ln>
        </p:spPr>
        <p:txBody>
          <a:bodyPr/>
          <a:lstStyle/>
          <a:p>
            <a:r>
              <a:rPr lang="en-US" sz="1900" b="0">
                <a:solidFill>
                  <a:srgbClr val="A8B2BB"/>
                </a:solidFill>
                <a:latin typeface="Cambria"/>
                <a:ea typeface="Cambria"/>
              </a:rPr>
              <a:t>Demo</a:t>
            </a:r>
          </a:p>
        </p:txBody>
      </p:sp>
      <p:sp>
        <p:nvSpPr>
          <p:cNvPr id="26" name="!!co_ptxt2"/>
          <p:cNvSpPr/>
          <p:nvPr/>
        </p:nvSpPr>
        <p:spPr>
          <a:xfrm>
            <a:off x="8496000" y="3996000"/>
            <a:ext cx="3312000" cy="1224000"/>
          </a:xfrm>
          <a:prstGeom prst="rect">
            <a:avLst/>
          </a:prstGeom>
          <a:noFill/>
          <a:ln>
            <a:noFill/>
          </a:ln>
        </p:spPr>
        <p:txBody>
          <a:bodyPr/>
          <a:lstStyle/>
          <a:p>
            <a:r>
              <a:rPr lang="en-US" sz="1500">
                <a:solidFill>
                  <a:srgbClr val="A8B2BB"/>
                </a:solidFill>
                <a:latin typeface="Calibri"/>
                <a:ea typeface="Calibri"/>
              </a:rPr>
              <a:t>Scripted demo with live metrics; block shown, numbers on screen, rehearsed twice.</a:t>
            </a:r>
          </a:p>
        </p:txBody>
      </p:sp>
      <p:sp>
        <p:nvSpPr>
          <p:cNvPr id="100012" name="!!Footer7"/>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
        <p:nvSpPr>
          <p:cNvPr id="100016" name="TextBox 27"/>
          <p:cNvSpPr/>
          <p:nvPr/>
        </p:nvSpPr>
        <p:spPr>
          <a:xfrm>
            <a:off x="4014000" y="3546000"/>
            <a:ext cx="504000" cy="180000"/>
          </a:xfrm>
          <a:prstGeom prst="rightArrow">
            <a:avLst/>
          </a:prstGeom>
          <a:solidFill>
            <a:srgbClr val="A8B2BB"/>
          </a:solidFill>
          <a:ln>
            <a:noFill/>
          </a:ln>
        </p:spPr>
        <p:txBody>
          <a:bodyPr/>
          <a:lstStyle/>
          <a:p>
            <a:endParaRPr/>
          </a:p>
        </p:txBody>
      </p:sp>
      <p:sp>
        <p:nvSpPr>
          <p:cNvPr id="100017" name="TextBox 28"/>
          <p:cNvSpPr/>
          <p:nvPr/>
        </p:nvSpPr>
        <p:spPr>
          <a:xfrm>
            <a:off x="7938000" y="3546000"/>
            <a:ext cx="504000" cy="180000"/>
          </a:xfrm>
          <a:prstGeom prst="rightArrow">
            <a:avLst/>
          </a:prstGeom>
          <a:solidFill>
            <a:srgbClr val="A8B2BB"/>
          </a:solidFill>
          <a:ln>
            <a:noFill/>
          </a:ln>
        </p:spPr>
        <p:txBody>
          <a:body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slides/slide8.xml><?xml version="1.0" encoding="utf-8"?>
<p:sld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bg>
      <p:bgPr>
        <a:solidFill>
          <a:srgbClr val="121418"/>
        </a:solidFill>
        <a:effectLst/>
      </p:bgPr>
    </p:bg>
    <p:spTree>
      <p:nvGrpSpPr>
        <p:cNvPr id="1" name=""/>
        <p:cNvGrpSpPr/>
        <p:nvPr/>
      </p:nvGrpSpPr>
      <p:grpSpPr>
        <a:xfrm>
          <a:off x="0" y="0"/>
          <a:ext cx="0" cy="0"/>
          <a:chOff x="0" y="0"/>
          <a:chExt cx="0" cy="0"/>
        </a:xfrm>
      </p:grpSpPr>
      <p:sp>
        <p:nvSpPr>
          <p:cNvPr id="2" name="sa1"/>
          <p:cNvSpPr/>
          <p:nvPr/>
        </p:nvSpPr>
        <p:spPr>
          <a:xfrm>
            <a:off x="0" y="0"/>
            <a:ext cx="3600000" cy="3600000"/>
          </a:xfrm>
          <a:prstGeom prst="ellipse">
            <a:avLst/>
          </a:prstGeom>
          <a:solidFill>
            <a:srgbClr val="20262E">
              <a:alpha val="10000"/>
            </a:srgbClr>
          </a:solidFill>
          <a:ln>
            <a:noFill/>
          </a:ln>
        </p:spPr>
        <p:txBody>
          <a:bodyPr/>
          <a:lstStyle/>
          <a:p>
            <a:endParaRPr/>
          </a:p>
        </p:txBody>
      </p:sp>
      <p:sp>
        <p:nvSpPr>
          <p:cNvPr id="3" name="sa2"/>
          <p:cNvSpPr/>
          <p:nvPr/>
        </p:nvSpPr>
        <p:spPr>
          <a:xfrm>
            <a:off x="9360000" y="3960000"/>
            <a:ext cx="4320000" cy="4320000"/>
          </a:xfrm>
          <a:prstGeom prst="ellipse">
            <a:avLst/>
          </a:prstGeom>
          <a:solidFill>
            <a:srgbClr val="1B2027">
              <a:alpha val="12000"/>
            </a:srgbClr>
          </a:solidFill>
          <a:ln>
            <a:noFill/>
          </a:ln>
        </p:spPr>
        <p:txBody>
          <a:bodyPr/>
          <a:lstStyle/>
          <a:p>
            <a:endParaRPr/>
          </a:p>
        </p:txBody>
      </p:sp>
      <p:sp>
        <p:nvSpPr>
          <p:cNvPr id="4" name="sa3"/>
          <p:cNvSpPr/>
          <p:nvPr/>
        </p:nvSpPr>
        <p:spPr>
          <a:xfrm>
            <a:off x="4320000" y="0"/>
            <a:ext cx="3600000" cy="6858000"/>
          </a:xfrm>
          <a:prstGeom prst="rect">
            <a:avLst/>
          </a:prstGeom>
          <a:solidFill>
            <a:srgbClr val="20262E">
              <a:alpha val="4000"/>
            </a:srgbClr>
          </a:solidFill>
          <a:ln>
            <a:noFill/>
          </a:ln>
        </p:spPr>
        <p:txBody>
          <a:bodyPr/>
          <a:lstStyle/>
          <a:p>
            <a:endParaRPr/>
          </a:p>
        </p:txBody>
      </p:sp>
      <p:sp>
        <p:nvSpPr>
          <p:cNvPr id="5" name="sa4"/>
          <p:cNvSpPr/>
          <p:nvPr/>
        </p:nvSpPr>
        <p:spPr>
          <a:xfrm>
            <a:off x="0" y="0"/>
            <a:ext cx="12192000" cy="108000"/>
          </a:xfrm>
          <a:prstGeom prst="rect">
            <a:avLst/>
          </a:prstGeom>
          <a:solidFill>
            <a:srgbClr val="E74C3C"/>
          </a:solidFill>
          <a:ln>
            <a:noFill/>
          </a:ln>
        </p:spPr>
        <p:txBody>
          <a:bodyPr/>
          <a:lstStyle/>
          <a:p>
            <a:endParaRPr/>
          </a:p>
        </p:txBody>
      </p:sp>
      <p:sp>
        <p:nvSpPr>
          <p:cNvPr id="6" name="sa5"/>
          <p:cNvSpPr/>
          <p:nvPr/>
        </p:nvSpPr>
        <p:spPr>
          <a:xfrm>
            <a:off x="720000" y="3060000"/>
            <a:ext cx="1440000" cy="1440000"/>
          </a:xfrm>
          <a:custGeom>
            <a:avLst/>
            <a:gdLst/>
            <a:ahLst/>
            <a:cxnLst/>
            <a:rect l="0" t="0" r="r" b="b"/>
            <a:pathLst>
              <a:path w="92" h="92">
                <a:moveTo>
                  <a:pt x="50" y="8"/>
                </a:moveTo>
                <a:lnTo>
                  <a:pt x="92" y="50"/>
                </a:lnTo>
                <a:lnTo>
                  <a:pt x="50" y="92"/>
                </a:lnTo>
                <a:lnTo>
                  <a:pt x="8" y="50"/>
                </a:lnTo>
                <a:close/>
              </a:path>
            </a:pathLst>
          </a:custGeom>
          <a:solidFill>
            <a:srgbClr val="1B2027">
              <a:alpha val="20000"/>
            </a:srgbClr>
          </a:solidFill>
          <a:ln>
            <a:noFill/>
          </a:ln>
        </p:spPr>
        <p:txBody>
          <a:bodyPr/>
          <a:lstStyle/>
          <a:p>
            <a:endParaRPr/>
          </a:p>
        </p:txBody>
      </p:sp>
      <p:sp>
        <p:nvSpPr>
          <p:cNvPr id="7" name="sa6"/>
          <p:cNvSpPr/>
          <p:nvPr/>
        </p:nvSpPr>
        <p:spPr>
          <a:xfrm>
            <a:off x="11520000" y="720000"/>
            <a:ext cx="360000" cy="360000"/>
          </a:xfrm>
          <a:prstGeom prst="ellipse">
            <a:avLst/>
          </a:prstGeom>
          <a:solidFill>
            <a:srgbClr val="1B2027">
              <a:alpha val="40000"/>
            </a:srgbClr>
          </a:solidFill>
          <a:ln>
            <a:noFill/>
          </a:ln>
        </p:spPr>
        <p:txBody>
          <a:bodyPr/>
          <a:lstStyle/>
          <a:p>
            <a:endParaRPr/>
          </a:p>
        </p:txBody>
      </p:sp>
      <p:sp>
        <p:nvSpPr>
          <p:cNvPr id="8" name="hl_tag"/>
          <p:cNvSpPr/>
          <p:nvPr/>
        </p:nvSpPr>
        <p:spPr>
          <a:xfrm>
            <a:off x="432000" y="360000"/>
            <a:ext cx="1800000" cy="270000"/>
          </a:xfrm>
          <a:prstGeom prst="rect">
            <a:avLst/>
          </a:prstGeom>
          <a:solidFill>
            <a:srgbClr val="E74C3C"/>
          </a:solidFill>
          <a:ln>
            <a:noFill/>
          </a:ln>
        </p:spPr>
        <p:txBody>
          <a:bodyPr/>
          <a:lstStyle/>
          <a:p>
            <a:endParaRPr/>
          </a:p>
        </p:txBody>
      </p:sp>
      <p:sp>
        <p:nvSpPr>
          <p:cNvPr id="9" name="hl_tag_txt"/>
          <p:cNvSpPr/>
          <p:nvPr/>
        </p:nvSpPr>
        <p:spPr>
          <a:xfrm>
            <a:off x="432000" y="360000"/>
            <a:ext cx="1800000" cy="252000"/>
          </a:xfrm>
          <a:prstGeom prst="rect">
            <a:avLst/>
          </a:prstGeom>
          <a:noFill/>
          <a:ln>
            <a:noFill/>
          </a:ln>
        </p:spPr>
        <p:txBody>
          <a:bodyPr/>
          <a:lstStyle/>
          <a:p>
            <a:r>
              <a:rPr lang="en-US" sz="1000" b="1">
                <a:solidFill>
                  <a:srgbClr val="F2F0E8"/>
                </a:solidFill>
                <a:latin typeface="Calibri"/>
                <a:ea typeface="Calibri"/>
              </a:rPr>
              <a:t>NEXT STEPS</a:t>
            </a:r>
          </a:p>
        </p:txBody>
      </p:sp>
      <p:sp>
        <p:nvSpPr>
          <p:cNvPr id="10" name="hl_title"/>
          <p:cNvSpPr/>
          <p:nvPr/>
        </p:nvSpPr>
        <p:spPr>
          <a:xfrm>
            <a:off x="432000" y="540000"/>
            <a:ext cx="11328000" cy="1080000"/>
          </a:xfrm>
          <a:prstGeom prst="rect">
            <a:avLst/>
          </a:prstGeom>
          <a:noFill/>
          <a:ln>
            <a:noFill/>
          </a:ln>
        </p:spPr>
        <p:txBody>
          <a:bodyPr/>
          <a:lstStyle/>
          <a:p>
            <a:r>
              <a:rPr lang="en-US" sz="3800" b="0">
                <a:solidFill>
                  <a:srgbClr val="F2F0E8"/>
                </a:solidFill>
                <a:latin typeface="Cambria"/>
                <a:ea typeface="Cambria"/>
              </a:rPr>
              <a:t>From proposal to working gate</a:t>
            </a:r>
          </a:p>
        </p:txBody>
      </p:sp>
      <p:sp>
        <p:nvSpPr>
          <p:cNvPr id="11" name="hl_sub"/>
          <p:cNvSpPr/>
          <p:nvPr/>
        </p:nvSpPr>
        <p:spPr>
          <a:xfrm>
            <a:off x="432000" y="1692000"/>
            <a:ext cx="11328000" cy="504000"/>
          </a:xfrm>
          <a:prstGeom prst="rect">
            <a:avLst/>
          </a:prstGeom>
          <a:noFill/>
          <a:ln>
            <a:noFill/>
          </a:ln>
        </p:spPr>
        <p:txBody>
          <a:bodyPr/>
          <a:lstStyle/>
          <a:p>
            <a:r>
              <a:rPr lang="en-US" sz="1800">
                <a:solidFill>
                  <a:srgbClr val="A8B2BB"/>
                </a:solidFill>
                <a:latin typeface="Calibri"/>
                <a:ea typeface="Calibri"/>
              </a:rPr>
              <a:t>What the team starts this week, and what you will see by midterm.</a:t>
            </a:r>
          </a:p>
        </p:txBody>
      </p:sp>
      <p:sp>
        <p:nvSpPr>
          <p:cNvPr id="12" name="co_abg0"/>
          <p:cNvSpPr/>
          <p:nvPr/>
        </p:nvSpPr>
        <p:spPr>
          <a:xfrm>
            <a:off x="432000" y="2304000"/>
            <a:ext cx="11328000" cy="1260000"/>
          </a:xfrm>
          <a:prstGeom prst="rect">
            <a:avLst/>
          </a:prstGeom>
          <a:solidFill>
            <a:srgbClr val="1B2027"/>
          </a:solidFill>
          <a:ln w="1">
            <a:solidFill>
              <a:srgbClr val="232A32"/>
            </a:solidFill>
          </a:ln>
        </p:spPr>
        <p:txBody>
          <a:bodyPr/>
          <a:lstStyle/>
          <a:p>
            <a:endParaRPr/>
          </a:p>
        </p:txBody>
      </p:sp>
      <p:sp>
        <p:nvSpPr>
          <p:cNvPr id="13" name="co_abar0"/>
          <p:cNvSpPr/>
          <p:nvPr/>
        </p:nvSpPr>
        <p:spPr>
          <a:xfrm>
            <a:off x="432000" y="2304000"/>
            <a:ext cx="144000" cy="1260000"/>
          </a:xfrm>
          <a:prstGeom prst="rect">
            <a:avLst/>
          </a:prstGeom>
          <a:solidFill>
            <a:srgbClr val="E74C3C"/>
          </a:solidFill>
          <a:ln>
            <a:noFill/>
          </a:ln>
        </p:spPr>
        <p:txBody>
          <a:bodyPr/>
          <a:lstStyle/>
          <a:p>
            <a:endParaRPr/>
          </a:p>
        </p:txBody>
      </p:sp>
      <p:sp>
        <p:nvSpPr>
          <p:cNvPr id="15" name="co_atit0"/>
          <p:cNvSpPr/>
          <p:nvPr/>
        </p:nvSpPr>
        <p:spPr>
          <a:xfrm>
            <a:off x="1512000" y="2484000"/>
            <a:ext cx="7560000" cy="504000"/>
          </a:xfrm>
          <a:prstGeom prst="rect">
            <a:avLst/>
          </a:prstGeom>
          <a:noFill/>
          <a:ln>
            <a:noFill/>
          </a:ln>
        </p:spPr>
        <p:txBody>
          <a:bodyPr/>
          <a:lstStyle/>
          <a:p>
            <a:r>
              <a:rPr lang="en-US" sz="2000" b="0">
                <a:solidFill>
                  <a:srgbClr val="F2F0E8"/>
                </a:solidFill>
                <a:latin typeface="Cambria"/>
                <a:ea typeface="Cambria"/>
              </a:rPr>
              <a:t>Confirm topic, stack and lane owners</a:t>
            </a:r>
          </a:p>
        </p:txBody>
      </p:sp>
      <p:sp>
        <p:nvSpPr>
          <p:cNvPr id="17" name="co_aown0_txt"/>
          <p:cNvSpPr/>
          <p:nvPr/>
        </p:nvSpPr>
        <p:spPr>
          <a:xfrm>
            <a:off x="2232000" y="3060000"/>
            <a:ext cx="4320000" cy="432000"/>
          </a:xfrm>
          <a:prstGeom prst="rect">
            <a:avLst/>
          </a:prstGeom>
          <a:noFill/>
          <a:ln>
            <a:noFill/>
          </a:ln>
        </p:spPr>
        <p:txBody>
          <a:bodyPr/>
          <a:lstStyle/>
          <a:p>
            <a:r>
              <a:rPr lang="en-US" sz="1300">
                <a:solidFill>
                  <a:srgbClr val="A8B2BB"/>
                </a:solidFill>
                <a:latin typeface="Calibri"/>
                <a:ea typeface="Calibri"/>
              </a:rPr>
              <a:t>Whole team</a:t>
            </a:r>
          </a:p>
        </p:txBody>
      </p:sp>
      <p:sp>
        <p:nvSpPr>
          <p:cNvPr id="18" name="co_adtbg0"/>
          <p:cNvSpPr/>
          <p:nvPr/>
        </p:nvSpPr>
        <p:spPr>
          <a:xfrm>
            <a:off x="9240000" y="2700000"/>
            <a:ext cx="2520000" cy="468000"/>
          </a:xfrm>
          <a:prstGeom prst="rect">
            <a:avLst/>
          </a:prstGeom>
          <a:solidFill>
            <a:srgbClr val="1B2027">
              <a:alpha val="15000"/>
            </a:srgbClr>
          </a:solidFill>
          <a:ln>
            <a:noFill/>
          </a:ln>
        </p:spPr>
        <p:txBody>
          <a:bodyPr/>
          <a:lstStyle/>
          <a:p>
            <a:endParaRPr/>
          </a:p>
        </p:txBody>
      </p:sp>
      <p:sp>
        <p:nvSpPr>
          <p:cNvPr id="19" name="co_adt0"/>
          <p:cNvSpPr/>
          <p:nvPr/>
        </p:nvSpPr>
        <p:spPr>
          <a:xfrm>
            <a:off x="9240000" y="2700000"/>
            <a:ext cx="2520000" cy="468000"/>
          </a:xfrm>
          <a:prstGeom prst="rect">
            <a:avLst/>
          </a:prstGeom>
          <a:noFill/>
          <a:ln>
            <a:noFill/>
          </a:ln>
        </p:spPr>
        <p:txBody>
          <a:bodyPr/>
          <a:lstStyle/>
          <a:p>
            <a:r>
              <a:rPr lang="en-US" sz="1500" b="1">
                <a:solidFill>
                  <a:srgbClr val="E74C3C"/>
                </a:solidFill>
                <a:latin typeface="Calibri"/>
                <a:ea typeface="Calibri"/>
              </a:rPr>
              <a:t>This week</a:t>
            </a:r>
          </a:p>
        </p:txBody>
      </p:sp>
      <p:sp>
        <p:nvSpPr>
          <p:cNvPr id="20" name="co_abg1"/>
          <p:cNvSpPr/>
          <p:nvPr/>
        </p:nvSpPr>
        <p:spPr>
          <a:xfrm>
            <a:off x="432000" y="3744000"/>
            <a:ext cx="11328000" cy="1260000"/>
          </a:xfrm>
          <a:prstGeom prst="rect">
            <a:avLst/>
          </a:prstGeom>
          <a:solidFill>
            <a:srgbClr val="1B2027"/>
          </a:solidFill>
          <a:ln w="1">
            <a:solidFill>
              <a:srgbClr val="232A32"/>
            </a:solidFill>
          </a:ln>
        </p:spPr>
        <p:txBody>
          <a:bodyPr/>
          <a:lstStyle/>
          <a:p>
            <a:endParaRPr/>
          </a:p>
        </p:txBody>
      </p:sp>
      <p:sp>
        <p:nvSpPr>
          <p:cNvPr id="21" name="co_abar1"/>
          <p:cNvSpPr/>
          <p:nvPr/>
        </p:nvSpPr>
        <p:spPr>
          <a:xfrm>
            <a:off x="432000" y="3744000"/>
            <a:ext cx="144000" cy="1260000"/>
          </a:xfrm>
          <a:prstGeom prst="rect">
            <a:avLst/>
          </a:prstGeom>
          <a:solidFill>
            <a:srgbClr val="E74C3C"/>
          </a:solidFill>
          <a:ln>
            <a:noFill/>
          </a:ln>
        </p:spPr>
        <p:txBody>
          <a:bodyPr/>
          <a:lstStyle/>
          <a:p>
            <a:endParaRPr/>
          </a:p>
        </p:txBody>
      </p:sp>
      <p:sp>
        <p:nvSpPr>
          <p:cNvPr id="23" name="co_atit1"/>
          <p:cNvSpPr/>
          <p:nvPr/>
        </p:nvSpPr>
        <p:spPr>
          <a:xfrm>
            <a:off x="1512000" y="3924000"/>
            <a:ext cx="7560000" cy="504000"/>
          </a:xfrm>
          <a:prstGeom prst="rect">
            <a:avLst/>
          </a:prstGeom>
          <a:noFill/>
          <a:ln>
            <a:noFill/>
          </a:ln>
        </p:spPr>
        <p:txBody>
          <a:bodyPr/>
          <a:lstStyle/>
          <a:p>
            <a:r>
              <a:rPr lang="en-US" sz="2000" b="0">
                <a:solidFill>
                  <a:srgbClr val="F2F0E8"/>
                </a:solidFill>
                <a:latin typeface="Cambria"/>
                <a:ea typeface="Cambria"/>
              </a:rPr>
              <a:t>SRS requirements drafted; repo and CI skeleton live</a:t>
            </a:r>
          </a:p>
        </p:txBody>
      </p:sp>
      <p:sp>
        <p:nvSpPr>
          <p:cNvPr id="25" name="co_aown1_txt"/>
          <p:cNvSpPr/>
          <p:nvPr/>
        </p:nvSpPr>
        <p:spPr>
          <a:xfrm>
            <a:off x="2232000" y="4500000"/>
            <a:ext cx="4320000" cy="432000"/>
          </a:xfrm>
          <a:prstGeom prst="rect">
            <a:avLst/>
          </a:prstGeom>
          <a:noFill/>
          <a:ln>
            <a:noFill/>
          </a:ln>
        </p:spPr>
        <p:txBody>
          <a:bodyPr/>
          <a:lstStyle/>
          <a:p>
            <a:r>
              <a:rPr lang="en-US" sz="1300">
                <a:solidFill>
                  <a:srgbClr val="A8B2BB"/>
                </a:solidFill>
                <a:latin typeface="Calibri"/>
                <a:ea typeface="Calibri"/>
              </a:rPr>
              <a:t>Gate and evaluation lanes</a:t>
            </a:r>
          </a:p>
        </p:txBody>
      </p:sp>
      <p:sp>
        <p:nvSpPr>
          <p:cNvPr id="26" name="co_adtbg1"/>
          <p:cNvSpPr/>
          <p:nvPr/>
        </p:nvSpPr>
        <p:spPr>
          <a:xfrm>
            <a:off x="9240000" y="4140000"/>
            <a:ext cx="2520000" cy="468000"/>
          </a:xfrm>
          <a:prstGeom prst="rect">
            <a:avLst/>
          </a:prstGeom>
          <a:solidFill>
            <a:srgbClr val="1B2027"/>
          </a:solidFill>
          <a:ln>
            <a:noFill/>
          </a:ln>
        </p:spPr>
        <p:txBody>
          <a:bodyPr/>
          <a:lstStyle/>
          <a:p>
            <a:endParaRPr/>
          </a:p>
        </p:txBody>
      </p:sp>
      <p:sp>
        <p:nvSpPr>
          <p:cNvPr id="27" name="co_adt1"/>
          <p:cNvSpPr/>
          <p:nvPr/>
        </p:nvSpPr>
        <p:spPr>
          <a:xfrm>
            <a:off x="9240000" y="4140000"/>
            <a:ext cx="2520000" cy="468000"/>
          </a:xfrm>
          <a:prstGeom prst="rect">
            <a:avLst/>
          </a:prstGeom>
          <a:noFill/>
          <a:ln>
            <a:noFill/>
          </a:ln>
        </p:spPr>
        <p:txBody>
          <a:bodyPr/>
          <a:lstStyle/>
          <a:p>
            <a:r>
              <a:rPr lang="en-US" sz="1500" b="1">
                <a:solidFill>
                  <a:srgbClr val="E74C3C"/>
                </a:solidFill>
                <a:latin typeface="Calibri"/>
                <a:ea typeface="Calibri"/>
              </a:rPr>
              <a:t>Next two weeks</a:t>
            </a:r>
          </a:p>
        </p:txBody>
      </p:sp>
      <p:sp>
        <p:nvSpPr>
          <p:cNvPr id="28" name="co_abg2"/>
          <p:cNvSpPr/>
          <p:nvPr/>
        </p:nvSpPr>
        <p:spPr>
          <a:xfrm>
            <a:off x="432000" y="5184000"/>
            <a:ext cx="11328000" cy="1260000"/>
          </a:xfrm>
          <a:prstGeom prst="rect">
            <a:avLst/>
          </a:prstGeom>
          <a:solidFill>
            <a:srgbClr val="1B2027"/>
          </a:solidFill>
          <a:ln w="1">
            <a:solidFill>
              <a:srgbClr val="232A32"/>
            </a:solidFill>
          </a:ln>
        </p:spPr>
        <p:txBody>
          <a:bodyPr/>
          <a:lstStyle/>
          <a:p>
            <a:endParaRPr/>
          </a:p>
        </p:txBody>
      </p:sp>
      <p:sp>
        <p:nvSpPr>
          <p:cNvPr id="29" name="co_abar2"/>
          <p:cNvSpPr/>
          <p:nvPr/>
        </p:nvSpPr>
        <p:spPr>
          <a:xfrm>
            <a:off x="432000" y="5184000"/>
            <a:ext cx="144000" cy="1260000"/>
          </a:xfrm>
          <a:prstGeom prst="rect">
            <a:avLst/>
          </a:prstGeom>
          <a:solidFill>
            <a:srgbClr val="E74C3C"/>
          </a:solidFill>
          <a:ln>
            <a:noFill/>
          </a:ln>
        </p:spPr>
        <p:txBody>
          <a:bodyPr/>
          <a:lstStyle/>
          <a:p>
            <a:endParaRPr/>
          </a:p>
        </p:txBody>
      </p:sp>
      <p:sp>
        <p:nvSpPr>
          <p:cNvPr id="31" name="co_atit2"/>
          <p:cNvSpPr/>
          <p:nvPr/>
        </p:nvSpPr>
        <p:spPr>
          <a:xfrm>
            <a:off x="1512000" y="5364000"/>
            <a:ext cx="7560000" cy="504000"/>
          </a:xfrm>
          <a:prstGeom prst="rect">
            <a:avLst/>
          </a:prstGeom>
          <a:noFill/>
          <a:ln>
            <a:noFill/>
          </a:ln>
        </p:spPr>
        <p:txBody>
          <a:bodyPr/>
          <a:lstStyle/>
          <a:p>
            <a:r>
              <a:rPr lang="en-US" sz="2000" b="0">
                <a:solidFill>
                  <a:srgbClr val="F2F0E8"/>
                </a:solidFill>
                <a:latin typeface="Cambria"/>
                <a:ea typeface="Cambria"/>
              </a:rPr>
              <a:t>Corpus starter in CI: two prompts per attack class</a:t>
            </a:r>
          </a:p>
        </p:txBody>
      </p:sp>
      <p:sp>
        <p:nvSpPr>
          <p:cNvPr id="33" name="co_aown2_txt"/>
          <p:cNvSpPr/>
          <p:nvPr/>
        </p:nvSpPr>
        <p:spPr>
          <a:xfrm>
            <a:off x="2232000" y="5940000"/>
            <a:ext cx="4320000" cy="432000"/>
          </a:xfrm>
          <a:prstGeom prst="rect">
            <a:avLst/>
          </a:prstGeom>
          <a:noFill/>
          <a:ln>
            <a:noFill/>
          </a:ln>
        </p:spPr>
        <p:txBody>
          <a:bodyPr/>
          <a:lstStyle/>
          <a:p>
            <a:r>
              <a:rPr lang="en-US" sz="1300">
                <a:solidFill>
                  <a:srgbClr val="A8B2BB"/>
                </a:solidFill>
                <a:latin typeface="Calibri"/>
                <a:ea typeface="Calibri"/>
              </a:rPr>
              <a:t>All lanes</a:t>
            </a:r>
          </a:p>
        </p:txBody>
      </p:sp>
      <p:sp>
        <p:nvSpPr>
          <p:cNvPr id="34" name="co_adtbg2"/>
          <p:cNvSpPr/>
          <p:nvPr/>
        </p:nvSpPr>
        <p:spPr>
          <a:xfrm>
            <a:off x="9240000" y="5580000"/>
            <a:ext cx="2520000" cy="468000"/>
          </a:xfrm>
          <a:prstGeom prst="rect">
            <a:avLst/>
          </a:prstGeom>
          <a:solidFill>
            <a:srgbClr val="1B2027"/>
          </a:solidFill>
          <a:ln>
            <a:noFill/>
          </a:ln>
        </p:spPr>
        <p:txBody>
          <a:bodyPr/>
          <a:lstStyle/>
          <a:p>
            <a:endParaRPr/>
          </a:p>
        </p:txBody>
      </p:sp>
      <p:sp>
        <p:nvSpPr>
          <p:cNvPr id="35" name="co_adt2"/>
          <p:cNvSpPr/>
          <p:nvPr/>
        </p:nvSpPr>
        <p:spPr>
          <a:xfrm>
            <a:off x="9240000" y="5580000"/>
            <a:ext cx="2520000" cy="468000"/>
          </a:xfrm>
          <a:prstGeom prst="rect">
            <a:avLst/>
          </a:prstGeom>
          <a:noFill/>
          <a:ln>
            <a:noFill/>
          </a:ln>
        </p:spPr>
        <p:txBody>
          <a:bodyPr/>
          <a:lstStyle/>
          <a:p>
            <a:r>
              <a:rPr lang="en-US" sz="1500" b="1">
                <a:solidFill>
                  <a:srgbClr val="E74C3C"/>
                </a:solidFill>
                <a:latin typeface="Calibri"/>
                <a:ea typeface="Calibri"/>
              </a:rPr>
              <a:t>Before midterm</a:t>
            </a:r>
          </a:p>
        </p:txBody>
      </p:sp>
      <p:sp>
        <p:nvSpPr>
          <p:cNvPr id="36" name="co_cline"/>
          <p:cNvSpPr/>
          <p:nvPr/>
        </p:nvSpPr>
        <p:spPr>
          <a:xfrm>
            <a:off x="432000" y="6426000"/>
            <a:ext cx="11328000" cy="54000"/>
          </a:xfrm>
          <a:prstGeom prst="rect">
            <a:avLst/>
          </a:prstGeom>
          <a:solidFill>
            <a:srgbClr val="E74C3C"/>
          </a:solidFill>
          <a:ln>
            <a:noFill/>
          </a:ln>
        </p:spPr>
        <p:txBody>
          <a:bodyPr/>
          <a:lstStyle/>
          <a:p>
            <a:endParaRPr/>
          </a:p>
        </p:txBody>
      </p:sp>
      <p:sp>
        <p:nvSpPr>
          <p:cNvPr id="100013" name="!!Footer8"/>
          <p:cNvSpPr txBox="1"/>
          <p:nvPr/>
        </p:nvSpPr>
        <p:spPr>
          <a:xfrm>
            <a:off x="822960" y="6502400"/>
            <a:ext cx="3810000" cy="252000"/>
          </a:xfrm>
          <a:prstGeom prst="rect">
            <a:avLst/>
          </a:prstGeom>
          <a:noFill/>
          <a:ln>
            <a:noFill/>
          </a:ln>
        </p:spPr>
        <p:txBody>
          <a:bodyPr/>
          <a:lstStyle/>
          <a:p>
            <a:pPr algn="l"/>
            <a:r>
              <a:rPr lang="en-US" sz="1000">
                <a:solidFill>
                  <a:srgbClr val="9FB3C8"/>
                </a:solidFill>
                <a:latin typeface="Calibri"/>
                <a:ea typeface="Calibri"/>
              </a:rPr>
              <a:t>QueryGuard · CS 5391 Group Project Proposal</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1196</Words>
  <Application>Microsoft Office PowerPoint</Application>
  <PresentationFormat>Widescreen</PresentationFormat>
  <Paragraphs>98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Mahd</cp:lastModifiedBy>
  <cp:revision>2</cp:revision>
  <dcterms:modified xsi:type="dcterms:W3CDTF">2026-09-03T22:43:04Z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1.0.146</vt:lpwstr>
  </op:property>
  <op:property fmtid="{D5CDD505-2E9C-101B-9397-08002B2CF9AE}" pid="3" name="OfficeCLI.LastModified">
    <vt:lpwstr>2026-09-03T23:17:46Z</vt:lpwstr>
  </op:property>
</op:Properties>
</file>