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notesMasters/theme/theme3.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officeDocument/2006/relationships/officeDocument" Target="ppt/presentation.xml" Id="rId1" /><Relationship Type="http://schemas.openxmlformats.org/package/2006/relationships/metadata/thumbnail" Target="docProps/thumbnail.jpeg" Id="rId2" /><Relationship Type="http://schemas.openxmlformats.org/package/2006/relationships/metadata/core-properties" Target="docProps/core.xml" Id="rId3" /><Relationship Type="http://schemas.openxmlformats.org/officeDocument/2006/relationships/extended-properties" Target="docProps/app.xml" Id="rId4" /><Relationship Type="http://schemas.openxmlformats.org/officeDocument/2006/relationships/custom-properties" Target="/docProps/custom.xml" Id="R3b50f6d43ce64efe"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xmlns:p15="http://schemas.microsoft.com/office/powerpoint/2012/main" xmlns:a="http://schemas.openxmlformats.org/drawingml/2006/main" xmlns:r="http://schemas.openxmlformats.org/officeDocument/2006/relationships" xmlns:p="http://schemas.openxmlformats.org/presentationml/2006/main">
    <p:sldMasterId id="2147483648" r:id="rId1"/>
  </p:sldMasterIdLst>
  <p:notesMasterIdLst xmlns:p15="http://schemas.microsoft.com/office/powerpoint/2012/main" xmlns:a="http://schemas.openxmlformats.org/drawingml/2006/main" xmlns:r="http://schemas.openxmlformats.org/officeDocument/2006/relationships" xmlns:p="http://schemas.openxmlformats.org/presentationml/2006/main">
    <p:notesMasterId r:id="rId15"/>
  </p:notesMasterIdLst>
  <p:sldIdLst xmlns:p15="http://schemas.microsoft.com/office/powerpoint/2012/main" xmlns:a="http://schemas.openxmlformats.org/drawingml/2006/main" xmlns:r="http://schemas.openxmlformats.org/officeDocument/2006/relationships" xmlns:p="http://schemas.openxmlformats.org/presentationml/2006/main">
    <p:sldId id="256" r:id="R131e3d687d2c41e4"/>
    <p:sldId id="257" r:id="R377c0fa0aafd4933"/>
    <p:sldId id="258" r:id="R0fe44506a03c4855"/>
    <p:sldId id="259" r:id="Re26f5763a0f24f41"/>
    <p:sldId id="260" r:id="R312c7a1c65b646ed"/>
    <p:sldId id="261" r:id="Rf3e6beafdddd4d11"/>
    <p:sldId id="262" r:id="Rc0fae8fea332479a"/>
    <p:sldId id="263" r:id="R01b491f594c143a9"/>
    <p:sldId id="264" r:id="R72850101bbd74a16"/>
    <p:sldId id="265" r:id="Rfa81fdcd24f444b8"/>
    <p:sldId id="266" r:id="Rfedf611cee7f4c1d"/>
    <p:sldId id="267" r:id="R471493bef9de4649"/>
    <p:sldId id="268" r:id="R7723bda3698e481b"/>
  </p:sldIdLst>
  <p:sldSz xmlns:p15="http://schemas.microsoft.com/office/powerpoint/2012/main" xmlns:a="http://schemas.openxmlformats.org/drawingml/2006/main" xmlns:r="http://schemas.openxmlformats.org/officeDocument/2006/relationships" xmlns:p="http://schemas.openxmlformats.org/presentationml/2006/main" cx="12192000" cy="6858000" type="screen16x9"/>
  <p:notesSz xmlns:p15="http://schemas.microsoft.com/office/powerpoint/2012/main" xmlns:a="http://schemas.openxmlformats.org/drawingml/2006/main" xmlns:r="http://schemas.openxmlformats.org/officeDocument/2006/relationships" xmlns:p="http://schemas.openxmlformats.org/presentationml/2006/main" cx="6858000" cy="9144000"/>
  <p:extLst xmlns:p15="http://schemas.microsoft.com/office/powerpoint/2012/main" xmlns:a="http://schemas.openxmlformats.org/drawingml/2006/main" xmlns:r="http://schemas.openxmlformats.org/officeDocument/2006/relationships" xmlns:p="http://schemas.openxmlformats.org/presentationml/2006/main">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6" autoAdjust="0"/>
    <p:restoredTop sz="96788" autoAdjust="0"/>
  </p:normalViewPr>
  <p:slideViewPr>
    <p:cSldViewPr snapToGrid="0" snapToObjects="1">
      <p:cViewPr varScale="1">
        <p:scale>
          <a:sx n="87" d="100"/>
          <a:sy n="87" d="100"/>
        </p:scale>
        <p:origin x="91" y="97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slideMasters/slideMaster1.xml" Id="rId1" /><Relationship Type="http://schemas.openxmlformats.org/officeDocument/2006/relationships/notesMaster" Target="notesMasters/notesMaster1.xml" Id="rId15" /><Relationship Type="http://schemas.openxmlformats.org/officeDocument/2006/relationships/presProps" Target="presProps.xml" Id="rId16" /><Relationship Type="http://schemas.openxmlformats.org/officeDocument/2006/relationships/viewProps" Target="viewProps.xml" Id="rId17" /><Relationship Type="http://schemas.openxmlformats.org/officeDocument/2006/relationships/theme" Target="theme/theme1.xml" Id="rId18" /><Relationship Type="http://schemas.openxmlformats.org/officeDocument/2006/relationships/tableStyles" Target="tableStyles.xml" Id="rId19" /><Relationship Type="http://schemas.openxmlformats.org/officeDocument/2006/relationships/slide" Target="/ppt/slides/slide14.xml" Id="R131e3d687d2c41e4" /><Relationship Type="http://schemas.openxmlformats.org/officeDocument/2006/relationships/slide" Target="/ppt/slides/slide15.xml" Id="R377c0fa0aafd4933" /><Relationship Type="http://schemas.openxmlformats.org/officeDocument/2006/relationships/slide" Target="/ppt/slides/slide16.xml" Id="R0fe44506a03c4855" /><Relationship Type="http://schemas.openxmlformats.org/officeDocument/2006/relationships/slide" Target="/ppt/slides/slide17.xml" Id="Re26f5763a0f24f41" /><Relationship Type="http://schemas.openxmlformats.org/officeDocument/2006/relationships/slide" Target="/ppt/slides/slide18.xml" Id="R312c7a1c65b646ed" /><Relationship Type="http://schemas.openxmlformats.org/officeDocument/2006/relationships/slide" Target="/ppt/slides/slide19.xml" Id="Rf3e6beafdddd4d11" /><Relationship Type="http://schemas.openxmlformats.org/officeDocument/2006/relationships/slide" Target="/ppt/slides/slide20.xml" Id="Rc0fae8fea332479a" /><Relationship Type="http://schemas.openxmlformats.org/officeDocument/2006/relationships/slide" Target="/ppt/slides/slide21.xml" Id="R01b491f594c143a9" /><Relationship Type="http://schemas.openxmlformats.org/officeDocument/2006/relationships/slide" Target="/ppt/slides/slide22.xml" Id="R72850101bbd74a16" /><Relationship Type="http://schemas.openxmlformats.org/officeDocument/2006/relationships/slide" Target="/ppt/slides/slide23.xml" Id="Rfa81fdcd24f444b8" /><Relationship Type="http://schemas.openxmlformats.org/officeDocument/2006/relationships/slide" Target="/ppt/slides/slide24.xml" Id="Rfedf611cee7f4c1d" /><Relationship Type="http://schemas.openxmlformats.org/officeDocument/2006/relationships/slide" Target="/ppt/slides/slide25.xml" Id="R471493bef9de4649" /><Relationship Type="http://schemas.openxmlformats.org/officeDocument/2006/relationships/slide" Target="/ppt/slides/slide26.xml" Id="R7723bda3698e48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Id1" /></Relationships>
</file>

<file path=ppt/notesMasters/notesMaster1.xml><?xml version="1.0" encoding="utf-8"?>
<p:notesMaster xmlns:p14="http://schemas.microsoft.com/office/powerpoint/2010/main" xmlns:a="http://schemas.openxmlformats.org/drawingml/2006/main" xmlns:r="http://schemas.openxmlformats.org/officeDocument/2006/relationships" xmlns:p="http://schemas.openxmlformats.org/presentationml/2006/main">
  <p:cSld xmlns:p14="http://schemas.microsoft.com/office/powerpoint/2010/main" xmlns:a="http://schemas.openxmlformats.org/drawingml/2006/main" xmlns:r="http://schemas.openxmlformats.org/officeDocument/2006/relationships" xmlns:p="http://schemas.openxmlformats.org/presentationml/2006/main">
    <p:bg>
      <p:bgRef idx="1001">
        <a:schemeClr val="bg1"/>
      </p:bgRef>
    </p:bg>
    <p:spTree>
      <p:nvGrpSpPr>
        <p:cNvPr id="1" name=""/>
        <p:cNvGrpSpPr/>
        <p:nvPr/>
      </p:nvGrpSpPr>
      <p:grpSpPr>
        <a:xfrm>
          <a:off x="0" y="0"/>
          <a:ext cx="0" cy="0"/>
          <a:chOff x="0" y="0"/>
          <a:chExt cx="0" cy="0"/>
        </a:xfrm>
      </p:grpSpPr>
    </p:spTree>
    <p:extLst>
      <p:ext uri="{BB962C8B-B14F-4D97-AF65-F5344CB8AC3E}">
        <p14:creationId val="675284623"/>
      </p:ext>
    </p:extLst>
  </p:cSld>
  <p:clrMap xmlns:p14="http://schemas.microsoft.com/office/powerpoint/2010/main" xmlns:a="http://schemas.openxmlformats.org/drawingml/2006/main" xmlns:r="http://schemas.openxmlformats.org/officeDocument/2006/relationships" xmlns:p="http://schemas.openxmlformats.org/presentationml/2006/main" bg1="lt1" tx1="dk1" bg2="lt2" tx2="dk2" accent1="accent1" accent2="accent2" accent3="accent3" accent4="accent4" accent5="accent5" accent6="accent6" hlink="hlink" folHlink="folHlink"/>
  <p:notesStyle xmlns:p14="http://schemas.microsoft.com/office/powerpoint/2010/main" xmlns:a="http://schemas.openxmlformats.org/drawingml/2006/main" xmlns:r="http://schemas.openxmlformats.org/officeDocument/2006/relationships" xmlns:p="http://schemas.openxmlformats.org/presentationml/2006/main">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3.xml><?xml version="1.0" encoding="utf-8"?>
<a:theme xmlns:thm15="http://schemas.microsoft.com/office/thememl/2012/main"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6bb7e0a20123426a" /><Relationship Type="http://schemas.openxmlformats.org/officeDocument/2006/relationships/slide" Target="/ppt/slides/slide14.xml" Id="R8023cfec9d67416a"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17487aeb3a614c9b" /><Relationship Type="http://schemas.openxmlformats.org/officeDocument/2006/relationships/slide" Target="/ppt/slides/slide15.xml" Id="R82fcc45c265d4983"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2aabbc7a0a824700" /><Relationship Type="http://schemas.openxmlformats.org/officeDocument/2006/relationships/slide" Target="/ppt/slides/slide16.xml" Id="R3e83300ab05443a4"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a4a5ade36f9f49be" /><Relationship Type="http://schemas.openxmlformats.org/officeDocument/2006/relationships/slide" Target="/ppt/slides/slide17.xml" Id="R485dec9056484f95"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8e5e12de04f34a86" /><Relationship Type="http://schemas.openxmlformats.org/officeDocument/2006/relationships/slide" Target="/ppt/slides/slide18.xml" Id="Rb94f799b361b4ef3"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4703bb77baad4a78" /><Relationship Type="http://schemas.openxmlformats.org/officeDocument/2006/relationships/slide" Target="/ppt/slides/slide19.xml" Id="Ra00ccebf6f1e4034"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b1e47ce7b9994f4b" /><Relationship Type="http://schemas.openxmlformats.org/officeDocument/2006/relationships/slide" Target="/ppt/slides/slide20.xml" Id="R139857b6d0694f6f" /></Relationships>
</file>

<file path=ppt/notesSlides/_rels/notesSlide21.xml.rels>&#65279;<?xml version="1.0" encoding="utf-8"?><Relationships xmlns="http://schemas.openxmlformats.org/package/2006/relationships"><Relationship Type="http://schemas.openxmlformats.org/officeDocument/2006/relationships/notesMaster" Target="/ppt/notesMasters/notesMaster1.xml" Id="Rd63dd971a15142e3" /><Relationship Type="http://schemas.openxmlformats.org/officeDocument/2006/relationships/slide" Target="/ppt/slides/slide21.xml" Id="R31eacae2f3814034" /></Relationships>
</file>

<file path=ppt/notesSlides/_rels/notesSlide22.xml.rels>&#65279;<?xml version="1.0" encoding="utf-8"?><Relationships xmlns="http://schemas.openxmlformats.org/package/2006/relationships"><Relationship Type="http://schemas.openxmlformats.org/officeDocument/2006/relationships/notesMaster" Target="/ppt/notesMasters/notesMaster1.xml" Id="Ra31c8bbd900046de" /><Relationship Type="http://schemas.openxmlformats.org/officeDocument/2006/relationships/slide" Target="/ppt/slides/slide22.xml" Id="R255a56f1f5974697" /></Relationships>
</file>

<file path=ppt/notesSlides/_rels/notesSlide23.xml.rels>&#65279;<?xml version="1.0" encoding="utf-8"?><Relationships xmlns="http://schemas.openxmlformats.org/package/2006/relationships"><Relationship Type="http://schemas.openxmlformats.org/officeDocument/2006/relationships/notesMaster" Target="/ppt/notesMasters/notesMaster1.xml" Id="R5dbba386a67c496a" /><Relationship Type="http://schemas.openxmlformats.org/officeDocument/2006/relationships/slide" Target="/ppt/slides/slide23.xml" Id="R01467c76c023482b" /></Relationships>
</file>

<file path=ppt/notesSlides/_rels/notesSlide24.xml.rels>&#65279;<?xml version="1.0" encoding="utf-8"?><Relationships xmlns="http://schemas.openxmlformats.org/package/2006/relationships"><Relationship Type="http://schemas.openxmlformats.org/officeDocument/2006/relationships/notesMaster" Target="/ppt/notesMasters/notesMaster1.xml" Id="R2765e73b6f9b4a67" /><Relationship Type="http://schemas.openxmlformats.org/officeDocument/2006/relationships/slide" Target="/ppt/slides/slide24.xml" Id="Rda4dfaf2f2da4f80" /></Relationships>
</file>

<file path=ppt/notesSlides/_rels/notesSlide25.xml.rels>&#65279;<?xml version="1.0" encoding="utf-8"?><Relationships xmlns="http://schemas.openxmlformats.org/package/2006/relationships"><Relationship Type="http://schemas.openxmlformats.org/officeDocument/2006/relationships/notesMaster" Target="/ppt/notesMasters/notesMaster1.xml" Id="R100d63b5f0604d9b" /><Relationship Type="http://schemas.openxmlformats.org/officeDocument/2006/relationships/slide" Target="/ppt/slides/slide25.xml" Id="Rbf256d22a7ef4fc8" /></Relationships>
</file>

<file path=ppt/notesSlides/_rels/notesSlide26.xml.rels>&#65279;<?xml version="1.0" encoding="utf-8"?><Relationships xmlns="http://schemas.openxmlformats.org/package/2006/relationships"><Relationship Type="http://schemas.openxmlformats.org/officeDocument/2006/relationships/notesMaster" Target="/ppt/notesMasters/notesMaster1.xml" Id="R3c9f6b4ca0034222" /><Relationship Type="http://schemas.openxmlformats.org/officeDocument/2006/relationships/slide" Target="/ppt/slides/slide26.xml" Id="R9470b83f17bb4430" /></Relationships>
</file>

<file path=ppt/notesSlides/notesSlide14.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Cover: QueryGuard, our group project proposal. One line: we put a deterministic safety gate between LLM-generated SQL and the database.</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Explain the product in one breath: user asks in plain English, an LLM writes the SQL, our gate checks it before the database ever sees it.</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Three numbers to land: 3 CVEs in LLM-database frameworks since 2024, CVSS 9.8 on the LlamaIndex case, enterprise schemas with 1,000+ columns. This is a live attack surface, not a thought experiment.</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Walk the five camps left to right: retraining (StruQ), fine-tuning (SecAlign), generic guardrails (NeMo, Guardrails AI), academic SQL defenses (LangShield), shipped tools (HeimdaLLM etc.). Close on the line at the bottom: none of them watch the app-to-database boundary.</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Our answer. The LLM drafts SQL, then a deterministic gate parses it into an AST and runs ten rules. Point at the example: a destructive request gets blocked by rule G-01 before execution. The gate is the trust boundary.</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Ten rules across the six attack classes published in the ICSE 2025 P2SQL taxonomy. Every rule is one numbered requirement in the SRS and one test in CI.</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Walk the pipeline: question in, LLM drafts SQL, we parse it into an AST, ten rules run, verdict out. Because rules run on the parsed tree, obfuscation, sensitive columns and stacked queries cannot slip through.</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Three actions, not just blocking: BLOCK rejects, MASK strips sensitive columns and logs it, SUGGEST blocks an unbounded query and offers a one-click fix. Nothing is ever modified silently.</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Measured, not claimed: 30 benign plus 30 attack prompts, labeled by attack class. The corpus runs in CI, so a rule that stops working breaks the build.</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One command produces the full report: block rate, false positives, latency. This is the artifact we show, not a claim we make.</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What makes this ours: safety receipts on every answer, PII masking driven by schema labels, and a live attack playground where anyone can try to break it.</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Milestones: proposal and SRS before midterm, build after, demo before final. Dates harden once the course posts them.</a:t>
            </a:r>
          </a:p>
        </p:txBody>
      </p:sp>
    </p:spTree>
  </p:cSld>
  <p:clrMapOvr xmlns:a="http://schemas.openxmlformats.org/drawingml/2006/main" xmlns:r="http://schemas.openxmlformats.org/officeDocument/2006/relationships" xmlns:p="http://schemas.openxmlformats.org/presentationml/2006/main">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xmlns:a="http://schemas.openxmlformats.org/drawingml/2006/main" xmlns:r="http://schemas.openxmlformats.org/officeDocument/2006/relationships" xmlns:p="http://schemas.openxmlformats.org/presentationml/2006/main">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
        <p:nvSpPr>
          <p:cNvPr id="3" name="Notes Placeholder 2"/>
          <p:cNvSpPr/>
          <p:nvPr>
            <p:ph type="body" idx="1"/>
          </p:nvPr>
        </p:nvSpPr>
        <p:spPr/>
        <p:txBody>
          <a:bodyPr/>
          <a:lstStyle/>
          <a:p>
            <a:r>
              <a:rPr lang="en-US"/>
              <a:t>Takeaways: real threat, measured defense, explainable decisions. Questions welcome.</a:t>
            </a:r>
          </a:p>
        </p:txBody>
      </p:sp>
    </p:spTree>
  </p:cSld>
  <p:clrMapOvr xmlns:a="http://schemas.openxmlformats.org/drawingml/2006/main" xmlns:r="http://schemas.openxmlformats.org/officeDocument/2006/relationships" xmlns:p="http://schemas.openxmlformats.org/presentationml/2006/main">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type="title" preserve="1">
  <p:cSld xmlns:p14="http://schemas.microsoft.com/office/powerpoint/2010/main" xmlns:a="http://schemas.openxmlformats.org/drawingml/2006/main" xmlns:r="http://schemas.openxmlformats.org/officeDocument/2006/relationships" xmlns:p="http://schemas.openxmlformats.org/presentationml/2006/main"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3168075583"/>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type="obj" preserve="1">
  <p:cSld xmlns:p14="http://schemas.microsoft.com/office/powerpoint/2010/main" xmlns:a="http://schemas.openxmlformats.org/drawingml/2006/main" xmlns:r="http://schemas.openxmlformats.org/officeDocument/2006/relationships" xmlns:p="http://schemas.openxmlformats.org/presentationml/2006/main"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2614314258"/>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type="secHead" preserve="1">
  <p:cSld xmlns:p14="http://schemas.microsoft.com/office/powerpoint/2010/main" xmlns:a="http://schemas.openxmlformats.org/drawingml/2006/main" xmlns:r="http://schemas.openxmlformats.org/officeDocument/2006/relationships" xmlns:p="http://schemas.openxmlformats.org/presentationml/2006/main"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960648375"/>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4.xml><?xml version="1.0" encoding="utf-8"?>
<p:sldLayout xmlns:p14="http://schemas.microsoft.com/office/powerpoint/2010/main" xmlns:a="http://schemas.openxmlformats.org/drawingml/2006/main" xmlns:r="http://schemas.openxmlformats.org/officeDocument/2006/relationships" xmlns:p="http://schemas.openxmlformats.org/presentationml/2006/main" type="twoObj" preserve="1">
  <p:cSld xmlns:p14="http://schemas.microsoft.com/office/powerpoint/2010/main" xmlns:a="http://schemas.openxmlformats.org/drawingml/2006/main" xmlns:r="http://schemas.openxmlformats.org/officeDocument/2006/relationships" xmlns:p="http://schemas.openxmlformats.org/presentationml/2006/main"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2782244947"/>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5.xml><?xml version="1.0" encoding="utf-8"?>
<p:sldLayout xmlns:p14="http://schemas.microsoft.com/office/powerpoint/2010/main" xmlns:a="http://schemas.openxmlformats.org/drawingml/2006/main" xmlns:r="http://schemas.openxmlformats.org/officeDocument/2006/relationships" xmlns:p="http://schemas.openxmlformats.org/presentationml/2006/main" type="twoTxTwoObj" preserve="1">
  <p:cSld xmlns:p14="http://schemas.microsoft.com/office/powerpoint/2010/main" xmlns:a="http://schemas.openxmlformats.org/drawingml/2006/main" xmlns:r="http://schemas.openxmlformats.org/officeDocument/2006/relationships" xmlns:p="http://schemas.openxmlformats.org/presentationml/2006/main"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990158736"/>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6.xml><?xml version="1.0" encoding="utf-8"?>
<p:sldLayout xmlns:p14="http://schemas.microsoft.com/office/powerpoint/2010/main" xmlns:a="http://schemas.openxmlformats.org/drawingml/2006/main" xmlns:r="http://schemas.openxmlformats.org/officeDocument/2006/relationships" xmlns:p="http://schemas.openxmlformats.org/presentationml/2006/main" type="titleOnly" preserve="1">
  <p:cSld xmlns:p14="http://schemas.microsoft.com/office/powerpoint/2010/main" xmlns:a="http://schemas.openxmlformats.org/drawingml/2006/main" xmlns:r="http://schemas.openxmlformats.org/officeDocument/2006/relationships" xmlns:p="http://schemas.openxmlformats.org/presentationml/2006/main"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727027711"/>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7.xml><?xml version="1.0" encoding="utf-8"?>
<p:sldLayout xmlns:p14="http://schemas.microsoft.com/office/powerpoint/2010/main" xmlns:a="http://schemas.openxmlformats.org/drawingml/2006/main" xmlns:r="http://schemas.openxmlformats.org/officeDocument/2006/relationships" xmlns:p="http://schemas.openxmlformats.org/presentationml/2006/main" type="blank" preserve="1">
  <p:cSld xmlns:p14="http://schemas.microsoft.com/office/powerpoint/2010/main" xmlns:a="http://schemas.openxmlformats.org/drawingml/2006/main" xmlns:r="http://schemas.openxmlformats.org/officeDocument/2006/relationships" xmlns:p="http://schemas.openxmlformats.org/presentationml/2006/main"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1212999818"/>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8.xml><?xml version="1.0" encoding="utf-8"?>
<p:sldLayout xmlns:p14="http://schemas.microsoft.com/office/powerpoint/2010/main" xmlns:a="http://schemas.openxmlformats.org/drawingml/2006/main" xmlns:r="http://schemas.openxmlformats.org/officeDocument/2006/relationships" xmlns:p="http://schemas.openxmlformats.org/presentationml/2006/main" type="objTx" preserve="1">
  <p:cSld xmlns:p14="http://schemas.microsoft.com/office/powerpoint/2010/main" xmlns:a="http://schemas.openxmlformats.org/drawingml/2006/main" xmlns:r="http://schemas.openxmlformats.org/officeDocument/2006/relationships" xmlns:p="http://schemas.openxmlformats.org/presentationml/2006/main"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1840726560"/>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9.xml><?xml version="1.0" encoding="utf-8"?>
<p:sldLayout xmlns:p14="http://schemas.microsoft.com/office/powerpoint/2010/main" xmlns:a="http://schemas.openxmlformats.org/drawingml/2006/main" xmlns:r="http://schemas.openxmlformats.org/officeDocument/2006/relationships" xmlns:p="http://schemas.openxmlformats.org/presentationml/2006/main" type="picTx" preserve="1">
  <p:cSld xmlns:p14="http://schemas.microsoft.com/office/powerpoint/2010/main" xmlns:a="http://schemas.openxmlformats.org/drawingml/2006/main" xmlns:r="http://schemas.openxmlformats.org/officeDocument/2006/relationships" xmlns:p="http://schemas.openxmlformats.org/presentationml/2006/main"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3889236939"/>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10.xml><?xml version="1.0" encoding="utf-8"?>
<p:sldLayout xmlns:p14="http://schemas.microsoft.com/office/powerpoint/2010/main" xmlns:a="http://schemas.openxmlformats.org/drawingml/2006/main" xmlns:r="http://schemas.openxmlformats.org/officeDocument/2006/relationships" xmlns:p="http://schemas.openxmlformats.org/presentationml/2006/main" type="vertTx" preserve="1">
  <p:cSld xmlns:p14="http://schemas.microsoft.com/office/powerpoint/2010/main" xmlns:a="http://schemas.openxmlformats.org/drawingml/2006/main" xmlns:r="http://schemas.openxmlformats.org/officeDocument/2006/relationships" xmlns:p="http://schemas.openxmlformats.org/presentationml/2006/main"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2910927964"/>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Layouts/slideLayout11.xml><?xml version="1.0" encoding="utf-8"?>
<p:sldLayout xmlns:p14="http://schemas.microsoft.com/office/powerpoint/2010/main" xmlns:a="http://schemas.openxmlformats.org/drawingml/2006/main" xmlns:r="http://schemas.openxmlformats.org/officeDocument/2006/relationships" xmlns:p="http://schemas.openxmlformats.org/presentationml/2006/main" type="vertTitleAndTx" preserve="1">
  <p:cSld xmlns:p14="http://schemas.microsoft.com/office/powerpoint/2010/main" xmlns:a="http://schemas.openxmlformats.org/drawingml/2006/main" xmlns:r="http://schemas.openxmlformats.org/officeDocument/2006/relationships" xmlns:p="http://schemas.openxmlformats.org/presentationml/2006/main"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val="3612223792"/>
      </p:ext>
    </p:extLst>
  </p:cSld>
  <p:clrMapOvr xmlns:p14="http://schemas.microsoft.com/office/powerpoint/2010/main" xmlns:a="http://schemas.openxmlformats.org/drawingml/2006/main" xmlns:r="http://schemas.openxmlformats.org/officeDocument/2006/relationships" xmlns:p="http://schemas.openxmlformats.org/presentationml/2006/main">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xmlns:p14="http://schemas.microsoft.com/office/powerpoint/2010/main" xmlns:a="http://schemas.openxmlformats.org/drawingml/2006/main" xmlns:r="http://schemas.openxmlformats.org/officeDocument/2006/relationships" xmlns:p="http://schemas.openxmlformats.org/presentationml/2006/main">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val="2209977519"/>
      </p:ext>
    </p:extLst>
  </p:cSld>
  <p:clrMap xmlns:p14="http://schemas.microsoft.com/office/powerpoint/2010/main" xmlns:a="http://schemas.openxmlformats.org/drawingml/2006/main" xmlns:r="http://schemas.openxmlformats.org/officeDocument/2006/relationships" xmlns:p="http://schemas.openxmlformats.org/presentationml/2006/main" bg1="lt1" tx1="dk1" bg2="lt2" tx2="dk2" accent1="accent1" accent2="accent2" accent3="accent3" accent4="accent4" accent5="accent5" accent6="accent6" hlink="hlink" folHlink="folHlink"/>
  <p:sldLayoutIdLst xmlns:p14="http://schemas.microsoft.com/office/powerpoint/2010/main" xmlns:a="http://schemas.openxmlformats.org/drawingml/2006/main" xmlns:r="http://schemas.openxmlformats.org/officeDocument/2006/relationships" xmlns:p="http://schemas.openxmlformats.org/presentationml/2006/main">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xmlns:p14="http://schemas.microsoft.com/office/powerpoint/2010/main" xmlns:a="http://schemas.openxmlformats.org/drawingml/2006/main" xmlns:r="http://schemas.openxmlformats.org/officeDocument/2006/relationships" xmlns:p="http://schemas.openxmlformats.org/presentationml/2006/main">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4.xml.rels>&#65279;<?xml version="1.0" encoding="utf-8"?><Relationships xmlns="http://schemas.openxmlformats.org/package/2006/relationships"><Relationship Type="http://schemas.openxmlformats.org/officeDocument/2006/relationships/slideLayout" Target="/ppt/slideLayouts/slideLayout7.xml" Id="Rb59149f5eb6f4d71" /><Relationship Type="http://schemas.openxmlformats.org/officeDocument/2006/relationships/notesSlide" Target="/ppt/notesSlides/notesSlide14.xml" Id="Rfe46b52304fb43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f3cf3849f885424e" /><Relationship Type="http://schemas.openxmlformats.org/officeDocument/2006/relationships/notesSlide" Target="/ppt/notesSlides/notesSlide15.xml" Id="R3ac2b95b34c248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5e5cb8b4d0d4e2e" /><Relationship Type="http://schemas.openxmlformats.org/officeDocument/2006/relationships/notesSlide" Target="/ppt/notesSlides/notesSlide16.xml" Id="Rda56e4ff8da24e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a134ccf2e5844b8" /><Relationship Type="http://schemas.openxmlformats.org/officeDocument/2006/relationships/notesSlide" Target="/ppt/notesSlides/notesSlide17.xml" Id="R2ede626bf6a04f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372ebe0a7eff4cdb" /><Relationship Type="http://schemas.openxmlformats.org/officeDocument/2006/relationships/notesSlide" Target="/ppt/notesSlides/notesSlide18.xml" Id="R801804c0abe841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b849197c22b64e9e" /><Relationship Type="http://schemas.openxmlformats.org/officeDocument/2006/relationships/notesSlide" Target="/ppt/notesSlides/notesSlide19.xml" Id="R119980af203e41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d5f202d7ab964080" /><Relationship Type="http://schemas.openxmlformats.org/officeDocument/2006/relationships/notesSlide" Target="/ppt/notesSlides/notesSlide20.xml" Id="R35401ef13bf645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80d9dae66a24715" /><Relationship Type="http://schemas.openxmlformats.org/officeDocument/2006/relationships/notesSlide" Target="/ppt/notesSlides/notesSlide21.xml" Id="R81c0fdb4be2843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c336babf9c7f45d2" /><Relationship Type="http://schemas.openxmlformats.org/officeDocument/2006/relationships/notesSlide" Target="/ppt/notesSlides/notesSlide22.xml" Id="R8012696dea6e43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04c8af42df854428" /><Relationship Type="http://schemas.openxmlformats.org/officeDocument/2006/relationships/notesSlide" Target="/ppt/notesSlides/notesSlide23.xml" Id="R35e575b83fc844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548ace76d5f144e8" /><Relationship Type="http://schemas.openxmlformats.org/officeDocument/2006/relationships/image" Target="/ppt/media/image2.png" Id="R0dd9994f7d7e442d" /><Relationship Type="http://schemas.openxmlformats.org/officeDocument/2006/relationships/notesSlide" Target="/ppt/notesSlides/notesSlide24.xml" Id="R699c3719a5244e9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602bf9a003494159" /><Relationship Type="http://schemas.openxmlformats.org/officeDocument/2006/relationships/notesSlide" Target="/ppt/notesSlides/notesSlide25.xml" Id="R0dcae8a4c6e040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4d976f8bb00746aa" /><Relationship Type="http://schemas.openxmlformats.org/officeDocument/2006/relationships/notesSlide" Target="/ppt/notesSlides/notesSlide26.xml" Id="R98fd85de654e45bc" /></Relationships>
</file>

<file path=ppt/slides/slide14.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914400" y="1828800"/>
            <a:ext cx="10332720" cy="2194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4600" b="1">
                <a:solidFill>
                  <a:srgbClr val="FFFFFF"/>
                </a:solidFill>
                <a:latin typeface="Calibri"/>
              </a:rPr>
              <a:t>QueryGuard</a:t>
            </a:r>
          </a:p>
          <a:p xmlns:a="http://schemas.openxmlformats.org/drawingml/2006/main">
            <a:pPr algn="l">
              <a:spcAft>
                <a:spcPts val="600"/>
              </a:spcAft>
            </a:pPr>
            <a:r>
              <a:rPr lang="en-US" sz="2200" b="0">
                <a:solidFill>
                  <a:srgbClr val="9CA3AF"/>
                </a:solidFill>
                <a:latin typeface="Calibri"/>
              </a:rPr>
              <a:t>How deep learning finds requirements in what users already say</a:t>
            </a:r>
          </a:p>
        </p:txBody>
      </p:sp>
      <p:sp>
        <p:nvSpPr>
          <p:cNvPr id="4" name="Rectangle 3"/>
          <p:cNvSpPr/>
          <p:nvPr/>
        </p:nvSpPr>
        <p:spPr>
          <a:xfrm xmlns:a="http://schemas.openxmlformats.org/drawingml/2006/main">
            <a:off x="960120" y="3063240"/>
            <a:ext cx="2743200" cy="508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914400" y="4572000"/>
            <a:ext cx="10332720" cy="1645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800" b="0">
                <a:solidFill>
                  <a:srgbClr val="E5E7EB"/>
                </a:solidFill>
                <a:latin typeface="Calibri"/>
              </a:rPr>
              <a:t>CS 5391 - Survey of Software Engineering   |   Group Project Proposal</a:t>
            </a:r>
          </a:p>
          <a:p xmlns:a="http://schemas.openxmlformats.org/drawingml/2006/main">
            <a:pPr algn="l">
              <a:spcAft>
                <a:spcPts val="600"/>
              </a:spcAft>
            </a:pPr>
            <a:r>
              <a:rPr lang="en-US" sz="1400" b="0">
                <a:solidFill>
                  <a:srgbClr val="9CA3AF"/>
                </a:solidFill>
                <a:latin typeface="Calibri"/>
              </a:rPr>
              <a:t>Section 3.1 of: Deep Learning-based Software Engineering: Progress, Challenges, and Opportunities (Science China Information Sciences survey)</a:t>
            </a:r>
          </a:p>
          <a:p xmlns:a="http://schemas.openxmlformats.org/drawingml/2006/main">
            <a:pPr algn="l">
              <a:spcAft>
                <a:spcPts val="600"/>
              </a:spcAft>
            </a:pPr>
            <a:r>
              <a:rPr lang="en-US" sz="1600" b="0">
                <a:solidFill>
                  <a:srgbClr val="E5E7EB"/>
                </a:solidFill>
                <a:latin typeface="Calibri"/>
              </a:rPr>
              <a:t>Mahdi Amjad   |   August 25, 2026</a:t>
            </a:r>
          </a:p>
        </p:txBody>
      </p:sp>
    </p:spTree>
  </p:cSld>
  <p:clrMapOvr xmlns:p="http://schemas.openxmlformats.org/presentationml/2006/main">
    <a:masterClrMapping xmlns:a="http://schemas.openxmlformats.org/drawingml/2006/main"/>
  </p:clrMapOvr>
</p:sld>
</file>

<file path=ppt/slides/slide15.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What is QueryGuard?</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Plain English in, safe SQL out</a:t>
            </a:r>
          </a:p>
        </p:txBody>
      </p:sp>
      <p:sp>
        <p:nvSpPr>
          <p:cNvPr id="6" name="TextBox 5"/>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Goal - </a:t>
            </a:r>
            <a:r>
              <a:rPr lang="en-US" sz="1900">
                <a:solidFill>
                  <a:srgbClr val="E5E7EB"/>
                </a:solidFill>
                <a:latin typeface="Calibri"/>
                <a:ea typeface="Calibri"/>
              </a:rPr>
              <a:t>gather accurate and complete information about what the system should do, how it should behave, and what constraints apply</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Front door of requirements engineering - </a:t>
            </a:r>
            <a:r>
              <a:rPr lang="en-US" sz="1900">
                <a:solidFill>
                  <a:srgbClr val="E5E7EB"/>
                </a:solidFill>
                <a:latin typeface="Calibri"/>
              </a:rPr>
              <a:t>stakeholder needs become an agreed set of requirements for everything downstream</a:t>
            </a:r>
            <a:endParaRPr lang="en-US"/>
          </a:p>
          <a:p xmlns:a="http://schemas.openxmlformats.org/drawingml/2006/main">
            <a:pPr>
              <a:spcAft>
                <a:spcPts val="1200"/>
              </a:spcAft>
            </a:pPr>
            <a:r>
              <a:rPr lang="en-US" sz="1900" b="1">
                <a:solidFill>
                  <a:srgbClr val="FFFFFF"/>
                </a:solidFill>
                <a:latin typeface="Calibri"/>
              </a:rPr>
              <a:t xml:space="preserve">• Problem-oriented, not solution-oriented - </a:t>
            </a:r>
            <a:r>
              <a:rPr lang="en-US" sz="1900">
                <a:solidFill>
                  <a:srgbClr val="E5E7EB"/>
                </a:solidFill>
                <a:latin typeface="Calibri"/>
              </a:rPr>
              <a:t>RE is "doing the right thing"; design and repair are "doing the thing right"</a:t>
            </a:r>
            <a:endParaRPr lang="en-US"/>
          </a:p>
          <a:p xmlns:a="http://schemas.openxmlformats.org/drawingml/2006/main">
            <a:pPr>
              <a:spcAft>
                <a:spcPts val="1200"/>
              </a:spcAft>
            </a:pPr>
            <a:r>
              <a:rPr lang="en-US" sz="1900" b="1">
                <a:solidFill>
                  <a:srgbClr val="FFFFFF"/>
                </a:solidFill>
                <a:latin typeface="Calibri"/>
              </a:rPr>
              <a:t xml:space="preserve">• Why it matters - </a:t>
            </a:r>
            <a:r>
              <a:rPr lang="en-US" sz="1900">
                <a:solidFill>
                  <a:srgbClr val="E5E7EB"/>
                </a:solidFill>
                <a:latin typeface="Calibri"/>
              </a:rPr>
              <a:t>project success depends on understanding requirements before building solutions</a:t>
            </a:r>
            <a:endParaRPr lang="en-US"/>
          </a:p>
        </p:txBody>
      </p:sp>
    </p:spTree>
  </p:cSld>
  <p:clrMapOvr xmlns:p="http://schemas.openxmlformats.org/presentationml/2006/main">
    <a:masterClrMapping xmlns:a="http://schemas.openxmlformats.org/drawingml/2006/main"/>
  </p:clrMapOvr>
</p:sld>
</file>

<file path=ppt/slides/slide16.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Why is this needed now?</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C9D1DC"/>
                </a:solidFill>
                <a:latin typeface="Calibri"/>
              </a:rPr>
              <a:t>Real incidents, real exposure, real schemas</a:t>
            </a:r>
          </a:p>
        </p:txBody>
      </p:sp>
      <p:sp>
        <p:nvSpPr>
          <p:cNvPr id="6" name="TextBox 5"/>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Stakeholders talk everywhere - </a:t>
            </a:r>
            <a:r>
              <a:rPr lang="en-US" sz="1900">
                <a:solidFill>
                  <a:srgbClr val="E5E7EB"/>
                </a:solidFill>
                <a:latin typeface="Calibri"/>
                <a:ea typeface="Calibri"/>
              </a:rPr>
              <a:t>app reviews, forums, live chats, issue trackers - not just interviews</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Manual analysis does not scale - </a:t>
            </a:r>
            <a:r>
              <a:rPr lang="en-US" sz="1900">
                <a:solidFill>
                  <a:srgbClr val="E5E7EB"/>
                </a:solidFill>
                <a:latin typeface="Calibri"/>
              </a:rPr>
              <a:t>reading thousands of noisy messages by hand is impossible</a:t>
            </a:r>
            <a:endParaRPr lang="en-US"/>
          </a:p>
          <a:p xmlns:a="http://schemas.openxmlformats.org/drawingml/2006/main">
            <a:pPr>
              <a:spcAft>
                <a:spcPts val="1200"/>
              </a:spcAft>
            </a:pPr>
            <a:r>
              <a:rPr lang="en-US" sz="1900" b="1">
                <a:solidFill>
                  <a:srgbClr val="FFFFFF"/>
                </a:solidFill>
                <a:latin typeface="Calibri"/>
              </a:rPr>
              <a:t xml:space="preserve">• Where DL earns its place - </a:t>
            </a:r>
            <a:r>
              <a:rPr lang="en-US" sz="1900">
                <a:solidFill>
                  <a:srgbClr val="E5E7EB"/>
                </a:solidFill>
                <a:latin typeface="Calibri"/>
              </a:rPr>
              <a:t>classification, extraction, and synthesis at corpus scale</a:t>
            </a:r>
            <a:endParaRPr lang="en-US"/>
          </a:p>
        </p:txBody>
      </p:sp>
      <p:sp>
        <p:nvSpPr>
          <p:cNvPr id="7" name="Rounded Rectangle 6"/>
          <p:cNvSpPr/>
          <p:nvPr/>
        </p:nvSpPr>
        <p:spPr>
          <a:xfrm xmlns:a="http://schemas.openxmlformats.org/drawingml/2006/main">
            <a:off x="822960" y="4023360"/>
            <a:ext cx="3291840" cy="233172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2800" b="1" dirty="0">
                <a:solidFill>
                  <a:schemeClr val="accent2"/>
                </a:solidFill>
                <a:latin typeface="Calibri"/>
              </a:rPr>
              <a:t>3 CVEs</a:t>
            </a:r>
          </a:p>
          <a:p xmlns:a="http://schemas.openxmlformats.org/drawingml/2006/main">
            <a:pPr algn="ctr"/>
            <a:r>
              <a:rPr lang="en-US" sz="1400" b="1" dirty="0">
                <a:solidFill>
                  <a:srgbClr val="FFFFFF"/>
                </a:solidFill>
                <a:latin typeface="Calibri"/>
              </a:rPr>
              <a:t>Fully manual</a:t>
            </a:r>
          </a:p>
          <a:p xmlns:a="http://schemas.openxmlformats.org/drawingml/2006/main">
            <a:pPr algn="ctr"/>
            <a:r>
              <a:rPr lang="en-US" sz="1100" dirty="0">
                <a:solidFill>
                  <a:srgbClr val="C9D1DC"/>
                </a:solidFill>
                <a:latin typeface="Calibri"/>
              </a:rPr>
              <a:t>state extraction (Pudlitz et al.)</a:t>
            </a:r>
          </a:p>
        </p:txBody>
      </p:sp>
      <p:sp>
        <p:nvSpPr>
          <p:cNvPr id="8" name="Rounded Rectangle 7"/>
          <p:cNvSpPr/>
          <p:nvPr/>
        </p:nvSpPr>
        <p:spPr>
          <a:xfrm xmlns:a="http://schemas.openxmlformats.org/drawingml/2006/main">
            <a:off x="4480560" y="4023360"/>
            <a:ext cx="3291840" cy="233172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2800" b="1" dirty="0">
                <a:solidFill>
                  <a:srgbClr val="A7F3C2"/>
                </a:solidFill>
                <a:latin typeface="Calibri"/>
              </a:rPr>
              <a:t>CVSS 9.8</a:t>
            </a:r>
          </a:p>
          <a:p xmlns:a="http://schemas.openxmlformats.org/drawingml/2006/main">
            <a:pPr algn="ctr"/>
            <a:r>
              <a:rPr lang="en-US" sz="1400" b="1" dirty="0">
                <a:solidFill>
                  <a:srgbClr val="FFFFFF"/>
                </a:solidFill>
                <a:latin typeface="Calibri"/>
              </a:rPr>
              <a:t>Automated (F1 0.51)</a:t>
            </a:r>
          </a:p>
          <a:p xmlns:a="http://schemas.openxmlformats.org/drawingml/2006/main">
            <a:pPr algn="ctr"/>
            <a:r>
              <a:rPr lang="en-US" sz="1100" dirty="0">
                <a:solidFill>
                  <a:srgbClr val="C9D1DC"/>
                </a:solidFill>
                <a:latin typeface="Calibri"/>
              </a:rPr>
              <a:t>same task, usable accuracy</a:t>
            </a:r>
          </a:p>
        </p:txBody>
      </p:sp>
      <p:sp>
        <p:nvSpPr>
          <p:cNvPr id="9" name="Rounded Rectangle 8"/>
          <p:cNvSpPr/>
          <p:nvPr/>
        </p:nvSpPr>
        <p:spPr>
          <a:xfrm xmlns:a="http://schemas.openxmlformats.org/drawingml/2006/main">
            <a:off x="8138160" y="4023360"/>
            <a:ext cx="3291840" cy="233172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2800" b="1" dirty="0">
                <a:solidFill>
                  <a:srgbClr val="BFEBFE"/>
                </a:solidFill>
                <a:latin typeface="Calibri"/>
              </a:rPr>
              <a:t>1,000 cols</a:t>
            </a:r>
          </a:p>
          <a:p xmlns:a="http://schemas.openxmlformats.org/drawingml/2006/main">
            <a:pPr algn="ctr"/>
            <a:r>
              <a:rPr lang="en-US" sz="1400" b="1" dirty="0">
                <a:solidFill>
                  <a:srgbClr val="FFFFFF"/>
                </a:solidFill>
                <a:latin typeface="Calibri"/>
              </a:rPr>
              <a:t>Semi-auto (F1 0.62)</a:t>
            </a:r>
          </a:p>
          <a:p xmlns:a="http://schemas.openxmlformats.org/drawingml/2006/main">
            <a:pPr algn="ctr"/>
            <a:r>
              <a:rPr lang="en-US" sz="1100" dirty="0">
                <a:solidFill>
                  <a:srgbClr val="C9D1DC"/>
                </a:solidFill>
                <a:latin typeface="Calibri"/>
              </a:rPr>
              <a:t>best accuracy trade-off</a:t>
            </a:r>
          </a:p>
        </p:txBody>
      </p:sp>
    </p:spTree>
  </p:cSld>
  <p:clrMapOvr xmlns:p="http://schemas.openxmlformats.org/presentationml/2006/main">
    <a:masterClrMapping xmlns:a="http://schemas.openxmlformats.org/drawingml/2006/main"/>
  </p:clrMapOvr>
</p:sld>
</file>

<file path=ppt/slides/slide17.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Existing defenses and the gap</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C9D1DC"/>
                </a:solidFill>
                <a:latin typeface="Calibri"/>
              </a:rPr>
              <a:t>Five camps, one shared blind spot</a:t>
            </a:r>
          </a:p>
        </p:txBody>
      </p:sp>
      <p:sp>
        <p:nvSpPr>
          <p:cNvPr id="6" name="Rounded Rectangle 5"/>
          <p:cNvSpPr/>
          <p:nvPr/>
        </p:nvSpPr>
        <p:spPr>
          <a:xfrm xmlns:a="http://schemas.openxmlformats.org/drawingml/2006/main">
            <a:off x="685800" y="2286000"/>
            <a:ext cx="1874519"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Retraining</a:t>
            </a:r>
          </a:p>
          <a:p xmlns:a="http://schemas.openxmlformats.org/drawingml/2006/main">
            <a:pPr algn="ctr"/>
            <a:r>
              <a:rPr lang="en-US" sz="1100" b="0">
                <a:solidFill>
                  <a:srgbClr val="C9D1DC"/>
                </a:solidFill>
                <a:latin typeface="Calibri"/>
              </a:rPr>
              <a:t>intentions</a:t>
            </a:r>
          </a:p>
        </p:txBody>
      </p:sp>
      <p:sp>
        <p:nvSpPr>
          <p:cNvPr id="7" name="Rounded Rectangle 6"/>
          <p:cNvSpPr/>
          <p:nvPr/>
        </p:nvSpPr>
        <p:spPr>
          <a:xfrm xmlns:a="http://schemas.openxmlformats.org/drawingml/2006/main">
            <a:off x="3017520" y="2286000"/>
            <a:ext cx="1874519"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Fine-tuning</a:t>
            </a:r>
          </a:p>
          <a:p xmlns:a="http://schemas.openxmlformats.org/drawingml/2006/main">
            <a:pPr algn="ctr"/>
            <a:r>
              <a:rPr lang="en-US" sz="1100" b="0">
                <a:solidFill>
                  <a:srgbClr val="C9D1DC"/>
                </a:solidFill>
                <a:latin typeface="Calibri"/>
              </a:rPr>
              <a:t>events, complaints</a:t>
            </a:r>
          </a:p>
        </p:txBody>
      </p:sp>
      <p:sp>
        <p:nvSpPr>
          <p:cNvPr id="8" name="Rounded Rectangle 7"/>
          <p:cNvSpPr/>
          <p:nvPr/>
        </p:nvSpPr>
        <p:spPr>
          <a:xfrm xmlns:a="http://schemas.openxmlformats.org/drawingml/2006/main">
            <a:off x="5349240" y="2286000"/>
            <a:ext cx="1874519"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Generic guards</a:t>
            </a:r>
          </a:p>
          <a:p xmlns:a="http://schemas.openxmlformats.org/drawingml/2006/main">
            <a:pPr algn="ctr"/>
            <a:r>
              <a:rPr lang="en-US" sz="1100" b="0">
                <a:solidFill>
                  <a:srgbClr val="C9D1DC"/>
                </a:solidFill>
                <a:latin typeface="Calibri"/>
              </a:rPr>
              <a:t>bug text</a:t>
            </a:r>
          </a:p>
        </p:txBody>
      </p:sp>
      <p:sp>
        <p:nvSpPr>
          <p:cNvPr id="9" name="Rounded Rectangle 8"/>
          <p:cNvSpPr/>
          <p:nvPr/>
        </p:nvSpPr>
        <p:spPr>
          <a:xfrm xmlns:a="http://schemas.openxmlformats.org/drawingml/2006/main">
            <a:off x="7680959" y="2286000"/>
            <a:ext cx="1874519"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Academic SQL defenses</a:t>
            </a:r>
          </a:p>
          <a:p xmlns:a="http://schemas.openxmlformats.org/drawingml/2006/main">
            <a:pPr algn="ctr"/>
            <a:r>
              <a:rPr lang="en-US" sz="1100" b="0">
                <a:solidFill>
                  <a:srgbClr val="C9D1DC"/>
                </a:solidFill>
                <a:latin typeface="Calibri"/>
              </a:rPr>
              <a:t>scattered threads</a:t>
            </a:r>
          </a:p>
        </p:txBody>
      </p:sp>
      <p:sp>
        <p:nvSpPr>
          <p:cNvPr id="10" name="Rounded Rectangle 9"/>
          <p:cNvSpPr/>
          <p:nvPr/>
        </p:nvSpPr>
        <p:spPr>
          <a:xfrm xmlns:a="http://schemas.openxmlformats.org/drawingml/2006/main">
            <a:off x="10012680" y="2286000"/>
            <a:ext cx="1874519"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Shipped tools</a:t>
            </a:r>
          </a:p>
          <a:p xmlns:a="http://schemas.openxmlformats.org/drawingml/2006/main">
            <a:pPr algn="ctr"/>
            <a:r>
              <a:rPr lang="en-US" sz="1100" b="0">
                <a:solidFill>
                  <a:srgbClr val="C9D1DC"/>
                </a:solidFill>
                <a:latin typeface="Calibri"/>
              </a:rPr>
              <a:t>noisy, contextual</a:t>
            </a:r>
          </a:p>
        </p:txBody>
      </p:sp>
      <p:sp>
        <p:nvSpPr>
          <p:cNvPr id="11" name="Rounded Rectangle 10"/>
          <p:cNvSpPr/>
          <p:nvPr/>
        </p:nvSpPr>
        <p:spPr>
          <a:xfrm xmlns:a="http://schemas.openxmlformats.org/drawingml/2006/main">
            <a:off x="1463040" y="4297680"/>
            <a:ext cx="9235440" cy="118872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600" b="1">
                <a:solidFill>
                  <a:srgbClr val="FFFFFF"/>
                </a:solidFill>
                <a:latin typeface="Calibri"/>
              </a:rPr>
              <a:t>None watch the app-to-DB boundary:</a:t>
            </a:r>
          </a:p>
          <a:p xmlns:a="http://schemas.openxmlformats.org/drawingml/2006/main">
            <a:pPr algn="ctr"/>
            <a:r>
              <a:rPr lang="en-US" sz="1800" b="1">
                <a:solidFill>
                  <a:srgbClr val="BFEBFE"/>
                </a:solidFill>
                <a:latin typeface="Calibri"/>
              </a:rPr>
              <a:t>collect  →  classify or extract  →  synthesize</a:t>
            </a:r>
          </a:p>
        </p:txBody>
      </p:sp>
    </p:spTree>
  </p:cSld>
  <p:clrMapOvr xmlns:p="http://schemas.openxmlformats.org/presentationml/2006/main">
    <a:masterClrMapping xmlns:a="http://schemas.openxmlformats.org/drawingml/2006/main"/>
  </p:clrMapOvr>
</p:sld>
</file>

<file path=ppt/slides/slide18.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Our answer: a validation gate</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C9D1DC"/>
                </a:solidFill>
                <a:latin typeface="Calibri"/>
              </a:rPr>
              <a:t>Deterministic rules, any LLM</a:t>
            </a:r>
          </a:p>
        </p:txBody>
      </p:sp>
      <p:sp>
        <p:nvSpPr>
          <p:cNvPr id="6" name="TextBox 5"/>
          <p:cNvSpPr txBox="1"/>
          <p:nvPr/>
        </p:nvSpPr>
        <p:spPr>
          <a:xfrm xmlns:a="http://schemas.openxmlformats.org/drawingml/2006/main">
            <a:off x="777240" y="1783080"/>
            <a:ext cx="1060704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800"/>
              </a:spcAft>
            </a:pPr>
            <a:r>
              <a:rPr sz="1700" b="0">
                <a:solidFill>
                  <a:srgbClr val="E5E7EB"/>
                </a:solidFill>
                <a:latin typeface="Calibri"/>
              </a:rPr>
              <a:t>The LLM drafts SQL from the question. Before execution, a deterministic gate parses the statement into an AST and runs ten rules: destructive statements, stacked queries, obfuscation, schema allowlist, sensitive columns, catalog access, escape hatches.</a:t>
            </a:r>
          </a:p>
          <a:p xmlns:a="http://schemas.openxmlformats.org/drawingml/2006/main">
            <a:pPr>
              <a:spcAft>
                <a:spcPts val="800"/>
              </a:spcAft>
            </a:pPr>
            <a:r>
              <a:rPr lang="en-US" sz="1700" b="0">
                <a:solidFill>
                  <a:srgbClr val="E5E7EB"/>
                </a:solidFill>
                <a:latin typeface="Calibri"/>
              </a:rPr>
              <a:t>Pudlitz et al.: named-entity recognition (the technique that spots names of things in text) with a bidirectional LSTM and CNN extracts system states from car software requirements documents; the nine-hour study.</a:t>
            </a:r>
          </a:p>
          <a:p xmlns:a="http://schemas.openxmlformats.org/drawingml/2006/main">
            <a:pPr>
              <a:spcAft>
                <a:spcPts val="800"/>
              </a:spcAft>
            </a:pPr>
            <a:r>
              <a:rPr lang="en-US" sz="1500" b="1">
                <a:solidFill>
                  <a:srgbClr val="FFFFFF"/>
                </a:solidFill>
                <a:latin typeface="Calibri"/>
              </a:rPr>
              <a:t>An example of intention classification:</a:t>
            </a:r>
          </a:p>
        </p:txBody>
      </p:sp>
      <p:sp>
        <p:nvSpPr>
          <p:cNvPr id="7" name="Rounded Rectangle 6"/>
          <p:cNvSpPr/>
          <p:nvPr/>
        </p:nvSpPr>
        <p:spPr>
          <a:xfrm xmlns:a="http://schemas.openxmlformats.org/drawingml/2006/main">
            <a:off x="822960" y="3977639"/>
            <a:ext cx="5852160"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600" b="0">
                <a:solidFill>
                  <a:srgbClr val="E5E7EB"/>
                </a:solidFill>
                <a:latin typeface="Calibri"/>
              </a:rPr>
              <a:t>"Delete all billing records." -&gt; BLOCKED by G-01</a:t>
            </a:r>
          </a:p>
        </p:txBody>
      </p:sp>
      <p:sp>
        <p:nvSpPr>
          <p:cNvPr id="8" name="Right Arrow 7"/>
          <p:cNvSpPr/>
          <p:nvPr/>
        </p:nvSpPr>
        <p:spPr>
          <a:xfrm xmlns:a="http://schemas.openxmlformats.org/drawingml/2006/main">
            <a:off x="6949440" y="4343400"/>
            <a:ext cx="548640" cy="457200"/>
          </a:xfrm>
          <a:prstGeom xmlns:a="http://schemas.openxmlformats.org/drawingml/2006/main" prst="right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9" name="Rounded Rectangle 8"/>
          <p:cNvSpPr/>
          <p:nvPr/>
        </p:nvSpPr>
        <p:spPr>
          <a:xfrm xmlns:a="http://schemas.openxmlformats.org/drawingml/2006/main">
            <a:off x="7772400" y="3977639"/>
            <a:ext cx="3291840" cy="13716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700" b="1">
                <a:solidFill>
                  <a:srgbClr val="BFEBFE"/>
                </a:solidFill>
                <a:latin typeface="Calibri"/>
              </a:rPr>
              <a:t>The trust boundary</a:t>
            </a:r>
          </a:p>
        </p:txBody>
      </p:sp>
    </p:spTree>
  </p:cSld>
  <p:clrMapOvr xmlns:p="http://schemas.openxmlformats.org/presentationml/2006/main">
    <a:masterClrMapping xmlns:a="http://schemas.openxmlformats.org/drawingml/2006/main"/>
  </p:clrMapOvr>
</p:sld>
</file>

<file path=ppt/slides/slide19.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What the gate checks</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Ten rules across six published attack classes</a:t>
            </a:r>
          </a:p>
        </p:txBody>
      </p:sp>
      <p:sp>
        <p:nvSpPr>
          <p:cNvPr id="6" name="TextBox 5"/>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DEMAR (Li et al.) - </a:t>
            </a:r>
            <a:r>
              <a:rPr lang="en-US" sz="1900">
                <a:solidFill>
                  <a:srgbClr val="E5E7EB"/>
                </a:solidFill>
                <a:latin typeface="Calibri"/>
                <a:ea typeface="Calibri"/>
              </a:rPr>
              <a:t>deep multi-task learning + data augmentation discovers requirements in problem reports; multi-task mode beats single-task</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Caspar (Guo et al.) - </a:t>
            </a:r>
            <a:r>
              <a:rPr lang="en-US" sz="1900">
                <a:solidFill>
                  <a:srgbClr val="E5E7EB"/>
                </a:solidFill>
                <a:latin typeface="Calibri"/>
              </a:rPr>
              <a:t>extracts ordered events from app reviews, classifies user actions vs app questions, pairs them, and predicts which actions expose problems</a:t>
            </a:r>
            <a:endParaRPr lang="en-US"/>
          </a:p>
          <a:p xmlns:a="http://schemas.openxmlformats.org/drawingml/2006/main">
            <a:pPr>
              <a:spcAft>
                <a:spcPts val="1200"/>
              </a:spcAft>
            </a:pPr>
            <a:r>
              <a:rPr lang="en-US" sz="1900" b="1">
                <a:solidFill>
                  <a:srgbClr val="FFFFFF"/>
                </a:solidFill>
                <a:latin typeface="Calibri"/>
              </a:rPr>
              <a:t xml:space="preserve">• Model choice - </a:t>
            </a:r>
            <a:r>
              <a:rPr lang="en-US" sz="1900">
                <a:solidFill>
                  <a:srgbClr val="E5E7EB"/>
                </a:solidFill>
                <a:latin typeface="Calibri"/>
              </a:rPr>
              <a:t>Bi-LSTM outperformed SVM and USE+SVM variants</a:t>
            </a:r>
            <a:endParaRPr lang="en-US"/>
          </a:p>
        </p:txBody>
      </p:sp>
    </p:spTree>
  </p:cSld>
  <p:clrMapOvr xmlns:p="http://schemas.openxmlformats.org/presentationml/2006/main">
    <a:masterClrMapping xmlns:a="http://schemas.openxmlformats.org/drawingml/2006/main"/>
  </p:clrMapOvr>
</p:sld>
</file>

<file path=ppt/slides/slide20.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One query, end to end</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C9D1DC"/>
                </a:solidFill>
                <a:latin typeface="Calibri"/>
              </a:rPr>
              <a:t>Nothing reaches the database without a PASS verdict</a:t>
            </a:r>
          </a:p>
        </p:txBody>
      </p:sp>
      <p:sp>
        <p:nvSpPr>
          <p:cNvPr id="6" name="Rounded Rectangle 5"/>
          <p:cNvSpPr/>
          <p:nvPr/>
        </p:nvSpPr>
        <p:spPr>
          <a:xfrm xmlns:a="http://schemas.openxmlformats.org/drawingml/2006/main">
            <a:off x="685800" y="2377440"/>
            <a:ext cx="1874519" cy="155448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400" b="1">
                <a:solidFill>
                  <a:srgbClr val="FFFFFF"/>
                </a:solidFill>
                <a:latin typeface="Calibri"/>
              </a:rPr>
              <a:t>Question</a:t>
            </a:r>
          </a:p>
          <a:p xmlns:a="http://schemas.openxmlformats.org/drawingml/2006/main">
            <a:pPr algn="ctr"/>
            <a:r>
              <a:rPr lang="en-US" sz="1100">
                <a:solidFill>
                  <a:srgbClr val="C9D1DC"/>
                </a:solidFill>
                <a:latin typeface="Calibri"/>
              </a:rPr>
              <a:t>raw user feedback</a:t>
            </a:r>
          </a:p>
        </p:txBody>
      </p:sp>
      <p:sp>
        <p:nvSpPr>
          <p:cNvPr id="7" name="Right Arrow 6"/>
          <p:cNvSpPr/>
          <p:nvPr/>
        </p:nvSpPr>
        <p:spPr>
          <a:xfrm xmlns:a="http://schemas.openxmlformats.org/drawingml/2006/main">
            <a:off x="2596896" y="2907792"/>
            <a:ext cx="384048" cy="457200"/>
          </a:xfrm>
          <a:prstGeom xmlns:a="http://schemas.openxmlformats.org/drawingml/2006/main" prst="right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8" name="Rounded Rectangle 7"/>
          <p:cNvSpPr/>
          <p:nvPr/>
        </p:nvSpPr>
        <p:spPr>
          <a:xfrm xmlns:a="http://schemas.openxmlformats.org/drawingml/2006/main">
            <a:off x="3017520" y="2377440"/>
            <a:ext cx="1874519" cy="155448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400" b="1">
                <a:solidFill>
                  <a:srgbClr val="FFFFFF"/>
                </a:solidFill>
                <a:latin typeface="Calibri"/>
              </a:rPr>
              <a:t>LLM drafts SQL</a:t>
            </a:r>
          </a:p>
          <a:p xmlns:a="http://schemas.openxmlformats.org/drawingml/2006/main">
            <a:pPr algn="ctr"/>
            <a:r>
              <a:rPr lang="en-US" sz="1100">
                <a:solidFill>
                  <a:srgbClr val="C9D1DC"/>
                </a:solidFill>
                <a:latin typeface="Calibri"/>
              </a:rPr>
              <a:t>NLP + ranking</a:t>
            </a:r>
          </a:p>
        </p:txBody>
      </p:sp>
      <p:sp>
        <p:nvSpPr>
          <p:cNvPr id="9" name="Right Arrow 8"/>
          <p:cNvSpPr/>
          <p:nvPr/>
        </p:nvSpPr>
        <p:spPr>
          <a:xfrm xmlns:a="http://schemas.openxmlformats.org/drawingml/2006/main">
            <a:off x="4928616" y="2907792"/>
            <a:ext cx="384048" cy="457200"/>
          </a:xfrm>
          <a:prstGeom xmlns:a="http://schemas.openxmlformats.org/drawingml/2006/main" prst="right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0" name="Rounded Rectangle 9"/>
          <p:cNvSpPr/>
          <p:nvPr/>
        </p:nvSpPr>
        <p:spPr>
          <a:xfrm xmlns:a="http://schemas.openxmlformats.org/drawingml/2006/main">
            <a:off x="5349240" y="2377440"/>
            <a:ext cx="1874519" cy="155448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400" b="1">
                <a:solidFill>
                  <a:srgbClr val="FFFFFF"/>
                </a:solidFill>
                <a:latin typeface="Calibri"/>
              </a:rPr>
              <a:t>Parse</a:t>
            </a:r>
          </a:p>
          <a:p xmlns:a="http://schemas.openxmlformats.org/drawingml/2006/main">
            <a:pPr algn="ctr"/>
            <a:r>
              <a:rPr lang="en-US" sz="1100">
                <a:solidFill>
                  <a:srgbClr val="C9D1DC"/>
                </a:solidFill>
                <a:latin typeface="Calibri"/>
              </a:rPr>
              <a:t>user action vs app question</a:t>
            </a:r>
          </a:p>
        </p:txBody>
      </p:sp>
      <p:sp>
        <p:nvSpPr>
          <p:cNvPr id="11" name="Right Arrow 10"/>
          <p:cNvSpPr/>
          <p:nvPr/>
        </p:nvSpPr>
        <p:spPr>
          <a:xfrm xmlns:a="http://schemas.openxmlformats.org/drawingml/2006/main">
            <a:off x="7260336" y="2907792"/>
            <a:ext cx="384048" cy="457200"/>
          </a:xfrm>
          <a:prstGeom xmlns:a="http://schemas.openxmlformats.org/drawingml/2006/main" prst="right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2" name="Rounded Rectangle 11"/>
          <p:cNvSpPr/>
          <p:nvPr/>
        </p:nvSpPr>
        <p:spPr>
          <a:xfrm xmlns:a="http://schemas.openxmlformats.org/drawingml/2006/main">
            <a:off x="7680959" y="2377440"/>
            <a:ext cx="1874519" cy="155448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400" b="1">
                <a:solidFill>
                  <a:srgbClr val="FFFFFF"/>
                </a:solidFill>
                <a:latin typeface="Calibri"/>
              </a:rPr>
              <a:t>Rules</a:t>
            </a:r>
          </a:p>
          <a:p xmlns:a="http://schemas.openxmlformats.org/drawingml/2006/main">
            <a:pPr algn="ctr"/>
            <a:r>
              <a:rPr lang="en-US" sz="1100">
                <a:solidFill>
                  <a:srgbClr val="C9D1DC"/>
                </a:solidFill>
                <a:latin typeface="Calibri"/>
              </a:rPr>
              <a:t>action + question stories</a:t>
            </a:r>
          </a:p>
        </p:txBody>
      </p:sp>
      <p:sp>
        <p:nvSpPr>
          <p:cNvPr id="13" name="Right Arrow 12"/>
          <p:cNvSpPr/>
          <p:nvPr/>
        </p:nvSpPr>
        <p:spPr>
          <a:xfrm xmlns:a="http://schemas.openxmlformats.org/drawingml/2006/main">
            <a:off x="9592055" y="2907792"/>
            <a:ext cx="384048" cy="457200"/>
          </a:xfrm>
          <a:prstGeom xmlns:a="http://schemas.openxmlformats.org/drawingml/2006/main" prst="right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4" name="Rounded Rectangle 13"/>
          <p:cNvSpPr/>
          <p:nvPr/>
        </p:nvSpPr>
        <p:spPr>
          <a:xfrm xmlns:a="http://schemas.openxmlformats.org/drawingml/2006/main">
            <a:off x="10012680" y="2377440"/>
            <a:ext cx="1874519" cy="155448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400" b="1">
                <a:solidFill>
                  <a:srgbClr val="FFFFFF"/>
                </a:solidFill>
                <a:latin typeface="Calibri"/>
              </a:rPr>
              <a:t>Verdict</a:t>
            </a:r>
          </a:p>
          <a:p xmlns:a="http://schemas.openxmlformats.org/drawingml/2006/main">
            <a:pPr algn="ctr"/>
            <a:r>
              <a:rPr lang="en-US" sz="1100">
                <a:solidFill>
                  <a:srgbClr val="C9D1DC"/>
                </a:solidFill>
                <a:latin typeface="Calibri"/>
              </a:rPr>
              <a:t>problems per action</a:t>
            </a:r>
          </a:p>
        </p:txBody>
      </p:sp>
      <p:sp>
        <p:nvSpPr>
          <p:cNvPr id="15" name="TextBox 14"/>
          <p:cNvSpPr txBox="1"/>
          <p:nvPr/>
        </p:nvSpPr>
        <p:spPr>
          <a:xfrm xmlns:a="http://schemas.openxmlformats.org/drawingml/2006/main">
            <a:off x="777240" y="4480560"/>
            <a:ext cx="10607040"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800" b="0">
                <a:solidFill>
                  <a:srgbClr val="E5E7EB"/>
                </a:solidFill>
                <a:latin typeface="Calibri"/>
              </a:rPr>
              <a:t>Why it works - rules run on a parsed AST, so obfuscation, sensitive columns and stacked queries cannot slip through</a:t>
            </a:r>
          </a:p>
          <a:p xmlns:a="http://schemas.openxmlformats.org/drawingml/2006/main">
            <a:pPr algn="l">
              <a:spcAft>
                <a:spcPts val="600"/>
              </a:spcAft>
            </a:pPr>
            <a:r>
              <a:rPr lang="en-US" sz="1800" b="0">
                <a:solidFill>
                  <a:srgbClr val="E5E7EB"/>
                </a:solidFill>
                <a:latin typeface="Calibri"/>
              </a:rPr>
              <a:t>Result - the Bi-LSTM model beat SVM and embedding+SVM baselines</a:t>
            </a:r>
          </a:p>
          <a:p xmlns:a="http://schemas.openxmlformats.org/drawingml/2006/main">
            <a:pPr algn="l">
              <a:spcAft>
                <a:spcPts val="600"/>
              </a:spcAft>
            </a:pPr>
            <a:r>
              <a:rPr lang="en-US" sz="1800" b="0">
                <a:solidFill>
                  <a:srgbClr val="E5E7EB"/>
                </a:solidFill>
                <a:latin typeface="Calibri"/>
              </a:rPr>
              <a:t>The pattern - this collect-classify-pair-predict shape repeats across the whole section</a:t>
            </a:r>
          </a:p>
        </p:txBody>
      </p:sp>
    </p:spTree>
  </p:cSld>
  <p:clrMapOvr xmlns:p="http://schemas.openxmlformats.org/presentationml/2006/main">
    <a:masterClrMapping xmlns:a="http://schemas.openxmlformats.org/drawingml/2006/main"/>
  </p:clrMapOvr>
</p:sld>
</file>

<file path=ppt/slides/slide21.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Beyond blocking: three actions</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4983480"/>
            <a:ext cx="10607040" cy="1691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a:solidFill>
                  <a:srgbClr val="E5E7EB"/>
                </a:solidFill>
                <a:latin typeface="Calibri"/>
              </a:rPr>
              <a:t>BLOCK rejects dangerous SQL, MASK strips sensitive columns, SUGGEST offers a one-click fix for unbounded queries. Nothing is ever modified silently.</a:t>
            </a:r>
          </a:p>
          <a:p xmlns:a="http://schemas.openxmlformats.org/drawingml/2006/main">
            <a:r>
              <a:rPr lang="en-US" sz="1400">
                <a:solidFill>
                  <a:srgbClr val="E5E7EB"/>
                </a:solidFill>
                <a:latin typeface="Calibri"/>
              </a:rPr>
              <a:t>Mekala et al.: the BERT-based classifier won on user feedback; pre-training helps most when labeled data is small.</a:t>
            </a:r>
          </a:p>
        </p:txBody>
      </p:sp>
      <p:sp>
        <p:nvSpPr>
          <p:cNvPr id="6" name="Rounded Rectangle 5"/>
          <p:cNvSpPr/>
          <p:nvPr/>
        </p:nvSpPr>
        <p:spPr>
          <a:xfrm xmlns:a="http://schemas.openxmlformats.org/drawingml/2006/main">
            <a:off x="777240" y="1828800"/>
            <a:ext cx="3108960" cy="11430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Destructive</a:t>
            </a:r>
          </a:p>
          <a:p xmlns:a="http://schemas.openxmlformats.org/drawingml/2006/main">
            <a:pPr algn="ctr"/>
            <a:r>
              <a:rPr lang="en-US" sz="1100" b="0">
                <a:solidFill>
                  <a:srgbClr val="C9D1DC"/>
                </a:solidFill>
                <a:latin typeface="Calibri"/>
              </a:rPr>
              <a:t>a user describes it</a:t>
            </a:r>
          </a:p>
        </p:txBody>
      </p:sp>
      <p:sp>
        <p:nvSpPr>
          <p:cNvPr id="7" name="Rounded Rectangle 6"/>
          <p:cNvSpPr/>
          <p:nvPr/>
        </p:nvSpPr>
        <p:spPr>
          <a:xfrm xmlns:a="http://schemas.openxmlformats.org/drawingml/2006/main">
            <a:off x="4206240" y="1828800"/>
            <a:ext cx="3108960" cy="11430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Sensitive PII</a:t>
            </a:r>
          </a:p>
          <a:p xmlns:a="http://schemas.openxmlformats.org/drawingml/2006/main">
            <a:pPr algn="ctr"/>
            <a:r>
              <a:rPr lang="en-US" sz="1100" b="0">
                <a:solidFill>
                  <a:srgbClr val="C9D1DC"/>
                </a:solidFill>
                <a:latin typeface="Calibri"/>
              </a:rPr>
              <a:t>an engineer logs it</a:t>
            </a:r>
          </a:p>
        </p:txBody>
      </p:sp>
      <p:sp>
        <p:nvSpPr>
          <p:cNvPr id="8" name="Rounded Rectangle 7"/>
          <p:cNvSpPr/>
          <p:nvPr/>
        </p:nvSpPr>
        <p:spPr>
          <a:xfrm xmlns:a="http://schemas.openxmlformats.org/drawingml/2006/main">
            <a:off x="7635240" y="1828800"/>
            <a:ext cx="3108960" cy="114300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Unbounded</a:t>
            </a:r>
          </a:p>
          <a:p xmlns:a="http://schemas.openxmlformats.org/drawingml/2006/main">
            <a:pPr algn="ctr"/>
            <a:r>
              <a:rPr lang="en-US" sz="1100" b="0">
                <a:solidFill>
                  <a:srgbClr val="C9D1DC"/>
                </a:solidFill>
                <a:latin typeface="Calibri"/>
              </a:rPr>
              <a:t>it is specified once</a:t>
            </a:r>
          </a:p>
        </p:txBody>
      </p:sp>
      <p:sp>
        <p:nvSpPr>
          <p:cNvPr id="9" name="Down Arrow 8"/>
          <p:cNvSpPr/>
          <p:nvPr/>
        </p:nvSpPr>
        <p:spPr>
          <a:xfrm xmlns:a="http://schemas.openxmlformats.org/drawingml/2006/main">
            <a:off x="2240280" y="3154680"/>
            <a:ext cx="411480" cy="685800"/>
          </a:xfrm>
          <a:prstGeom xmlns:a="http://schemas.openxmlformats.org/drawingml/2006/main" prst="down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0" name="Down Arrow 9"/>
          <p:cNvSpPr/>
          <p:nvPr/>
        </p:nvSpPr>
        <p:spPr>
          <a:xfrm xmlns:a="http://schemas.openxmlformats.org/drawingml/2006/main">
            <a:off x="5669280" y="3154680"/>
            <a:ext cx="411480" cy="685800"/>
          </a:xfrm>
          <a:prstGeom xmlns:a="http://schemas.openxmlformats.org/drawingml/2006/main" prst="down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1" name="Down Arrow 10"/>
          <p:cNvSpPr/>
          <p:nvPr/>
        </p:nvSpPr>
        <p:spPr>
          <a:xfrm xmlns:a="http://schemas.openxmlformats.org/drawingml/2006/main">
            <a:off x="9098280" y="3154680"/>
            <a:ext cx="411480" cy="685800"/>
          </a:xfrm>
          <a:prstGeom xmlns:a="http://schemas.openxmlformats.org/drawingml/2006/main" prst="downArrow">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12" name="Rounded Rectangle 11"/>
          <p:cNvSpPr/>
          <p:nvPr/>
        </p:nvSpPr>
        <p:spPr>
          <a:xfrm xmlns:a="http://schemas.openxmlformats.org/drawingml/2006/main">
            <a:off x="1868905" y="3977639"/>
            <a:ext cx="8125327" cy="960120"/>
          </a:xfrm>
          <a:prstGeom xmlns:a="http://schemas.openxmlformats.org/drawingml/2006/main" prst="roundRect">
            <a:avLst/>
          </a:prstGeom>
          <a:solidFill xmlns:a="http://schemas.openxmlformats.org/drawingml/2006/main">
            <a:srgbClr val="111C28"/>
          </a:solidFill>
          <a:ln xmlns:a="http://schemas.openxmlformats.org/drawingml/2006/main">
            <a:solidFill>
              <a:srgbClr val="2A3A50"/>
            </a:solid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r>
              <a:rPr sz="1500" b="1">
                <a:solidFill>
                  <a:srgbClr val="FFFFFF"/>
                </a:solidFill>
                <a:latin typeface="Calibri"/>
              </a:rPr>
              <a:t>...each outcome explained to the user, and every decision logged</a:t>
            </a:r>
          </a:p>
        </p:txBody>
      </p:sp>
      <p:sp>
        <p:nvSpPr>
          <p:cNvPr id="13" name="TextBox 12"/>
          <p:cNvSpPr txBox="1"/>
          <p:nvPr/>
        </p:nvSpPr>
        <p:spPr>
          <a:xfrm xmlns:a="http://schemas.openxmlformats.org/drawingml/2006/main">
            <a:off x="777240" y="4983480"/>
            <a:ext cx="10607040" cy="1691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pPr>
            <a:r>
              <a:rPr sz="1400">
                <a:solidFill>
                  <a:srgbClr val="E5E7EB"/>
                </a:solidFill>
                <a:latin typeface="Calibri"/>
              </a:rPr>
              <a:t>BLOCK rejects dangerous SQL, MASK strips sensitive columns, SUGGEST offers a one-click fix for unbounded queries. Nothing is ever modified silently.</a:t>
            </a:r>
          </a:p>
          <a:p xmlns:a="http://schemas.openxmlformats.org/drawingml/2006/main">
            <a:r>
              <a:rPr lang="en-US" sz="1400">
                <a:solidFill>
                  <a:srgbClr val="E5E7EB"/>
                </a:solidFill>
                <a:latin typeface="Calibri"/>
              </a:rPr>
              <a:t>Mekala et al.: the BERT-based classifier won on user feedback; pre-training helps most when labeled data is small.</a:t>
            </a:r>
          </a:p>
        </p:txBody>
      </p:sp>
    </p:spTree>
  </p:cSld>
  <p:clrMapOvr xmlns:p="http://schemas.openxmlformats.org/presentationml/2006/main">
    <a:masterClrMapping xmlns:a="http://schemas.openxmlformats.org/drawingml/2006/main"/>
  </p:clrMapOvr>
</p:sld>
</file>

<file path=ppt/slides/slide22.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Measured, not claimed</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30 benign + 30 attack prompts, labeled by class</a:t>
            </a:r>
          </a:p>
        </p:txBody>
      </p:sp>
      <p:sp>
        <p:nvSpPr>
          <p:cNvPr id="6" name="TextBox 5"/>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FRMiner - </a:t>
            </a:r>
            <a:r>
              <a:rPr lang="en-US" sz="1900">
                <a:solidFill>
                  <a:srgbClr val="E5E7EB"/>
                </a:solidFill>
                <a:latin typeface="Calibri"/>
                <a:ea typeface="Calibri"/>
              </a:rPr>
              <a:t>BiLSTM + Siamese network scores dialogue pairs to detect hidden feature requests; beat 2 sentence classifiers + 4 traditional baselines</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F2CHAT - </a:t>
            </a:r>
            <a:r>
              <a:rPr lang="en-US" sz="1900">
                <a:solidFill>
                  <a:srgbClr val="E5E7EB"/>
                </a:solidFill>
                <a:latin typeface="Calibri"/>
              </a:rPr>
              <a:t>hand-crafted non-textual features + deep textual features across 9 message categories</a:t>
            </a:r>
            <a:endParaRPr lang="en-US"/>
          </a:p>
          <a:p xmlns:a="http://schemas.openxmlformats.org/drawingml/2006/main">
            <a:pPr>
              <a:spcAft>
                <a:spcPts val="1200"/>
              </a:spcAft>
            </a:pPr>
            <a:r>
              <a:rPr lang="en-US" sz="1900" b="1">
                <a:solidFill>
                  <a:srgbClr val="FFFFFF"/>
                </a:solidFill>
                <a:latin typeface="Calibri"/>
              </a:rPr>
              <a:t xml:space="preserve">• Result - </a:t>
            </a:r>
            <a:r>
              <a:rPr lang="en-US" sz="1900">
                <a:solidFill>
                  <a:srgbClr val="E5E7EB"/>
                </a:solidFill>
                <a:latin typeface="Calibri"/>
              </a:rPr>
              <a:t>beat FRMiner and generalized across projects - no per-project retraining needed</a:t>
            </a:r>
            <a:endParaRPr lang="en-US"/>
          </a:p>
        </p:txBody>
      </p:sp>
    </p:spTree>
  </p:cSld>
  <p:clrMapOvr xmlns:p="http://schemas.openxmlformats.org/presentationml/2006/main">
    <a:masterClrMapping xmlns:a="http://schemas.openxmlformats.org/drawingml/2006/main"/>
  </p:clrMapOvr>
</p:sld>
</file>

<file path=ppt/slides/slide23.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One command, full report</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Block rate, false positives, latency; runs in CI</a:t>
            </a:r>
          </a:p>
        </p:txBody>
      </p:sp>
      <p:graphicFrame>
        <p:nvGraphicFramePr>
          <p:cNvPr id="6" name="Table 5"/>
          <p:cNvGraphicFramePr/>
          <p:nvPr/>
        </p:nvGraphicFramePr>
        <p:xfrm>
          <a:off xmlns:a="http://schemas.openxmlformats.org/drawingml/2006/main" x="777240" y="1828800"/>
          <a:ext xmlns:a="http://schemas.openxmlformats.org/drawingml/2006/main" cx="10607040" cy="4480560"/>
        </p:xfrm>
        <a:graphic xmlns:a="http://schemas.openxmlformats.org/drawingml/2006/main">
          <a:graphicData uri="http://schemas.openxmlformats.org/drawingml/2006/table">
            <a:tbl>
              <a:tblPr firstRow="1" bandRow="1">
                <a:tableStyleId>{5C22544A-7EE6-4342-B048-85BDC9FD1C3A}</a:tableStyleId>
              </a:tblPr>
              <a:tblGrid>
                <a:gridCol w="2286000"/>
                <a:gridCol w="2103120"/>
                <a:gridCol w="2743200"/>
                <a:gridCol w="3474720"/>
              </a:tblGrid>
              <a:tr h="497840">
                <a:tc>
                  <a:txBody xmlns:a="http://schemas.openxmlformats.org/drawingml/2006/main">
                    <a:bodyPr/>
                    <a:lstStyle/>
                    <a:p>
                      <a:r>
                        <a:rPr sz="1400" b="1">
                          <a:solidFill>
                            <a:srgbClr val="FFFFFF"/>
                          </a:solidFill>
                          <a:latin typeface="Calibri"/>
                        </a:rPr>
                        <a:t>Study</a:t>
                      </a:r>
                    </a:p>
                  </a:txBody>
                  <a:tcPr>
                    <a:solidFill>
                      <a:srgbClr val="1C4263"/>
                    </a:solidFill>
                  </a:tcPr>
                </a:tc>
                <a:tc>
                  <a:txBody xmlns:a="http://schemas.openxmlformats.org/drawingml/2006/main">
                    <a:bodyPr/>
                    <a:lstStyle/>
                    <a:p>
                      <a:r>
                        <a:rPr sz="1400" b="1">
                          <a:solidFill>
                            <a:srgbClr val="FFFFFF"/>
                          </a:solidFill>
                          <a:latin typeface="Calibri"/>
                        </a:rPr>
                        <a:t>Source</a:t>
                      </a:r>
                    </a:p>
                  </a:txBody>
                  <a:tcPr>
                    <a:solidFill>
                      <a:srgbClr val="1C4263"/>
                    </a:solidFill>
                  </a:tcPr>
                </a:tc>
                <a:tc>
                  <a:txBody xmlns:a="http://schemas.openxmlformats.org/drawingml/2006/main">
                    <a:bodyPr/>
                    <a:lstStyle/>
                    <a:p>
                      <a:r>
                        <a:rPr sz="1400" b="1">
                          <a:solidFill>
                            <a:srgbClr val="FFFFFF"/>
                          </a:solidFill>
                          <a:latin typeface="Calibri"/>
                        </a:rPr>
                        <a:t>Technique</a:t>
                      </a:r>
                    </a:p>
                  </a:txBody>
                  <a:tcPr>
                    <a:solidFill>
                      <a:srgbClr val="1C4263"/>
                    </a:solidFill>
                  </a:tcPr>
                </a:tc>
                <a:tc>
                  <a:txBody xmlns:a="http://schemas.openxmlformats.org/drawingml/2006/main">
                    <a:bodyPr/>
                    <a:lstStyle/>
                    <a:p>
                      <a:r>
                        <a:rPr sz="1400" b="1">
                          <a:solidFill>
                            <a:srgbClr val="FFFFFF"/>
                          </a:solidFill>
                          <a:latin typeface="Calibri"/>
                        </a:rPr>
                        <a:t>Key result</a:t>
                      </a:r>
                    </a:p>
                  </a:txBody>
                  <a:tcPr>
                    <a:solidFill>
                      <a:srgbClr val="1C4263"/>
                    </a:solidFill>
                  </a:tcPr>
                </a:tc>
              </a:tr>
              <a:tr h="497840">
                <a:tc>
                  <a:txBody xmlns:a="http://schemas.openxmlformats.org/drawingml/2006/main">
                    <a:bodyPr/>
                    <a:lstStyle/>
                    <a:p>
                      <a:r>
                        <a:rPr sz="1300" b="0">
                          <a:solidFill>
                            <a:srgbClr val="E5E7EB"/>
                          </a:solidFill>
                          <a:latin typeface="Calibri"/>
                        </a:rPr>
                        <a:t>Huang et al.</a:t>
                      </a:r>
                    </a:p>
                  </a:txBody>
                  <a:tcPr>
                    <a:solidFill>
                      <a:srgbClr val="111C28"/>
                    </a:solidFill>
                  </a:tcPr>
                </a:tc>
                <a:tc>
                  <a:txBody xmlns:a="http://schemas.openxmlformats.org/drawingml/2006/main">
                    <a:bodyPr/>
                    <a:lstStyle/>
                    <a:p>
                      <a:r>
                        <a:rPr sz="1300" b="0">
                          <a:solidFill>
                            <a:srgbClr val="E5E7EB"/>
                          </a:solidFill>
                          <a:latin typeface="Calibri"/>
                        </a:rPr>
                        <a:t>sentences</a:t>
                      </a:r>
                    </a:p>
                  </a:txBody>
                  <a:tcPr>
                    <a:solidFill>
                      <a:srgbClr val="111C28"/>
                    </a:solidFill>
                  </a:tcPr>
                </a:tc>
                <a:tc>
                  <a:txBody xmlns:a="http://schemas.openxmlformats.org/drawingml/2006/main">
                    <a:bodyPr/>
                    <a:lstStyle/>
                    <a:p>
                      <a:r>
                        <a:rPr sz="1300" b="0">
                          <a:solidFill>
                            <a:srgbClr val="E5E7EB"/>
                          </a:solidFill>
                          <a:latin typeface="Calibri"/>
                        </a:rPr>
                        <a:t>CNN + batch norm</a:t>
                      </a:r>
                    </a:p>
                  </a:txBody>
                  <a:tcPr>
                    <a:solidFill>
                      <a:srgbClr val="111C28"/>
                    </a:solidFill>
                  </a:tcPr>
                </a:tc>
                <a:tc>
                  <a:txBody xmlns:a="http://schemas.openxmlformats.org/drawingml/2006/main">
                    <a:bodyPr/>
                    <a:lstStyle/>
                    <a:p>
                      <a:r>
                        <a:rPr sz="1300" b="0">
                          <a:solidFill>
                            <a:srgbClr val="E5E7EB"/>
                          </a:solidFill>
                          <a:latin typeface="Calibri"/>
                        </a:rPr>
                        <a:t>7 intention classes</a:t>
                      </a:r>
                    </a:p>
                  </a:txBody>
                  <a:tcPr>
                    <a:solidFill>
                      <a:srgbClr val="111C28"/>
                    </a:solidFill>
                  </a:tcPr>
                </a:tc>
              </a:tr>
              <a:tr h="497840">
                <a:tc>
                  <a:txBody xmlns:a="http://schemas.openxmlformats.org/drawingml/2006/main">
                    <a:bodyPr/>
                    <a:lstStyle/>
                    <a:p>
                      <a:r>
                        <a:rPr sz="1300" b="0">
                          <a:solidFill>
                            <a:srgbClr val="E5E7EB"/>
                          </a:solidFill>
                          <a:latin typeface="Calibri"/>
                        </a:rPr>
                        <a:t>Pudlitz et al.</a:t>
                      </a:r>
                    </a:p>
                  </a:txBody>
                  <a:tcPr>
                    <a:solidFill>
                      <a:srgbClr val="0D1622"/>
                    </a:solidFill>
                  </a:tcPr>
                </a:tc>
                <a:tc>
                  <a:txBody xmlns:a="http://schemas.openxmlformats.org/drawingml/2006/main">
                    <a:bodyPr/>
                    <a:lstStyle/>
                    <a:p>
                      <a:r>
                        <a:rPr sz="1300" b="0">
                          <a:solidFill>
                            <a:srgbClr val="E5E7EB"/>
                          </a:solidFill>
                          <a:latin typeface="Calibri"/>
                        </a:rPr>
                        <a:t>NL requirements</a:t>
                      </a:r>
                    </a:p>
                  </a:txBody>
                  <a:tcPr>
                    <a:solidFill>
                      <a:srgbClr val="0D1622"/>
                    </a:solidFill>
                  </a:tcPr>
                </a:tc>
                <a:tc>
                  <a:txBody xmlns:a="http://schemas.openxmlformats.org/drawingml/2006/main">
                    <a:bodyPr/>
                    <a:lstStyle/>
                    <a:p>
                      <a:r>
                        <a:rPr sz="1300" b="0">
                          <a:solidFill>
                            <a:srgbClr val="E5E7EB"/>
                          </a:solidFill>
                          <a:latin typeface="Calibri"/>
                        </a:rPr>
                        <a:t>NER: BiLSTM+CNN</a:t>
                      </a:r>
                    </a:p>
                  </a:txBody>
                  <a:tcPr>
                    <a:solidFill>
                      <a:srgbClr val="0D1622"/>
                    </a:solidFill>
                  </a:tcPr>
                </a:tc>
                <a:tc>
                  <a:txBody xmlns:a="http://schemas.openxmlformats.org/drawingml/2006/main">
                    <a:bodyPr/>
                    <a:lstStyle/>
                    <a:p>
                      <a:r>
                        <a:rPr sz="1300" b="0">
                          <a:solidFill>
                            <a:srgbClr val="E5E7EB"/>
                          </a:solidFill>
                          <a:latin typeface="Calibri"/>
                        </a:rPr>
                        <a:t>9h manual -&gt; 15 min, F1 0.51</a:t>
                      </a:r>
                    </a:p>
                  </a:txBody>
                  <a:tcPr>
                    <a:solidFill>
                      <a:srgbClr val="0D1622"/>
                    </a:solidFill>
                  </a:tcPr>
                </a:tc>
              </a:tr>
              <a:tr h="497840">
                <a:tc>
                  <a:txBody xmlns:a="http://schemas.openxmlformats.org/drawingml/2006/main">
                    <a:bodyPr/>
                    <a:lstStyle/>
                    <a:p>
                      <a:r>
                        <a:rPr sz="1300" b="0">
                          <a:solidFill>
                            <a:srgbClr val="E5E7EB"/>
                          </a:solidFill>
                          <a:latin typeface="Calibri"/>
                        </a:rPr>
                        <a:t>DEMAR (Li et al.)</a:t>
                      </a:r>
                    </a:p>
                  </a:txBody>
                  <a:tcPr>
                    <a:solidFill>
                      <a:srgbClr val="111C28"/>
                    </a:solidFill>
                  </a:tcPr>
                </a:tc>
                <a:tc>
                  <a:txBody xmlns:a="http://schemas.openxmlformats.org/drawingml/2006/main">
                    <a:bodyPr/>
                    <a:lstStyle/>
                    <a:p>
                      <a:r>
                        <a:rPr sz="1300" b="0">
                          <a:solidFill>
                            <a:srgbClr val="E5E7EB"/>
                          </a:solidFill>
                          <a:latin typeface="Calibri"/>
                        </a:rPr>
                        <a:t>problem reports</a:t>
                      </a:r>
                    </a:p>
                  </a:txBody>
                  <a:tcPr>
                    <a:solidFill>
                      <a:srgbClr val="111C28"/>
                    </a:solidFill>
                  </a:tcPr>
                </a:tc>
                <a:tc>
                  <a:txBody xmlns:a="http://schemas.openxmlformats.org/drawingml/2006/main">
                    <a:bodyPr/>
                    <a:lstStyle/>
                    <a:p>
                      <a:r>
                        <a:rPr sz="1300" b="0">
                          <a:solidFill>
                            <a:srgbClr val="E5E7EB"/>
                          </a:solidFill>
                          <a:latin typeface="Calibri"/>
                        </a:rPr>
                        <a:t>multi-task DL</a:t>
                      </a:r>
                    </a:p>
                  </a:txBody>
                  <a:tcPr>
                    <a:solidFill>
                      <a:srgbClr val="111C28"/>
                    </a:solidFill>
                  </a:tcPr>
                </a:tc>
                <a:tc>
                  <a:txBody xmlns:a="http://schemas.openxmlformats.org/drawingml/2006/main">
                    <a:bodyPr/>
                    <a:lstStyle/>
                    <a:p>
                      <a:r>
                        <a:rPr sz="1300" b="0">
                          <a:solidFill>
                            <a:srgbClr val="E5E7EB"/>
                          </a:solidFill>
                          <a:latin typeface="Calibri"/>
                        </a:rPr>
                        <a:t>beats single-task + priors</a:t>
                      </a:r>
                    </a:p>
                  </a:txBody>
                  <a:tcPr>
                    <a:solidFill>
                      <a:srgbClr val="111C28"/>
                    </a:solidFill>
                  </a:tcPr>
                </a:tc>
              </a:tr>
              <a:tr h="497840">
                <a:tc>
                  <a:txBody xmlns:a="http://schemas.openxmlformats.org/drawingml/2006/main">
                    <a:bodyPr/>
                    <a:lstStyle/>
                    <a:p>
                      <a:r>
                        <a:rPr sz="1300" b="0">
                          <a:solidFill>
                            <a:srgbClr val="E5E7EB"/>
                          </a:solidFill>
                          <a:latin typeface="Calibri"/>
                        </a:rPr>
                        <a:t>Caspar (Guo et al.)</a:t>
                      </a:r>
                    </a:p>
                  </a:txBody>
                  <a:tcPr>
                    <a:solidFill>
                      <a:srgbClr val="0D1622"/>
                    </a:solidFill>
                  </a:tcPr>
                </a:tc>
                <a:tc>
                  <a:txBody xmlns:a="http://schemas.openxmlformats.org/drawingml/2006/main">
                    <a:bodyPr/>
                    <a:lstStyle/>
                    <a:p>
                      <a:r>
                        <a:rPr sz="1300" b="0">
                          <a:solidFill>
                            <a:srgbClr val="E5E7EB"/>
                          </a:solidFill>
                          <a:latin typeface="Calibri"/>
                        </a:rPr>
                        <a:t>app reviews</a:t>
                      </a:r>
                    </a:p>
                  </a:txBody>
                  <a:tcPr>
                    <a:solidFill>
                      <a:srgbClr val="0D1622"/>
                    </a:solidFill>
                  </a:tcPr>
                </a:tc>
                <a:tc>
                  <a:txBody xmlns:a="http://schemas.openxmlformats.org/drawingml/2006/main">
                    <a:bodyPr/>
                    <a:lstStyle/>
                    <a:p>
                      <a:r>
                        <a:rPr sz="1300" b="0">
                          <a:solidFill>
                            <a:srgbClr val="E5E7EB"/>
                          </a:solidFill>
                          <a:latin typeface="Calibri"/>
                        </a:rPr>
                        <a:t>Bi-LSTM pipeline</a:t>
                      </a:r>
                    </a:p>
                  </a:txBody>
                  <a:tcPr>
                    <a:solidFill>
                      <a:srgbClr val="0D1622"/>
                    </a:solidFill>
                  </a:tcPr>
                </a:tc>
                <a:tc>
                  <a:txBody xmlns:a="http://schemas.openxmlformats.org/drawingml/2006/main">
                    <a:bodyPr/>
                    <a:lstStyle/>
                    <a:p>
                      <a:r>
                        <a:rPr sz="1300" b="0">
                          <a:solidFill>
                            <a:srgbClr val="E5E7EB"/>
                          </a:solidFill>
                          <a:latin typeface="Calibri"/>
                        </a:rPr>
                        <a:t>action-&gt;problem prediction</a:t>
                      </a:r>
                    </a:p>
                  </a:txBody>
                  <a:tcPr>
                    <a:solidFill>
                      <a:srgbClr val="0D1622"/>
                    </a:solidFill>
                  </a:tcPr>
                </a:tc>
              </a:tr>
              <a:tr h="497840">
                <a:tc>
                  <a:txBody xmlns:a="http://schemas.openxmlformats.org/drawingml/2006/main">
                    <a:bodyPr/>
                    <a:lstStyle/>
                    <a:p>
                      <a:r>
                        <a:rPr sz="1300" b="0">
                          <a:solidFill>
                            <a:srgbClr val="E5E7EB"/>
                          </a:solidFill>
                          <a:latin typeface="Calibri"/>
                        </a:rPr>
                        <a:t>Mekala et al.</a:t>
                      </a:r>
                    </a:p>
                  </a:txBody>
                  <a:tcPr>
                    <a:solidFill>
                      <a:srgbClr val="111C28"/>
                    </a:solidFill>
                  </a:tcPr>
                </a:tc>
                <a:tc>
                  <a:txBody xmlns:a="http://schemas.openxmlformats.org/drawingml/2006/main">
                    <a:bodyPr/>
                    <a:lstStyle/>
                    <a:p>
                      <a:r>
                        <a:rPr sz="1300" b="0">
                          <a:solidFill>
                            <a:srgbClr val="E5E7EB"/>
                          </a:solidFill>
                          <a:latin typeface="Calibri"/>
                        </a:rPr>
                        <a:t>user feedback</a:t>
                      </a:r>
                    </a:p>
                  </a:txBody>
                  <a:tcPr>
                    <a:solidFill>
                      <a:srgbClr val="111C28"/>
                    </a:solidFill>
                  </a:tcPr>
                </a:tc>
                <a:tc>
                  <a:txBody xmlns:a="http://schemas.openxmlformats.org/drawingml/2006/main">
                    <a:bodyPr/>
                    <a:lstStyle/>
                    <a:p>
                      <a:r>
                        <a:rPr sz="1300" b="0">
                          <a:solidFill>
                            <a:srgbClr val="E5E7EB"/>
                          </a:solidFill>
                          <a:latin typeface="Calibri"/>
                        </a:rPr>
                        <a:t>BERT classifier</a:t>
                      </a:r>
                    </a:p>
                  </a:txBody>
                  <a:tcPr>
                    <a:solidFill>
                      <a:srgbClr val="111C28"/>
                    </a:solidFill>
                  </a:tcPr>
                </a:tc>
                <a:tc>
                  <a:txBody xmlns:a="http://schemas.openxmlformats.org/drawingml/2006/main">
                    <a:bodyPr/>
                    <a:lstStyle/>
                    <a:p>
                      <a:r>
                        <a:rPr sz="1300" b="0">
                          <a:solidFill>
                            <a:srgbClr val="E5E7EB"/>
                          </a:solidFill>
                          <a:latin typeface="Calibri"/>
                        </a:rPr>
                        <a:t>best overall, small data</a:t>
                      </a:r>
                    </a:p>
                  </a:txBody>
                  <a:tcPr>
                    <a:solidFill>
                      <a:srgbClr val="111C28"/>
                    </a:solidFill>
                  </a:tcPr>
                </a:tc>
              </a:tr>
              <a:tr h="497840">
                <a:tc>
                  <a:txBody xmlns:a="http://schemas.openxmlformats.org/drawingml/2006/main">
                    <a:bodyPr/>
                    <a:lstStyle/>
                    <a:p>
                      <a:r>
                        <a:rPr sz="1300" b="0">
                          <a:solidFill>
                            <a:srgbClr val="E5E7EB"/>
                          </a:solidFill>
                          <a:latin typeface="Calibri"/>
                        </a:rPr>
                        <a:t>Tizard et al.</a:t>
                      </a:r>
                    </a:p>
                  </a:txBody>
                  <a:tcPr>
                    <a:solidFill>
                      <a:srgbClr val="0D1622"/>
                    </a:solidFill>
                  </a:tcPr>
                </a:tc>
                <a:tc>
                  <a:txBody xmlns:a="http://schemas.openxmlformats.org/drawingml/2006/main">
                    <a:bodyPr/>
                    <a:lstStyle/>
                    <a:p>
                      <a:r>
                        <a:rPr sz="1300" b="0">
                          <a:solidFill>
                            <a:srgbClr val="E5E7EB"/>
                          </a:solidFill>
                          <a:latin typeface="Calibri"/>
                        </a:rPr>
                        <a:t>forums/docs</a:t>
                      </a:r>
                    </a:p>
                  </a:txBody>
                  <a:tcPr>
                    <a:solidFill>
                      <a:srgbClr val="0D1622"/>
                    </a:solidFill>
                  </a:tcPr>
                </a:tc>
                <a:tc>
                  <a:txBody xmlns:a="http://schemas.openxmlformats.org/drawingml/2006/main">
                    <a:bodyPr/>
                    <a:lstStyle/>
                    <a:p>
                      <a:r>
                        <a:rPr sz="1300" b="0">
                          <a:solidFill>
                            <a:srgbClr val="E5E7EB"/>
                          </a:solidFill>
                          <a:latin typeface="Calibri"/>
                        </a:rPr>
                        <a:t>USE + clustering</a:t>
                      </a:r>
                    </a:p>
                  </a:txBody>
                  <a:tcPr>
                    <a:solidFill>
                      <a:srgbClr val="0D1622"/>
                    </a:solidFill>
                  </a:tcPr>
                </a:tc>
                <a:tc>
                  <a:txBody xmlns:a="http://schemas.openxmlformats.org/drawingml/2006/main">
                    <a:bodyPr/>
                    <a:lstStyle/>
                    <a:p>
                      <a:r>
                        <a:rPr sz="1300" b="0">
                          <a:solidFill>
                            <a:srgbClr val="E5E7EB"/>
                          </a:solidFill>
                          <a:latin typeface="Calibri"/>
                        </a:rPr>
                        <a:t>links posts-issues-docs</a:t>
                      </a:r>
                    </a:p>
                  </a:txBody>
                  <a:tcPr>
                    <a:solidFill>
                      <a:srgbClr val="0D1622"/>
                    </a:solidFill>
                  </a:tcPr>
                </a:tc>
              </a:tr>
              <a:tr h="497840">
                <a:tc>
                  <a:txBody xmlns:a="http://schemas.openxmlformats.org/drawingml/2006/main">
                    <a:bodyPr/>
                    <a:lstStyle/>
                    <a:p>
                      <a:r>
                        <a:rPr sz="1300" b="0">
                          <a:solidFill>
                            <a:srgbClr val="E5E7EB"/>
                          </a:solidFill>
                          <a:latin typeface="Calibri"/>
                        </a:rPr>
                        <a:t>FRMiner (Shi et al.)</a:t>
                      </a:r>
                    </a:p>
                  </a:txBody>
                  <a:tcPr>
                    <a:solidFill>
                      <a:srgbClr val="111C28"/>
                    </a:solidFill>
                  </a:tcPr>
                </a:tc>
                <a:tc>
                  <a:txBody xmlns:a="http://schemas.openxmlformats.org/drawingml/2006/main">
                    <a:bodyPr/>
                    <a:lstStyle/>
                    <a:p>
                      <a:r>
                        <a:rPr sz="1300" b="0">
                          <a:solidFill>
                            <a:srgbClr val="E5E7EB"/>
                          </a:solidFill>
                          <a:latin typeface="Calibri"/>
                        </a:rPr>
                        <a:t>chat</a:t>
                      </a:r>
                    </a:p>
                  </a:txBody>
                  <a:tcPr>
                    <a:solidFill>
                      <a:srgbClr val="111C28"/>
                    </a:solidFill>
                  </a:tcPr>
                </a:tc>
                <a:tc>
                  <a:txBody xmlns:a="http://schemas.openxmlformats.org/drawingml/2006/main">
                    <a:bodyPr/>
                    <a:lstStyle/>
                    <a:p>
                      <a:r>
                        <a:rPr sz="1300" b="0">
                          <a:solidFill>
                            <a:srgbClr val="E5E7EB"/>
                          </a:solidFill>
                          <a:latin typeface="Calibri"/>
                        </a:rPr>
                        <a:t>BiLSTM + Siamese</a:t>
                      </a:r>
                    </a:p>
                  </a:txBody>
                  <a:tcPr>
                    <a:solidFill>
                      <a:srgbClr val="111C28"/>
                    </a:solidFill>
                  </a:tcPr>
                </a:tc>
                <a:tc>
                  <a:txBody xmlns:a="http://schemas.openxmlformats.org/drawingml/2006/main">
                    <a:bodyPr/>
                    <a:lstStyle/>
                    <a:p>
                      <a:r>
                        <a:rPr sz="1300" b="0">
                          <a:solidFill>
                            <a:srgbClr val="E5E7EB"/>
                          </a:solidFill>
                          <a:latin typeface="Calibri"/>
                        </a:rPr>
                        <a:t>beats 6 baselines</a:t>
                      </a:r>
                    </a:p>
                  </a:txBody>
                  <a:tcPr>
                    <a:solidFill>
                      <a:srgbClr val="111C28"/>
                    </a:solidFill>
                  </a:tcPr>
                </a:tc>
              </a:tr>
              <a:tr h="497840">
                <a:tc>
                  <a:txBody xmlns:a="http://schemas.openxmlformats.org/drawingml/2006/main">
                    <a:bodyPr/>
                    <a:lstStyle/>
                    <a:p>
                      <a:r>
                        <a:rPr sz="1300" b="0">
                          <a:solidFill>
                            <a:srgbClr val="E5E7EB"/>
                          </a:solidFill>
                          <a:latin typeface="Calibri"/>
                        </a:rPr>
                        <a:t>F2CHAT (Pan et al.)</a:t>
                      </a:r>
                    </a:p>
                  </a:txBody>
                  <a:tcPr>
                    <a:solidFill>
                      <a:srgbClr val="0D1622"/>
                    </a:solidFill>
                  </a:tcPr>
                </a:tc>
                <a:tc>
                  <a:txBody xmlns:a="http://schemas.openxmlformats.org/drawingml/2006/main">
                    <a:bodyPr/>
                    <a:lstStyle/>
                    <a:p>
                      <a:r>
                        <a:rPr sz="1300" b="0">
                          <a:solidFill>
                            <a:srgbClr val="E5E7EB"/>
                          </a:solidFill>
                          <a:latin typeface="Calibri"/>
                        </a:rPr>
                        <a:t>dev chats</a:t>
                      </a:r>
                    </a:p>
                  </a:txBody>
                  <a:tcPr>
                    <a:solidFill>
                      <a:srgbClr val="0D1622"/>
                    </a:solidFill>
                  </a:tcPr>
                </a:tc>
                <a:tc>
                  <a:txBody xmlns:a="http://schemas.openxmlformats.org/drawingml/2006/main">
                    <a:bodyPr/>
                    <a:lstStyle/>
                    <a:p>
                      <a:r>
                        <a:rPr sz="1300" b="0">
                          <a:solidFill>
                            <a:srgbClr val="E5E7EB"/>
                          </a:solidFill>
                          <a:latin typeface="Calibri"/>
                        </a:rPr>
                        <a:t>hybrid features</a:t>
                      </a:r>
                    </a:p>
                  </a:txBody>
                  <a:tcPr>
                    <a:solidFill>
                      <a:srgbClr val="0D1622"/>
                    </a:solidFill>
                  </a:tcPr>
                </a:tc>
                <a:tc>
                  <a:txBody xmlns:a="http://schemas.openxmlformats.org/drawingml/2006/main">
                    <a:bodyPr/>
                    <a:lstStyle/>
                    <a:p>
                      <a:r>
                        <a:rPr sz="1300" b="0">
                          <a:solidFill>
                            <a:srgbClr val="E5E7EB"/>
                          </a:solidFill>
                          <a:latin typeface="Calibri"/>
                        </a:rPr>
                        <a:t>cross-project winner</a:t>
                      </a:r>
                    </a:p>
                  </a:txBody>
                  <a:tcPr>
                    <a:solidFill>
                      <a:srgbClr val="0D1622"/>
                    </a:solidFill>
                  </a:tcPr>
                </a:tc>
              </a:tr>
            </a:tbl>
          </a:graphicData>
        </a:graphic>
      </p:graphicFrame>
    </p:spTree>
  </p:cSld>
  <p:clrMapOvr xmlns:p="http://schemas.openxmlformats.org/presentationml/2006/main">
    <a:masterClrMapping xmlns:a="http://schemas.openxmlformats.org/drawingml/2006/main"/>
  </p:clrMapOvr>
</p:sld>
</file>

<file path=ppt/slides/slide24.xml><?xml version="1.0" encoding="utf-8"?>
<p:sld xmlns:a="http://schemas.openxmlformats.org/drawingml/2006/main" xmlns:r="http://schemas.openxmlformats.org/officeDocument/2006/relationships"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Unique where it counts</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Safety receipts, PII masking, live attack playground</a:t>
            </a:r>
          </a:p>
        </p:txBody>
      </p:sp>
      <p:sp>
        <p:nvSpPr>
          <p:cNvPr id="6" name="TextBox 5"/>
          <p:cNvSpPr txBox="1"/>
          <p:nvPr/>
        </p:nvSpPr>
        <p:spPr>
          <a:xfrm xmlns:a="http://schemas.openxmlformats.org/drawingml/2006/main">
            <a:off x="777240" y="1828800"/>
            <a:ext cx="640080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Models - </a:t>
            </a:r>
            <a:r>
              <a:rPr lang="en-US" sz="1900">
                <a:solidFill>
                  <a:srgbClr val="E5E7EB"/>
                </a:solidFill>
                <a:latin typeface="Calibri"/>
                <a:ea typeface="Calibri"/>
              </a:rPr>
              <a:t>BERT most used in DL for RE, then CNN; transformer vs other NN roughly tied (11 vs 13 papers)</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Usage split - </a:t>
            </a:r>
            <a:r>
              <a:rPr lang="en-US" sz="1900">
                <a:solidFill>
                  <a:srgbClr val="E5E7EB"/>
                </a:solidFill>
                <a:latin typeface="Calibri"/>
              </a:rPr>
              <a:t>43% train from scratch, 36% use pre-trained, 21% fine-tune</a:t>
            </a:r>
            <a:endParaRPr lang="en-US"/>
          </a:p>
          <a:p xmlns:a="http://schemas.openxmlformats.org/drawingml/2006/main">
            <a:pPr>
              <a:spcAft>
                <a:spcPts val="1200"/>
              </a:spcAft>
            </a:pPr>
            <a:r>
              <a:rPr lang="en-US" sz="1900" b="1">
                <a:solidFill>
                  <a:srgbClr val="FFFFFF"/>
                </a:solidFill>
                <a:latin typeface="Calibri"/>
              </a:rPr>
              <a:t xml:space="preserve">• Performance - </a:t>
            </a:r>
            <a:r>
              <a:rPr lang="en-US" sz="1900">
                <a:solidFill>
                  <a:srgbClr val="E5E7EB"/>
                </a:solidFill>
                <a:latin typeface="Calibri"/>
              </a:rPr>
              <a:t>typical precision / recall above 80%, F1 above 75%</a:t>
            </a:r>
            <a:endParaRPr lang="en-US"/>
          </a:p>
          <a:p xmlns:a="http://schemas.openxmlformats.org/drawingml/2006/main">
            <a:pPr>
              <a:spcAft>
                <a:spcPts val="1200"/>
              </a:spcAft>
            </a:pPr>
            <a:r>
              <a:rPr lang="en-US" sz="1900" b="1">
                <a:solidFill>
                  <a:srgbClr val="FFFFFF"/>
                </a:solidFill>
                <a:latin typeface="Calibri"/>
              </a:rPr>
              <a:t xml:space="preserve">• Data - </a:t>
            </a:r>
            <a:r>
              <a:rPr lang="en-US" sz="1900">
                <a:solidFill>
                  <a:srgbClr val="E5E7EB"/>
                </a:solidFill>
                <a:latin typeface="Calibri"/>
              </a:rPr>
              <a:t>elicitation uses the largest RE datasets - open-source reviews and chats; 61% of RE studies stay under 6,000 entries</a:t>
            </a:r>
            <a:endParaRPr lang="en-US"/>
          </a:p>
          <a:p xmlns:a="http://schemas.openxmlformats.org/drawingml/2006/main">
            <a:pPr>
              <a:spcAft>
                <a:spcPts val="1200"/>
              </a:spcAft>
            </a:pPr>
            <a:r>
              <a:rPr lang="en-US" sz="1900" b="1">
                <a:solidFill>
                  <a:srgbClr val="FFFFFF"/>
                </a:solidFill>
                <a:latin typeface="Calibri"/>
              </a:rPr>
              <a:t xml:space="preserve">• Size is not destiny - </a:t>
            </a:r>
            <a:r>
              <a:rPr lang="en-US" sz="1900">
                <a:solidFill>
                  <a:srgbClr val="E5E7EB"/>
                </a:solidFill>
                <a:latin typeface="Calibri"/>
              </a:rPr>
              <a:t>387 entries reached 90%+ recall; 2,959 entries only 62.8% F1</a:t>
            </a:r>
            <a:endParaRPr lang="en-US"/>
          </a:p>
        </p:txBody>
      </p:sp>
      <p:pic>
        <p:nvPicPr>
          <p:cNvPr id="7" name="Picture 6" descr="paper_fig2_dl_model_usage.png"/>
          <p:cNvPicPr>
            <a:picLocks xmlns:a="http://schemas.openxmlformats.org/drawingml/2006/main" noChangeAspect="1"/>
          </p:cNvPicPr>
          <p:nvPr/>
        </p:nvPicPr>
        <p:blipFill>
          <a:blip xmlns:r="http://schemas.openxmlformats.org/officeDocument/2006/relationships" xmlns:a="http://schemas.openxmlformats.org/drawingml/2006/main" r:embed="R0dd9994f7d7e442d"/>
          <a:stretch xmlns:a="http://schemas.openxmlformats.org/drawingml/2006/main">
            <a:fillRect/>
          </a:stretch>
        </p:blipFill>
        <p:spPr>
          <a:xfrm xmlns:a="http://schemas.openxmlformats.org/drawingml/2006/main">
            <a:off x="7543800" y="1920240"/>
            <a:ext cx="3749039" cy="2524105"/>
          </a:xfrm>
          <a:prstGeom xmlns:a="http://schemas.openxmlformats.org/drawingml/2006/main" prst="rect">
            <a:avLst/>
          </a:prstGeom>
        </p:spPr>
      </p:pic>
      <p:sp>
        <p:nvSpPr>
          <p:cNvPr id="8" name="TextBox 7"/>
          <p:cNvSpPr txBox="1"/>
          <p:nvPr/>
        </p:nvSpPr>
        <p:spPr>
          <a:xfrm xmlns:a="http://schemas.openxmlformats.org/drawingml/2006/main">
            <a:off x="7315200" y="4617720"/>
            <a:ext cx="4206240" cy="6400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r>
              <a:rPr sz="1200" i="1">
                <a:solidFill>
                  <a:srgbClr val="9CA3AF"/>
                </a:solidFill>
                <a:latin typeface="Calibri"/>
              </a:rPr>
              <a:t>Every answer ships its verdict, rules and latency</a:t>
            </a:r>
          </a:p>
        </p:txBody>
      </p:sp>
    </p:spTree>
  </p:cSld>
  <p:clrMapOvr xmlns:p="http://schemas.openxmlformats.org/presentationml/2006/main">
    <a:masterClrMapping xmlns:a="http://schemas.openxmlformats.org/drawingml/2006/main"/>
  </p:clrMapOvr>
</p:sld>
</file>

<file path=ppt/slides/slide25.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Milestones</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316736"/>
            <a:ext cx="106070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1400" b="0">
                <a:solidFill>
                  <a:srgbClr val="9CA3AF"/>
                </a:solidFill>
                <a:latin typeface="Calibri"/>
              </a:rPr>
              <a:t>Before midterm</a:t>
            </a:r>
          </a:p>
        </p:txBody>
      </p:sp>
      <p:sp>
        <p:nvSpPr>
          <p:cNvPr id="6" name="TextBox 5"/>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Private data - </a:t>
            </a:r>
            <a:r>
              <a:rPr lang="en-US" sz="1900">
                <a:solidFill>
                  <a:srgbClr val="E5E7EB"/>
                </a:solidFill>
                <a:latin typeface="Calibri"/>
                <a:ea typeface="Calibri"/>
              </a:rPr>
              <a:t>requirements are confidential business assets - public datasets stay small, unlike open-source code</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Wildly diverse representations - </a:t>
            </a:r>
            <a:r>
              <a:rPr lang="en-US" sz="1900">
                <a:solidFill>
                  <a:srgbClr val="E5E7EB"/>
                </a:solidFill>
                <a:latin typeface="Calibri"/>
              </a:rPr>
              <a:t>UML, SysML, user stories, plain text; 47% of practitioners unaware of standards like ISO 29148 / EARS</a:t>
            </a:r>
            <a:endParaRPr lang="en-US"/>
          </a:p>
          <a:p xmlns:a="http://schemas.openxmlformats.org/drawingml/2006/main">
            <a:pPr>
              <a:spcAft>
                <a:spcPts val="1200"/>
              </a:spcAft>
            </a:pPr>
            <a:r>
              <a:rPr lang="en-US" sz="1900" b="1">
                <a:solidFill>
                  <a:srgbClr val="FFFFFF"/>
                </a:solidFill>
                <a:latin typeface="Calibri"/>
              </a:rPr>
              <a:t xml:space="preserve">• Undocumented expertise - </a:t>
            </a:r>
            <a:r>
              <a:rPr lang="en-US" sz="1900">
                <a:solidFill>
                  <a:srgbClr val="E5E7EB"/>
                </a:solidFill>
                <a:latin typeface="Calibri"/>
              </a:rPr>
              <a:t>what makes requirements good (correctness, consistency, completeness - the 3Cs) is not formally defined anywhere, so models cannot learn it</a:t>
            </a:r>
            <a:endParaRPr lang="en-US"/>
          </a:p>
        </p:txBody>
      </p:sp>
    </p:spTree>
  </p:cSld>
  <p:clrMapOvr xmlns:p="http://schemas.openxmlformats.org/presentationml/2006/main">
    <a:masterClrMapping xmlns:a="http://schemas.openxmlformats.org/drawingml/2006/main"/>
  </p:clrMapOvr>
</p:sld>
</file>

<file path=ppt/slides/slide26.xml><?xml version="1.0" encoding="utf-8"?>
<p:sld xmlns:a="http://schemas.openxmlformats.org/drawingml/2006/main" xmlns:p="http://schemas.openxmlformats.org/presentationml/2006/main">
  <p:cSld xmlns:p="http://schemas.openxmlformats.org/presentationml/2006/main">
    <p:spTree>
      <p:nvGrpSpPr>
        <p:cNvPr id="1" name=""/>
        <p:cNvGrpSpPr/>
        <p:nvPr/>
      </p:nvGrpSpPr>
      <p:grpSpPr/>
      <p:sp>
        <p:nvSpPr>
          <p:cNvPr id="2" name="Rectangle 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A0F1A"/>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3" name="TextBox 2"/>
          <p:cNvSpPr txBox="1"/>
          <p:nvPr/>
        </p:nvSpPr>
        <p:spPr>
          <a:xfrm xmlns:a="http://schemas.openxmlformats.org/drawingml/2006/main">
            <a:off x="777240" y="457200"/>
            <a:ext cx="1060704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Aft>
                <a:spcPts val="600"/>
              </a:spcAft>
            </a:pPr>
            <a:r>
              <a:rPr sz="3000" b="1">
                <a:solidFill>
                  <a:srgbClr val="FFFFFF"/>
                </a:solidFill>
                <a:latin typeface="Calibri"/>
              </a:rPr>
              <a:t>Takeaways</a:t>
            </a:r>
          </a:p>
        </p:txBody>
      </p:sp>
      <p:sp>
        <p:nvSpPr>
          <p:cNvPr id="4" name="Rectangle 3"/>
          <p:cNvSpPr/>
          <p:nvPr/>
        </p:nvSpPr>
        <p:spPr>
          <a:xfrm xmlns:a="http://schemas.openxmlformats.org/drawingml/2006/main">
            <a:off x="822960" y="1207008"/>
            <a:ext cx="2011680" cy="38100"/>
          </a:xfrm>
          <a:prstGeom xmlns:a="http://schemas.openxmlformats.org/drawingml/2006/main" prst="rect">
            <a:avLst/>
          </a:prstGeom>
          <a:solidFill xmlns:a="http://schemas.openxmlformats.org/drawingml/2006/main">
            <a:srgbClr val="38BDF8"/>
          </a:solidFill>
          <a:ln xmlns:a="http://schemas.openxmlformats.org/drawingml/2006/main">
            <a:noFill/>
          </a:ln>
        </p:spPr>
        <p:style xmlns:p="http://schemas.openxmlformats.org/presentationml/2006/main">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p>
        </p:txBody>
      </p:sp>
      <p:sp>
        <p:nvSpPr>
          <p:cNvPr id="5" name="TextBox 4"/>
          <p:cNvSpPr txBox="1"/>
          <p:nvPr/>
        </p:nvSpPr>
        <p:spPr>
          <a:xfrm xmlns:a="http://schemas.openxmlformats.org/drawingml/2006/main">
            <a:off x="777240" y="1828800"/>
            <a:ext cx="10607040" cy="4663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200"/>
              </a:spcAft>
            </a:pPr>
            <a:r>
              <a:rPr lang="en-US" sz="1900" b="1">
                <a:solidFill>
                  <a:srgbClr val="FFFFFF"/>
                </a:solidFill>
                <a:latin typeface="Calibri"/>
                <a:ea typeface="Calibri"/>
              </a:rPr>
              <a:t xml:space="preserve">• Elicitation today - </a:t>
            </a:r>
            <a:r>
              <a:rPr lang="en-US" sz="1900">
                <a:solidFill>
                  <a:srgbClr val="E5E7EB"/>
                </a:solidFill>
                <a:latin typeface="Calibri"/>
                <a:ea typeface="Calibri"/>
              </a:rPr>
              <a:t>finding requirements where users already talk</a:t>
            </a:r>
            <a:endParaRPr lang="en-US" sz="1900">
              <a:latin typeface="Calibri"/>
              <a:ea typeface="Calibri"/>
            </a:endParaRPr>
          </a:p>
          <a:p xmlns:a="http://schemas.openxmlformats.org/drawingml/2006/main">
            <a:pPr>
              <a:spcAft>
                <a:spcPts val="1200"/>
              </a:spcAft>
            </a:pPr>
            <a:r>
              <a:rPr lang="en-US" sz="1900" b="1">
                <a:solidFill>
                  <a:srgbClr val="FFFFFF"/>
                </a:solidFill>
                <a:latin typeface="Calibri"/>
              </a:rPr>
              <a:t xml:space="preserve">• The recipe - </a:t>
            </a:r>
            <a:r>
              <a:rPr lang="en-US" sz="1900">
                <a:solidFill>
                  <a:srgbClr val="E5E7EB"/>
                </a:solidFill>
                <a:latin typeface="Calibri"/>
              </a:rPr>
              <a:t>collect -&gt; classify / extract -&gt; synthesize</a:t>
            </a:r>
            <a:endParaRPr lang="en-US"/>
          </a:p>
          <a:p xmlns:a="http://schemas.openxmlformats.org/drawingml/2006/main">
            <a:pPr>
              <a:spcAft>
                <a:spcPts val="1200"/>
              </a:spcAft>
            </a:pPr>
            <a:r>
              <a:rPr lang="en-US" sz="1900" b="1">
                <a:solidFill>
                  <a:srgbClr val="FFFFFF"/>
                </a:solidFill>
                <a:latin typeface="Calibri"/>
              </a:rPr>
              <a:t xml:space="preserve">• Model evolution - </a:t>
            </a:r>
            <a:r>
              <a:rPr lang="en-US" sz="1900">
                <a:solidFill>
                  <a:srgbClr val="E5E7EB"/>
                </a:solidFill>
                <a:latin typeface="Calibri"/>
              </a:rPr>
              <a:t>CNN -&gt; BiLSTM / Siamese -&gt; BERT; pre-training wins when data is scarce</a:t>
            </a:r>
            <a:endParaRPr lang="en-US"/>
          </a:p>
          <a:p xmlns:a="http://schemas.openxmlformats.org/drawingml/2006/main">
            <a:pPr>
              <a:spcAft>
                <a:spcPts val="1200"/>
              </a:spcAft>
            </a:pPr>
            <a:r>
              <a:rPr lang="en-US" sz="1900" b="1">
                <a:solidFill>
                  <a:srgbClr val="FFFFFF"/>
                </a:solidFill>
                <a:latin typeface="Calibri"/>
              </a:rPr>
              <a:t xml:space="preserve">• Open problems - </a:t>
            </a:r>
            <a:r>
              <a:rPr lang="en-US" sz="1900">
                <a:solidFill>
                  <a:srgbClr val="E5E7EB"/>
                </a:solidFill>
                <a:latin typeface="Calibri"/>
              </a:rPr>
              <a:t>private data, no standard representation, undocumented expertise</a:t>
            </a:r>
            <a:endParaRPr lang="en-US"/>
          </a:p>
          <a:p xmlns:a="http://schemas.openxmlformats.org/drawingml/2006/main">
            <a:pPr>
              <a:spcAft>
                <a:spcPts val="1200"/>
              </a:spcAft>
            </a:pPr>
            <a:r>
              <a:rPr lang="en-US" sz="1900" b="0">
                <a:solidFill>
                  <a:srgbClr val="E5E7EB"/>
                </a:solidFill>
                <a:latin typeface="Calibri"/>
              </a:rPr>
              <a:t xml:space="preserve">• </a:t>
            </a:r>
            <a:r>
              <a:rPr lang="en-US" sz="1900">
                <a:solidFill>
                  <a:srgbClr val="E5E7EB"/>
                </a:solidFill>
                <a:latin typeface="Calibri"/>
              </a:rPr>
              <a:t>Questions?</a:t>
            </a:r>
            <a:endParaRPr lang="en-US"/>
          </a:p>
        </p:txBody>
      </p:sp>
    </p:spTree>
  </p:cSld>
  <p:clrMapOvr xmlns:p="http://schemas.openxmlformats.org/presentationml/2006/main">
    <a:masterClrMapping xmlns:a="http://schemas.openxmlformats.org/drawingml/2006/main"/>
  </p:clrMapOvr>
</p:sld>
</file>

<file path=ppt/theme/theme1.xml><?xml version="1.0" encoding="utf-8"?>
<a:theme xmlns:a="http://schemas.openxmlformats.org/drawingml/2006/main" name="Office Theme">
  <a:themeElements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xmlns:a="http://schemas.openxmlformats.org/drawingml/2006/main"/>
</a:theme>
</file>

<file path=docProps/app.xml><?xml version="1.0" encoding="utf-8"?>
<Properties xmlns="http://schemas.openxmlformats.org/officeDocument/2006/extended-properties" xmlns:vt="http://schemas.openxmlformats.org/officeDocument/2006/docPropsVTypes">
  <TotalTime>12</TotalTime>
  <Words>2592</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subject/>
  <dc:creator/>
  <keywords/>
  <dc:description>generated using python-pptx</dc:description>
  <lastModifiedBy>Mahd</lastModifiedBy>
  <revision>3</revision>
  <dcterms:created xsi:type="dcterms:W3CDTF">2013-01-27T09:14:16.0000000Z</dcterms:created>
  <dcterms:modified xsi:type="dcterms:W3CDTF">2026-09-02T02:36:31.8905096Z</dcterms:modified>
  <category/>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1.0.146</vt:lpwstr>
  </op:property>
  <op:property fmtid="{D5CDD505-2E9C-101B-9397-08002B2CF9AE}" pid="3" name="OfficeCLI.LastModified">
    <vt:lpwstr xmlns:vt="http://schemas.openxmlformats.org/officeDocument/2006/docPropsVTypes">2026-09-02T02:43:23Z</vt:lpwstr>
  </op:property>
</op:Properties>
</file>