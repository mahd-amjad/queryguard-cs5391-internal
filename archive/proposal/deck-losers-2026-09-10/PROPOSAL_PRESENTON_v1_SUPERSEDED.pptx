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Welcome everyone. We are the CS 5391 project team of four members, and today we present our course project proposal, QueryGuard. Large language models can generate powerful SQL, but also unsafe statements. QueryGuard is a transparent, deterministic gate that validates model-generated SQL before execution, supported by an evaluation corpus and continuous integration.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the threat landscape. Natural-language database queries are convenient, but the generated SQL reaches the database without review, and real CVEs prove the impact. Vanna AI enabled remote code execution at CVSS 8.1, LlamaIndex NL2SQL exploitation reached 9.8, and an AnythingLLM plugin leaked personal data at 7.7. Research found 96 percent of manual prompt-injection attacks succeed against undefended pipelines, so the problem is systemic, not theoretical.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contrasts current defenses with the gap QueryGuard will address. Model-side fixes like StruQ and SecAlign demand retraining or fine-tuning, while generic guardrails such as NVIDIA NeMo Guardrails and Guardrails AI act as schema-unaware, opaque classifiers. Neither provides a transparent, deterministic, SQL-specific check between the LLM and the database, which is precisely where QueryGuard is planned to operate at the application layer.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QueryGuard sits at the application layer as a transparent, deterministic validation gate. Requests flow through five stages: intake, generation by an LLM or a deterministic mock, a gate applying ten deterministic rules, a read-only executor that accepts only gate-passed queries, and an append-only audit log. Stress that the trust boundary is architectural, not advisory: safety is enforced by construction, not by prompt instructions.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Every query that passes through the gate gets an explicit verdict of PASS or BLOCK, along with the specific rule that fired. The planned behavior relies on ten deterministic, inspectable rules so outcomes never feel arbitrary. Sensitive columns can be masked instead of blocked outright, and missing row limits can be suggested. This gives developers and reviewers readable decisions with clear evidence for every query the gate evaluates.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breaks the project into four parallel workstreams and assigns one owner to each across the four-member team. The validation gate rule engine carries the largest share at forty percent, reflecting its technical complexity, while the evaluation harness, web application, and documentation each receive twenty percent. Each workstream maps directly to a numbered SRS requirement, keeping scope, ownership, and deliverables aligned.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the evaluation plan, which is planned work that has not yet been executed. The corpus contains thirty attack and thirty benign prompts drawn from six published attack classes. Four targets are set: full blocking of destructive classes, false positives under ten percent reported openly, p95 added latency under fifty milliseconds, and zero silent regressions, enforced by running the corpus in continuous integration so a broken rule fails the build.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frames the course context and technical foundation. The project runs in four milestones: proposal and presentation, an SRS whose numbered requirements map to test cases, implementation, and a demo before the final. The stack pairs Python and Flask with a SQLite database containing deliberately sensitive columns, pytest and GitHub Actions for continuous integration, and a deterministic mock LLM mode with an optional live LLM. Introduce the four roles and their milestone mappings.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png"/><Relationship Id="rId6" Type="http://schemas.openxmlformats.org/officeDocument/2006/relationships/image" Target="../media/Presenton_Native_Image_5.png"/><Relationship Id="rId7" Type="http://schemas.openxmlformats.org/officeDocument/2006/relationships/notesSlide" Target="../notesSlides/notesSlide1.xml"/><Relationship Id="rId8" Type="http://schemas.openxmlformats.org/officeDocument/2006/relationships/image" Target="../media/presenton-native-svg-1-1.svg"/><Relationship Id="rId9" Type="http://schemas.openxmlformats.org/officeDocument/2006/relationships/image" Target="../media/presenton-native-svg-2-1.svg"/><Relationship Id="rId10" Type="http://schemas.openxmlformats.org/officeDocument/2006/relationships/image" Target="../media/presenton-native-svg-3-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7.png"/><Relationship Id="rId4" Type="http://schemas.openxmlformats.org/officeDocument/2006/relationships/image" Target="../media/Presenton_Native_Image_8.png"/><Relationship Id="rId6" Type="http://schemas.openxmlformats.org/officeDocument/2006/relationships/image" Target="../media/Presenton_Raster_Image_10.png"/><Relationship Id="rId8" Type="http://schemas.openxmlformats.org/officeDocument/2006/relationships/image" Target="../media/Presenton_Native_Image_12.png"/><Relationship Id="rId10" Type="http://schemas.openxmlformats.org/officeDocument/2006/relationships/image" Target="../media/Presenton_Native_Image_15.png"/><Relationship Id="rId11" Type="http://schemas.openxmlformats.org/officeDocument/2006/relationships/image" Target="../media/Presenton_Native_Image_18.png"/><Relationship Id="rId12" Type="http://schemas.openxmlformats.org/officeDocument/2006/relationships/notesSlide" Target="../notesSlides/notesSlide2.xml"/><Relationship Id="rId13" Type="http://schemas.openxmlformats.org/officeDocument/2006/relationships/image" Target="../media/presenton-native-svg-4-2.svg"/><Relationship Id="rId14" Type="http://schemas.openxmlformats.org/officeDocument/2006/relationships/image" Target="../media/presenton-native-svg-5-2.svg"/><Relationship Id="rId15" Type="http://schemas.openxmlformats.org/officeDocument/2006/relationships/image" Target="../media/presenton-native-svg-6-2.svg"/><Relationship Id="rId16" Type="http://schemas.openxmlformats.org/officeDocument/2006/relationships/image" Target="../media/presenton-native-svg-7-2.svg"/><Relationship Id="rId17" Type="http://schemas.openxmlformats.org/officeDocument/2006/relationships/image" Target="../media/presenton-native-svg-8-2.svg"/><Relationship Id="rId18" Type="http://schemas.openxmlformats.org/officeDocument/2006/relationships/image" Target="../media/presenton-native-svg-9-2.svg"/><Relationship Id="rId19" Type="http://schemas.openxmlformats.org/officeDocument/2006/relationships/image" Target="../media/presenton-native-svg-10-2.svg"/><Relationship Id="rId20" Type="http://schemas.openxmlformats.org/officeDocument/2006/relationships/image" Target="../media/presenton-native-svg-1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21.png"/><Relationship Id="rId5" Type="http://schemas.openxmlformats.org/officeDocument/2006/relationships/image" Target="../media/Presenton_Native_Image_22.png"/><Relationship Id="rId6" Type="http://schemas.openxmlformats.org/officeDocument/2006/relationships/image" Target="../media/Presenton_Native_Image_24.png"/><Relationship Id="rId7" Type="http://schemas.openxmlformats.org/officeDocument/2006/relationships/notesSlide" Target="../notesSlides/notesSlide3.xml"/><Relationship Id="rId8" Type="http://schemas.openxmlformats.org/officeDocument/2006/relationships/image" Target="../media/presenton-native-svg-12-3.svg"/><Relationship Id="rId9" Type="http://schemas.openxmlformats.org/officeDocument/2006/relationships/image" Target="../media/presenton-native-svg-13-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26.png"/><Relationship Id="rId5" Type="http://schemas.openxmlformats.org/officeDocument/2006/relationships/image" Target="../media/Presenton_Raster_Image_28.png"/><Relationship Id="rId6" Type="http://schemas.openxmlformats.org/officeDocument/2006/relationships/notesSlide" Target="../notesSlides/notesSlide4.xml"/><Relationship Id="rId7" Type="http://schemas.openxmlformats.org/officeDocument/2006/relationships/image" Target="../media/presenton-native-svg-14-4.svg"/><Relationship Id="rId8" Type="http://schemas.openxmlformats.org/officeDocument/2006/relationships/image" Target="../media/presenton-native-svg-15-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30.png"/><Relationship Id="rId4" Type="http://schemas.openxmlformats.org/officeDocument/2006/relationships/image" Target="../media/Presenton_Native_Image_31.png"/><Relationship Id="rId6" Type="http://schemas.openxmlformats.org/officeDocument/2006/relationships/image" Target="../media/Presenton_Raster_Image_33.png"/><Relationship Id="rId7" Type="http://schemas.openxmlformats.org/officeDocument/2006/relationships/notesSlide" Target="../notesSlides/notesSlide5.xml"/><Relationship Id="rId8" Type="http://schemas.openxmlformats.org/officeDocument/2006/relationships/image" Target="../media/presenton-native-svg-16-5.svg"/><Relationship Id="rId9" Type="http://schemas.openxmlformats.org/officeDocument/2006/relationships/image" Target="../media/presenton-native-svg-17-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36.png"/><Relationship Id="rId5" Type="http://schemas.openxmlformats.org/officeDocument/2006/relationships/image" Target="../media/Presenton_Native_Image_37.png"/><Relationship Id="rId6" Type="http://schemas.openxmlformats.org/officeDocument/2006/relationships/image" Target="../media/Presenton_Native_Image_38.png"/><Relationship Id="rId7" Type="http://schemas.openxmlformats.org/officeDocument/2006/relationships/image" Target="../media/Presenton_Native_Image_39.png"/><Relationship Id="rId8" Type="http://schemas.openxmlformats.org/officeDocument/2006/relationships/notesSlide" Target="../notesSlides/notesSlide6.xml"/><Relationship Id="rId9" Type="http://schemas.openxmlformats.org/officeDocument/2006/relationships/image" Target="../media/presenton-native-svg-18-6.svg"/><Relationship Id="rId10" Type="http://schemas.openxmlformats.org/officeDocument/2006/relationships/image" Target="../media/presenton-native-svg-19-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21.png"/><Relationship Id="rId4" Type="http://schemas.openxmlformats.org/officeDocument/2006/relationships/image" Target="../media/Presenton_Native_Image_22.png"/><Relationship Id="rId8" Type="http://schemas.openxmlformats.org/officeDocument/2006/relationships/notesSlide" Target="../notesSlides/notesSlide7.xml"/><Relationship Id="rId9" Type="http://schemas.openxmlformats.org/officeDocument/2006/relationships/image" Target="../media/presenton-native-svg-20-7.svg"/><Relationship Id="rId10" Type="http://schemas.openxmlformats.org/officeDocument/2006/relationships/image" Target="../media/presenton-native-svg-21-7.svg"/><Relationship Id="rId11" Type="http://schemas.openxmlformats.org/officeDocument/2006/relationships/image" Target="../media/presenton-native-svg-22-7.svg"/><Relationship Id="rId12" Type="http://schemas.openxmlformats.org/officeDocument/2006/relationships/image" Target="../media/presenton-native-svg-23-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47.png"/><Relationship Id="rId6" Type="http://schemas.openxmlformats.org/officeDocument/2006/relationships/image" Target="../media/Presenton_Raster_Image_50.png"/><Relationship Id="rId8" Type="http://schemas.openxmlformats.org/officeDocument/2006/relationships/notesSlide" Target="../notesSlides/notesSlide8.xml"/><Relationship Id="rId9" Type="http://schemas.openxmlformats.org/officeDocument/2006/relationships/image" Target="../media/presenton-native-svg-24-8.svg"/><Relationship Id="rId10" Type="http://schemas.openxmlformats.org/officeDocument/2006/relationships/image" Target="../media/presenton-native-svg-25-8.svg"/><Relationship Id="rId11" Type="http://schemas.openxmlformats.org/officeDocument/2006/relationships/image" Target="../media/presenton-native-svg-26-8.svg"/><Relationship Id="rId12" Type="http://schemas.openxmlformats.org/officeDocument/2006/relationships/image" Target="../media/presenton-native-svg-27-8.svg"/><Relationship Id="rId13" Type="http://schemas.openxmlformats.org/officeDocument/2006/relationships/image" Target="../media/presenton-native-svg-28-8.svg"/><Relationship Id="rId14" Type="http://schemas.openxmlformats.org/officeDocument/2006/relationships/image" Target="../media/presenton-native-svg-29-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SVG Image 1"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01" name="Presenton Native SVG Image 2" descr=""/>
          <p:cNvPicPr/>
          <p:nvPr/>
        </p:nvPicPr>
        <p:blipFill>
          <a:blip>
            <a:extLst>
              <a:ext uri="{96DAC541-7B7A-43D3-8B79-37D633B846F1}">
                <asvg:svgBlip xmlns:asvg="http://schemas.microsoft.com/office/drawing/2016/SVG/main" r:embed="rId9"/>
              </a:ext>
            </a:extLst>
          </a:blip>
          <a:stretch>
            <a:fillRect/>
          </a:stretch>
        </p:blipFill>
        <p:spPr>
          <a:xfrm>
            <a:off x="838200" y="1981200"/>
            <a:ext cx="4876800" cy="3048000"/>
          </a:xfrm>
          <a:prstGeom prst="rect">
            <a:avLst/>
          </a:prstGeom>
        </p:spPr>
      </p:pic>
      <p:pic>
        <p:nvPicPr>
          <p:cNvPr id="102" name="Presenton Raster Image 3" descr=""/>
          <p:cNvPicPr/>
          <p:nvPr/>
        </p:nvPicPr>
        <p:blipFill>
          <a:blip r:embed="rId4" cstate="none"/>
          <a:stretch>
            <a:fillRect/>
          </a:stretch>
        </p:blipFill>
        <p:spPr>
          <a:xfrm>
            <a:off x="838200" y="1981200"/>
            <a:ext cx="4876800" cy="3048000"/>
          </a:xfrm>
          <a:prstGeom prst="rect">
            <a:avLst/>
          </a:prstGeom>
        </p:spPr>
      </p:pic>
      <p:sp>
        <p:nvSpPr>
          <p:cNvPr id="2" name="Shape 2"/>
          <p:cNvSpPr/>
          <p:nvPr/>
        </p:nvSpPr>
        <p:spPr>
          <a:xfrm>
            <a:off x="6400800" y="1552575"/>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Introducing QueryGuard</a:t>
            </a:r>
            <a:endParaRPr lang="en-US"/>
          </a:p>
        </p:txBody>
      </p:sp>
      <p:pic>
        <p:nvPicPr>
          <p:cNvPr id="103" name="Presenton Native SVG Image 4" descr=""/>
          <p:cNvPicPr/>
          <p:nvPr/>
        </p:nvPicPr>
        <p:blipFill>
          <a:blip>
            <a:extLst>
              <a:ext uri="{96DAC541-7B7A-43D3-8B79-37D633B846F1}">
                <asvg:svgBlip xmlns:asvg="http://schemas.microsoft.com/office/drawing/2016/SVG/main" r:embed="rId10"/>
              </a:ext>
            </a:extLst>
          </a:blip>
          <a:stretch>
            <a:fillRect/>
          </a:stretch>
        </p:blipFill>
        <p:spPr>
          <a:xfrm>
            <a:off x="6400800" y="2924175"/>
            <a:ext cx="762000" cy="38100"/>
          </a:xfrm>
          <a:prstGeom prst="rect">
            <a:avLst/>
          </a:prstGeom>
        </p:spPr>
      </p:pic>
      <p:sp>
        <p:nvSpPr>
          <p:cNvPr id="3" name="Shape 3"/>
          <p:cNvSpPr/>
          <p:nvPr/>
        </p:nvSpPr>
        <p:spPr>
          <a:xfrm>
            <a:off x="6400800" y="3190875"/>
            <a:ext cx="5067300" cy="1298525"/>
          </a:xfrm>
          <a:prstGeom prst="rect">
            <a:avLst/>
          </a:prstGeom>
          <a:noFill/>
        </p:spPr>
        <p:txBody>
          <a:bodyPr anchor="t" wrap="square" tIns="0" bIns="0" lIns="0" rIns="0">
            <a:normAutofit/>
          </a:bodyPr>
          <a:lstStyle/>
          <a:p>
            <a:pPr algn="l">
              <a:lnSpc>
                <a:spcPts val="2046"/>
              </a:lnSpc>
              <a:buNone/>
            </a:pPr>
            <a:r>
              <a:rPr sz="1650" b="0" i="0">
                <a:solidFill>
                  <a:srgbClr val="4B5563"/>
                </a:solidFill>
                <a:latin typeface="Poppins"/>
                <a:ea typeface="Poppins"/>
              </a:rPr>
              <a:t xml:space="preserve">A transparent, deterministic validation gate that checks </a:t>
            </a:r>
            <a:r>
              <a:rPr sz="1650" b="1" i="0">
                <a:solidFill>
                  <a:srgbClr val="4B5563"/>
                </a:solidFill>
                <a:latin typeface="Poppins"/>
                <a:ea typeface="Poppins"/>
              </a:rPr>
              <a:t>LLM-generated SQL</a:t>
            </a:r>
            <a:r>
              <a:rPr sz="1650" b="0" i="0">
                <a:solidFill>
                  <a:srgbClr val="4B5563"/>
                </a:solidFill>
                <a:latin typeface="Poppins"/>
                <a:ea typeface="Poppins"/>
              </a:rPr>
              <a:t xml:space="preserve"> before it reaches the database, paired with an evaluation corpus and continuous integration to keep the gate honest over time.</a:t>
            </a:r>
            <a:endParaRPr lang="en-US"/>
          </a:p>
        </p:txBody>
      </p:sp>
      <p:pic>
        <p:nvPicPr>
          <p:cNvPr id="104" name="Presenton Native Image 5" descr=""/>
          <p:cNvPicPr/>
          <p:nvPr/>
        </p:nvPicPr>
        <p:blipFill>
          <a:blip r:embed="rId6" cstate="none"/>
          <a:stretch>
            <a:fillRect/>
          </a:stretch>
        </p:blipFill>
        <p:spPr>
          <a:xfrm>
            <a:off x="6400800" y="4486275"/>
            <a:ext cx="5029200" cy="971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5" name="Presenton Native SVG Image 6" descr=""/>
          <p:cNvPicPr/>
          <p:nvPr/>
        </p:nvPicPr>
        <p:blipFill>
          <a:blip>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pic>
        <p:nvPicPr>
          <p:cNvPr id="106" name="Presenton Native Image 7" descr=""/>
          <p:cNvPicPr/>
          <p:nvPr/>
        </p:nvPicPr>
        <p:blipFill>
          <a:blip r:embed="rId3" cstate="none"/>
          <a:stretch>
            <a:fillRect/>
          </a:stretch>
        </p:blipFill>
        <p:spPr>
          <a:xfrm>
            <a:off x="762000" y="1333500"/>
            <a:ext cx="5029200" cy="5219700"/>
          </a:xfrm>
          <a:prstGeom prst="rect">
            <a:avLst/>
          </a:prstGeom>
        </p:spPr>
      </p:pic>
      <p:pic>
        <p:nvPicPr>
          <p:cNvPr id="107" name="Presenton Native Image 8" descr=""/>
          <p:cNvPicPr/>
          <p:nvPr/>
        </p:nvPicPr>
        <p:blipFill>
          <a:blip r:embed="rId4" cstate="none"/>
          <a:stretch>
            <a:fillRect/>
          </a:stretch>
        </p:blipFill>
        <p:spPr>
          <a:xfrm>
            <a:off x="5257800" y="2095500"/>
            <a:ext cx="228600" cy="228600"/>
          </a:xfrm>
          <a:prstGeom prst="rect">
            <a:avLst/>
          </a:prstGeom>
        </p:spPr>
      </p:pic>
      <p:sp>
        <p:nvSpPr>
          <p:cNvPr id="4" name="Shape 4"/>
          <p:cNvSpPr/>
          <p:nvPr/>
        </p:nvSpPr>
        <p:spPr>
          <a:xfrm>
            <a:off x="762000" y="457200"/>
            <a:ext cx="107061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Unchecked LLM-Generated SQL</a:t>
            </a:r>
            <a:endParaRPr lang="en-US"/>
          </a:p>
        </p:txBody>
      </p:sp>
      <p:pic>
        <p:nvPicPr>
          <p:cNvPr id="108" name="Presenton Native SVG Image 9" descr=""/>
          <p:cNvPicPr/>
          <p:nvPr/>
        </p:nvPicPr>
        <p:blipFill>
          <a:blip>
            <a:extLst>
              <a:ext uri="{96DAC541-7B7A-43D3-8B79-37D633B846F1}">
                <asvg:svgBlip xmlns:asvg="http://schemas.microsoft.com/office/drawing/2016/SVG/main" r:embed="rId14"/>
              </a:ext>
            </a:extLst>
          </a:blip>
          <a:stretch>
            <a:fillRect/>
          </a:stretch>
        </p:blipFill>
        <p:spPr>
          <a:xfrm>
            <a:off x="1143000" y="2419350"/>
            <a:ext cx="4267200" cy="3048000"/>
          </a:xfrm>
          <a:prstGeom prst="rect">
            <a:avLst/>
          </a:prstGeom>
        </p:spPr>
      </p:pic>
      <p:pic>
        <p:nvPicPr>
          <p:cNvPr id="109" name="Presenton Raster Image 10" descr=""/>
          <p:cNvPicPr/>
          <p:nvPr/>
        </p:nvPicPr>
        <p:blipFill>
          <a:blip r:embed="rId6" cstate="none"/>
          <a:stretch>
            <a:fillRect/>
          </a:stretch>
        </p:blipFill>
        <p:spPr>
          <a:xfrm>
            <a:off x="1143000" y="2419350"/>
            <a:ext cx="4267200" cy="3048000"/>
          </a:xfrm>
          <a:prstGeom prst="rect">
            <a:avLst/>
          </a:prstGeom>
        </p:spPr>
      </p:pic>
      <p:sp>
        <p:nvSpPr>
          <p:cNvPr id="5" name="Shape 5"/>
          <p:cNvSpPr/>
          <p:nvPr/>
        </p:nvSpPr>
        <p:spPr>
          <a:xfrm>
            <a:off x="6400800" y="1368921"/>
            <a:ext cx="5067300" cy="817066"/>
          </a:xfrm>
          <a:prstGeom prst="rect">
            <a:avLst/>
          </a:prstGeom>
          <a:noFill/>
        </p:spPr>
        <p:txBody>
          <a:bodyPr anchor="t" wrap="square" tIns="0" bIns="0" lIns="0" rIns="0">
            <a:normAutofit/>
          </a:bodyPr>
          <a:lstStyle/>
          <a:p>
            <a:pPr algn="l">
              <a:lnSpc>
                <a:spcPts val="2145"/>
              </a:lnSpc>
              <a:buNone/>
            </a:pPr>
            <a:r>
              <a:rPr sz="1650" b="0" i="0">
                <a:solidFill>
                  <a:srgbClr val="4B5563"/>
                </a:solidFill>
                <a:latin typeface="Poppins"/>
                <a:ea typeface="Poppins"/>
              </a:rPr>
              <a:t xml:space="preserve">Frameworks pass LLM-generated SQL straight to the database; </a:t>
            </a:r>
            <a:r>
              <a:rPr sz="1650" b="1" i="0">
                <a:solidFill>
                  <a:srgbClr val="4B5563"/>
                </a:solidFill>
                <a:latin typeface="Poppins"/>
                <a:ea typeface="Poppins"/>
              </a:rPr>
              <a:t>96 percent</a:t>
            </a:r>
            <a:r>
              <a:rPr sz="1650" b="0" i="0">
                <a:solidFill>
                  <a:srgbClr val="4B5563"/>
                </a:solidFill>
                <a:latin typeface="Poppins"/>
                <a:ea typeface="Poppins"/>
              </a:rPr>
              <a:t xml:space="preserve"> of prompt-injection attacks succeed.</a:t>
            </a:r>
            <a:endParaRPr lang="en-US"/>
          </a:p>
        </p:txBody>
      </p:sp>
      <p:pic>
        <p:nvPicPr>
          <p:cNvPr id="110" name="Presenton Native SVG Image 11" descr=""/>
          <p:cNvPicPr/>
          <p:nvPr/>
        </p:nvPicPr>
        <p:blipFill>
          <a:blip>
            <a:extLst>
              <a:ext uri="{96DAC541-7B7A-43D3-8B79-37D633B846F1}">
                <asvg:svgBlip xmlns:asvg="http://schemas.microsoft.com/office/drawing/2016/SVG/main" r:embed="rId15"/>
              </a:ext>
            </a:extLst>
          </a:blip>
          <a:stretch>
            <a:fillRect/>
          </a:stretch>
        </p:blipFill>
        <p:spPr>
          <a:xfrm>
            <a:off x="6400800" y="2511921"/>
            <a:ext cx="457200" cy="457200"/>
          </a:xfrm>
          <a:prstGeom prst="rect">
            <a:avLst/>
          </a:prstGeom>
        </p:spPr>
      </p:pic>
      <p:pic>
        <p:nvPicPr>
          <p:cNvPr id="111" name="Presenton Native Image 12" descr=""/>
          <p:cNvPicPr/>
          <p:nvPr/>
        </p:nvPicPr>
        <p:blipFill>
          <a:blip r:embed="rId8" cstate="none"/>
          <a:stretch>
            <a:fillRect/>
          </a:stretch>
        </p:blipFill>
        <p:spPr>
          <a:xfrm>
            <a:off x="6515100" y="2629049"/>
            <a:ext cx="228600" cy="228600"/>
          </a:xfrm>
          <a:prstGeom prst="rect">
            <a:avLst/>
          </a:prstGeom>
        </p:spPr>
      </p:pic>
      <p:sp>
        <p:nvSpPr>
          <p:cNvPr id="6" name="Shape 6"/>
          <p:cNvSpPr/>
          <p:nvPr/>
        </p:nvSpPr>
        <p:spPr>
          <a:xfrm>
            <a:off x="7010400" y="251192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Vanna AI RCE (CVE-2024-5565)</a:t>
            </a:r>
            <a:endParaRPr lang="en-US"/>
          </a:p>
        </p:txBody>
      </p:sp>
      <p:pic>
        <p:nvPicPr>
          <p:cNvPr id="112" name="Presenton Native SVG Image 13" descr=""/>
          <p:cNvPicPr/>
          <p:nvPr/>
        </p:nvPicPr>
        <p:blipFill>
          <a:blip>
            <a:extLst>
              <a:ext uri="{96DAC541-7B7A-43D3-8B79-37D633B846F1}">
                <asvg:svgBlip xmlns:asvg="http://schemas.microsoft.com/office/drawing/2016/SVG/main" r:embed="rId16"/>
              </a:ext>
            </a:extLst>
          </a:blip>
          <a:stretch>
            <a:fillRect/>
          </a:stretch>
        </p:blipFill>
        <p:spPr>
          <a:xfrm>
            <a:off x="7010400" y="2854821"/>
            <a:ext cx="457200" cy="19050"/>
          </a:xfrm>
          <a:prstGeom prst="rect">
            <a:avLst/>
          </a:prstGeom>
        </p:spPr>
      </p:pic>
      <p:sp>
        <p:nvSpPr>
          <p:cNvPr id="7" name="Shape 7"/>
          <p:cNvSpPr/>
          <p:nvPr/>
        </p:nvSpPr>
        <p:spPr>
          <a:xfrm>
            <a:off x="7010400" y="2988171"/>
            <a:ext cx="44577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Remote code execution through crafted queries, carrying a CVSS score of 8.1.</a:t>
            </a:r>
            <a:endParaRPr lang="en-US"/>
          </a:p>
        </p:txBody>
      </p:sp>
      <p:pic>
        <p:nvPicPr>
          <p:cNvPr id="113" name="Presenton Native SVG Image 14" descr=""/>
          <p:cNvPicPr/>
          <p:nvPr/>
        </p:nvPicPr>
        <p:blipFill>
          <a:blip>
            <a:extLst>
              <a:ext uri="{96DAC541-7B7A-43D3-8B79-37D633B846F1}">
                <asvg:svgBlip xmlns:asvg="http://schemas.microsoft.com/office/drawing/2016/SVG/main" r:embed="rId17"/>
              </a:ext>
            </a:extLst>
          </a:blip>
          <a:stretch>
            <a:fillRect/>
          </a:stretch>
        </p:blipFill>
        <p:spPr>
          <a:xfrm>
            <a:off x="6400800" y="3712071"/>
            <a:ext cx="457200" cy="457200"/>
          </a:xfrm>
          <a:prstGeom prst="rect">
            <a:avLst/>
          </a:prstGeom>
        </p:spPr>
      </p:pic>
      <p:pic>
        <p:nvPicPr>
          <p:cNvPr id="114" name="Presenton Native Image 15" descr=""/>
          <p:cNvPicPr/>
          <p:nvPr/>
        </p:nvPicPr>
        <p:blipFill>
          <a:blip r:embed="rId10" cstate="none"/>
          <a:stretch>
            <a:fillRect/>
          </a:stretch>
        </p:blipFill>
        <p:spPr>
          <a:xfrm>
            <a:off x="6515100" y="3829199"/>
            <a:ext cx="228600" cy="228600"/>
          </a:xfrm>
          <a:prstGeom prst="rect">
            <a:avLst/>
          </a:prstGeom>
        </p:spPr>
      </p:pic>
      <p:sp>
        <p:nvSpPr>
          <p:cNvPr id="8" name="Shape 8"/>
          <p:cNvSpPr/>
          <p:nvPr/>
        </p:nvSpPr>
        <p:spPr>
          <a:xfrm>
            <a:off x="7010400" y="371207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LlamaIndex NL2SQL (CVE-2025-1793)</a:t>
            </a:r>
            <a:endParaRPr lang="en-US"/>
          </a:p>
        </p:txBody>
      </p:sp>
      <p:pic>
        <p:nvPicPr>
          <p:cNvPr id="115" name="Presenton Native SVG Image 16" descr=""/>
          <p:cNvPicPr/>
          <p:nvPr/>
        </p:nvPicPr>
        <p:blipFill>
          <a:blip>
            <a:extLst>
              <a:ext uri="{96DAC541-7B7A-43D3-8B79-37D633B846F1}">
                <asvg:svgBlip xmlns:asvg="http://schemas.microsoft.com/office/drawing/2016/SVG/main" r:embed="rId18"/>
              </a:ext>
            </a:extLst>
          </a:blip>
          <a:stretch>
            <a:fillRect/>
          </a:stretch>
        </p:blipFill>
        <p:spPr>
          <a:xfrm>
            <a:off x="7010400" y="4054971"/>
            <a:ext cx="457200" cy="19050"/>
          </a:xfrm>
          <a:prstGeom prst="rect">
            <a:avLst/>
          </a:prstGeom>
        </p:spPr>
      </p:pic>
      <p:sp>
        <p:nvSpPr>
          <p:cNvPr id="9" name="Shape 9"/>
          <p:cNvSpPr/>
          <p:nvPr/>
        </p:nvSpPr>
        <p:spPr>
          <a:xfrm>
            <a:off x="7010400" y="4188321"/>
            <a:ext cx="44577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 xml:space="preserve">The NL2SQL engine was exploited to run attacker queries, rated </a:t>
            </a:r>
            <a:r>
              <a:rPr sz="1500" b="1" i="0">
                <a:solidFill>
                  <a:srgbClr val="4B5563"/>
                </a:solidFill>
                <a:latin typeface="Poppins"/>
                <a:ea typeface="Poppins"/>
              </a:rPr>
              <a:t>CVSS 9.8</a:t>
            </a:r>
            <a:r>
              <a:rPr sz="1500" b="0" i="0">
                <a:solidFill>
                  <a:srgbClr val="4B5563"/>
                </a:solidFill>
                <a:latin typeface="Poppins"/>
                <a:ea typeface="Poppins"/>
              </a:rPr>
              <a:t>, the most severe.</a:t>
            </a:r>
            <a:endParaRPr lang="en-US"/>
          </a:p>
        </p:txBody>
      </p:sp>
      <p:pic>
        <p:nvPicPr>
          <p:cNvPr id="116" name="Presenton Native SVG Image 17" descr=""/>
          <p:cNvPicPr/>
          <p:nvPr/>
        </p:nvPicPr>
        <p:blipFill>
          <a:blip>
            <a:extLst>
              <a:ext uri="{96DAC541-7B7A-43D3-8B79-37D633B846F1}">
                <asvg:svgBlip xmlns:asvg="http://schemas.microsoft.com/office/drawing/2016/SVG/main" r:embed="rId19"/>
              </a:ext>
            </a:extLst>
          </a:blip>
          <a:stretch>
            <a:fillRect/>
          </a:stretch>
        </p:blipFill>
        <p:spPr>
          <a:xfrm>
            <a:off x="6400800" y="4912221"/>
            <a:ext cx="457200" cy="457200"/>
          </a:xfrm>
          <a:prstGeom prst="rect">
            <a:avLst/>
          </a:prstGeom>
        </p:spPr>
      </p:pic>
      <p:pic>
        <p:nvPicPr>
          <p:cNvPr id="117" name="Presenton Native Image 18" descr=""/>
          <p:cNvPicPr/>
          <p:nvPr/>
        </p:nvPicPr>
        <p:blipFill>
          <a:blip r:embed="rId11" cstate="none"/>
          <a:stretch>
            <a:fillRect/>
          </a:stretch>
        </p:blipFill>
        <p:spPr>
          <a:xfrm>
            <a:off x="6515100" y="5029349"/>
            <a:ext cx="228600" cy="228600"/>
          </a:xfrm>
          <a:prstGeom prst="rect">
            <a:avLst/>
          </a:prstGeom>
        </p:spPr>
      </p:pic>
      <p:sp>
        <p:nvSpPr>
          <p:cNvPr id="10" name="Shape 10"/>
          <p:cNvSpPr/>
          <p:nvPr/>
        </p:nvSpPr>
        <p:spPr>
          <a:xfrm>
            <a:off x="7010400" y="4912221"/>
            <a:ext cx="4457700" cy="255984"/>
          </a:xfrm>
          <a:prstGeom prst="rect">
            <a:avLst/>
          </a:prstGeom>
          <a:noFill/>
        </p:spPr>
        <p:txBody>
          <a:bodyPr anchor="t" wrap="square" tIns="0" bIns="0" lIns="0" rIns="0">
            <a:normAutofit/>
          </a:bodyPr>
          <a:lstStyle/>
          <a:p>
            <a:pPr algn="l">
              <a:lnSpc>
                <a:spcPts val="2016"/>
              </a:lnSpc>
              <a:buNone/>
            </a:pPr>
            <a:r>
              <a:rPr sz="1800" b="0" i="0">
                <a:solidFill>
                  <a:srgbClr val="111827"/>
                </a:solidFill>
                <a:latin typeface="Poppins"/>
                <a:ea typeface="Poppins"/>
              </a:rPr>
              <a:t>AnythingLLM Plugin (CVE-2026-32628)</a:t>
            </a:r>
            <a:endParaRPr lang="en-US"/>
          </a:p>
        </p:txBody>
      </p:sp>
      <p:pic>
        <p:nvPicPr>
          <p:cNvPr id="118" name="Presenton Native SVG Image 19" descr=""/>
          <p:cNvPicPr/>
          <p:nvPr/>
        </p:nvPicPr>
        <p:blipFill>
          <a:blip>
            <a:extLst>
              <a:ext uri="{96DAC541-7B7A-43D3-8B79-37D633B846F1}">
                <asvg:svgBlip xmlns:asvg="http://schemas.microsoft.com/office/drawing/2016/SVG/main" r:embed="rId20"/>
              </a:ext>
            </a:extLst>
          </a:blip>
          <a:stretch>
            <a:fillRect/>
          </a:stretch>
        </p:blipFill>
        <p:spPr>
          <a:xfrm>
            <a:off x="7010400" y="5255121"/>
            <a:ext cx="457200" cy="19050"/>
          </a:xfrm>
          <a:prstGeom prst="rect">
            <a:avLst/>
          </a:prstGeom>
        </p:spPr>
      </p:pic>
      <p:sp>
        <p:nvSpPr>
          <p:cNvPr id="11" name="Shape 11"/>
          <p:cNvSpPr/>
          <p:nvPr/>
        </p:nvSpPr>
        <p:spPr>
          <a:xfrm>
            <a:off x="7010400" y="5388471"/>
            <a:ext cx="4457700" cy="49530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The SQL agent plugin allowed personal data extraction, scored CVSS 7.7.</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9" name="Presenton Native SVG Image 20"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20" name="Presenton Native Image 21" descr=""/>
          <p:cNvPicPr/>
          <p:nvPr/>
        </p:nvPicPr>
        <p:blipFill>
          <a:blip r:embed="rId4" cstate="none"/>
          <a:stretch>
            <a:fillRect/>
          </a:stretch>
        </p:blipFill>
        <p:spPr>
          <a:xfrm>
            <a:off x="0" y="0"/>
            <a:ext cx="2438400" cy="6858000"/>
          </a:xfrm>
          <a:prstGeom prst="rect">
            <a:avLst/>
          </a:prstGeom>
        </p:spPr>
      </p:pic>
      <p:pic>
        <p:nvPicPr>
          <p:cNvPr id="121" name="Presenton Native Image 22" descr=""/>
          <p:cNvPicPr/>
          <p:nvPr/>
        </p:nvPicPr>
        <p:blipFill>
          <a:blip r:embed="rId5" cstate="none"/>
          <a:stretch>
            <a:fillRect/>
          </a:stretch>
        </p:blipFill>
        <p:spPr>
          <a:xfrm>
            <a:off x="9753600" y="0"/>
            <a:ext cx="2438400" cy="6858000"/>
          </a:xfrm>
          <a:prstGeom prst="rect">
            <a:avLst/>
          </a:prstGeom>
        </p:spPr>
      </p:pic>
      <p:sp>
        <p:nvSpPr>
          <p:cNvPr id="12" name="Shape 12"/>
          <p:cNvSpPr/>
          <p:nvPr/>
        </p:nvSpPr>
        <p:spPr>
          <a:xfrm>
            <a:off x="762000" y="514350"/>
            <a:ext cx="10706100" cy="457200"/>
          </a:xfrm>
          <a:prstGeom prst="rect">
            <a:avLst/>
          </a:prstGeom>
          <a:noFill/>
        </p:spPr>
        <p:txBody>
          <a:bodyPr anchor="t" wrap="square" tIns="0" bIns="0" lIns="0" rIns="0">
            <a:normAutofit/>
          </a:bodyPr>
          <a:lstStyle/>
          <a:p>
            <a:pPr algn="ctr">
              <a:lnSpc>
                <a:spcPts val="3600"/>
              </a:lnSpc>
              <a:buNone/>
            </a:pPr>
            <a:r>
              <a:rPr sz="4500" b="1" i="0">
                <a:solidFill>
                  <a:srgbClr val="111827"/>
                </a:solidFill>
                <a:latin typeface="Poppins"/>
                <a:ea typeface="Poppins"/>
              </a:rPr>
              <a:t xml:space="preserve">Defenses </a:t>
            </a:r>
            <a:r>
              <a:rPr sz="4500" b="1" i="0">
                <a:solidFill>
                  <a:srgbClr val="111827"/>
                </a:solidFill>
                <a:latin typeface="Poppins"/>
                <a:ea typeface="Poppins"/>
              </a:rPr>
              <a:t>&amp;</a:t>
            </a:r>
            <a:r>
              <a:rPr sz="4500" b="1" i="0">
                <a:solidFill>
                  <a:srgbClr val="111827"/>
                </a:solidFill>
                <a:latin typeface="Poppins"/>
                <a:ea typeface="Poppins"/>
              </a:rPr>
              <a:t xml:space="preserve"> Gaps</a:t>
            </a:r>
            <a:endParaRPr lang="en-US"/>
          </a:p>
        </p:txBody>
      </p:sp>
      <p:pic>
        <p:nvPicPr>
          <p:cNvPr id="122" name="Presenton Native SVG Image 23" descr=""/>
          <p:cNvPicPr/>
          <p:nvPr/>
        </p:nvPicPr>
        <p:blipFill>
          <a:blip>
            <a:extLst>
              <a:ext uri="{96DAC541-7B7A-43D3-8B79-37D633B846F1}">
                <asvg:svgBlip xmlns:asvg="http://schemas.microsoft.com/office/drawing/2016/SVG/main" r:embed="rId9"/>
              </a:ext>
            </a:extLst>
          </a:blip>
          <a:stretch>
            <a:fillRect/>
          </a:stretch>
        </p:blipFill>
        <p:spPr>
          <a:xfrm>
            <a:off x="5715000" y="1181100"/>
            <a:ext cx="762000" cy="38100"/>
          </a:xfrm>
          <a:prstGeom prst="rect">
            <a:avLst/>
          </a:prstGeom>
        </p:spPr>
      </p:pic>
      <p:pic>
        <p:nvPicPr>
          <p:cNvPr id="123" name="Presenton Native Image 24" descr=""/>
          <p:cNvPicPr/>
          <p:nvPr/>
        </p:nvPicPr>
        <p:blipFill>
          <a:blip r:embed="rId6" cstate="none"/>
          <a:stretch>
            <a:fillRect/>
          </a:stretch>
        </p:blipFill>
        <p:spPr>
          <a:xfrm>
            <a:off x="1828800" y="2305050"/>
            <a:ext cx="8534400" cy="2714625"/>
          </a:xfrm>
          <a:prstGeom prst="rect">
            <a:avLst/>
          </a:prstGeom>
        </p:spPr>
      </p:pic>
      <p:sp>
        <p:nvSpPr>
          <p:cNvPr id="13" name="Shape 13"/>
          <p:cNvSpPr/>
          <p:nvPr/>
        </p:nvSpPr>
        <p:spPr>
          <a:xfrm>
            <a:off x="1828800" y="5981700"/>
            <a:ext cx="8572500" cy="685800"/>
          </a:xfrm>
          <a:prstGeom prst="rect">
            <a:avLst/>
          </a:prstGeom>
          <a:noFill/>
        </p:spPr>
        <p:txBody>
          <a:bodyPr anchor="t" wrap="square" tIns="0" bIns="0" lIns="0" rIns="0">
            <a:normAutofit/>
          </a:bodyPr>
          <a:lstStyle/>
          <a:p>
            <a:pPr algn="ctr">
              <a:lnSpc>
                <a:spcPts val="1800"/>
              </a:lnSpc>
              <a:buNone/>
            </a:pPr>
            <a:r>
              <a:rPr sz="1500" b="0" i="0">
                <a:solidFill>
                  <a:srgbClr val="4B5563"/>
                </a:solidFill>
                <a:latin typeface="Poppins"/>
                <a:ea typeface="Poppins"/>
              </a:rPr>
              <a:t>The missing piece is a transparent, deterministic, SQL-specific check sitting between the LLM and the database. QueryGuard is planned to fill exactly that gap at the application layer.</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4" name="Presenton Native SVG Image 25"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25" name="Presenton Native Image 26" descr=""/>
          <p:cNvPicPr/>
          <p:nvPr/>
        </p:nvPicPr>
        <p:blipFill>
          <a:blip r:embed="rId3" cstate="none"/>
          <a:stretch>
            <a:fillRect/>
          </a:stretch>
        </p:blipFill>
        <p:spPr>
          <a:xfrm>
            <a:off x="0" y="6096000"/>
            <a:ext cx="12192000" cy="762000"/>
          </a:xfrm>
          <a:prstGeom prst="rect">
            <a:avLst/>
          </a:prstGeom>
        </p:spPr>
      </p:pic>
      <p:sp>
        <p:nvSpPr>
          <p:cNvPr id="14" name="Shape 14"/>
          <p:cNvSpPr/>
          <p:nvPr/>
        </p:nvSpPr>
        <p:spPr>
          <a:xfrm>
            <a:off x="762000" y="457200"/>
            <a:ext cx="73533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Five-Stage Pipeline</a:t>
            </a:r>
            <a:endParaRPr lang="en-US"/>
          </a:p>
        </p:txBody>
      </p:sp>
      <p:pic>
        <p:nvPicPr>
          <p:cNvPr id="126" name="Presenton Native SVG Image 27" descr=""/>
          <p:cNvPicPr/>
          <p:nvPr/>
        </p:nvPicPr>
        <p:blipFill>
          <a:blip>
            <a:extLst>
              <a:ext uri="{96DAC541-7B7A-43D3-8B79-37D633B846F1}">
                <asvg:svgBlip xmlns:asvg="http://schemas.microsoft.com/office/drawing/2016/SVG/main" r:embed="rId8"/>
              </a:ext>
            </a:extLst>
          </a:blip>
          <a:stretch>
            <a:fillRect/>
          </a:stretch>
        </p:blipFill>
        <p:spPr>
          <a:xfrm>
            <a:off x="762000" y="1181100"/>
            <a:ext cx="914400" cy="38100"/>
          </a:xfrm>
          <a:prstGeom prst="rect">
            <a:avLst/>
          </a:prstGeom>
        </p:spPr>
      </p:pic>
      <p:pic>
        <p:nvPicPr>
          <p:cNvPr id="127" name="Presenton Raster Image 28" descr=""/>
          <p:cNvPicPr/>
          <p:nvPr/>
        </p:nvPicPr>
        <p:blipFill>
          <a:blip r:embed="rId5" cstate="none"/>
          <a:stretch>
            <a:fillRect/>
          </a:stretch>
        </p:blipFill>
        <p:spPr>
          <a:xfrm>
            <a:off x="8382000" y="457200"/>
            <a:ext cx="3048000" cy="1828800"/>
          </a:xfrm>
          <a:prstGeom prst="rect">
            <a:avLst/>
          </a:prstGeom>
        </p:spPr>
      </p:pic>
      <p:sp>
        <p:nvSpPr>
          <p:cNvPr id="15" name="Shape 15"/>
          <p:cNvSpPr/>
          <p:nvPr/>
        </p:nvSpPr>
        <p:spPr>
          <a:xfrm>
            <a:off x="762000" y="2590800"/>
            <a:ext cx="51435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1</a:t>
            </a:r>
            <a:endParaRPr lang="en-US"/>
          </a:p>
        </p:txBody>
      </p:sp>
      <p:sp>
        <p:nvSpPr>
          <p:cNvPr id="16" name="Shape 16"/>
          <p:cNvSpPr/>
          <p:nvPr/>
        </p:nvSpPr>
        <p:spPr>
          <a:xfrm>
            <a:off x="1381125" y="2667000"/>
            <a:ext cx="460057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Request Intake</a:t>
            </a:r>
            <a:endParaRPr lang="en-US"/>
          </a:p>
        </p:txBody>
      </p:sp>
      <p:sp>
        <p:nvSpPr>
          <p:cNvPr id="17" name="Shape 17"/>
          <p:cNvSpPr/>
          <p:nvPr/>
        </p:nvSpPr>
        <p:spPr>
          <a:xfrm>
            <a:off x="1381125" y="3086100"/>
            <a:ext cx="4600575"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The user request enters the pipeline and is captured for processing by the QueryGuard application layer.</a:t>
            </a:r>
            <a:endParaRPr lang="en-US"/>
          </a:p>
        </p:txBody>
      </p:sp>
      <p:sp>
        <p:nvSpPr>
          <p:cNvPr id="18" name="Shape 18"/>
          <p:cNvSpPr/>
          <p:nvPr/>
        </p:nvSpPr>
        <p:spPr>
          <a:xfrm>
            <a:off x="6162675" y="2590800"/>
            <a:ext cx="600075"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2</a:t>
            </a:r>
            <a:endParaRPr lang="en-US"/>
          </a:p>
        </p:txBody>
      </p:sp>
      <p:sp>
        <p:nvSpPr>
          <p:cNvPr id="19" name="Shape 19"/>
          <p:cNvSpPr/>
          <p:nvPr/>
        </p:nvSpPr>
        <p:spPr>
          <a:xfrm>
            <a:off x="6877050" y="2667000"/>
            <a:ext cx="450532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LLM Generator</a:t>
            </a:r>
            <a:endParaRPr lang="en-US"/>
          </a:p>
        </p:txBody>
      </p:sp>
      <p:sp>
        <p:nvSpPr>
          <p:cNvPr id="20" name="Shape 20"/>
          <p:cNvSpPr/>
          <p:nvPr/>
        </p:nvSpPr>
        <p:spPr>
          <a:xfrm>
            <a:off x="6877050" y="3086100"/>
            <a:ext cx="4505325"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A large language model, or a deterministic mock, produces a candidate query without touching the database.</a:t>
            </a:r>
            <a:endParaRPr lang="en-US"/>
          </a:p>
        </p:txBody>
      </p:sp>
      <p:sp>
        <p:nvSpPr>
          <p:cNvPr id="21" name="Shape 21"/>
          <p:cNvSpPr/>
          <p:nvPr/>
        </p:nvSpPr>
        <p:spPr>
          <a:xfrm>
            <a:off x="762000" y="3914775"/>
            <a:ext cx="6096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3</a:t>
            </a:r>
            <a:endParaRPr lang="en-US"/>
          </a:p>
        </p:txBody>
      </p:sp>
      <p:sp>
        <p:nvSpPr>
          <p:cNvPr id="22" name="Shape 22"/>
          <p:cNvSpPr/>
          <p:nvPr/>
        </p:nvSpPr>
        <p:spPr>
          <a:xfrm>
            <a:off x="1485900" y="3990975"/>
            <a:ext cx="44958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Validation Gate</a:t>
            </a:r>
            <a:endParaRPr lang="en-US"/>
          </a:p>
        </p:txBody>
      </p:sp>
      <p:sp>
        <p:nvSpPr>
          <p:cNvPr id="23" name="Shape 23"/>
          <p:cNvSpPr/>
          <p:nvPr/>
        </p:nvSpPr>
        <p:spPr>
          <a:xfrm>
            <a:off x="1485900" y="4410075"/>
            <a:ext cx="44958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Ten deterministic rules inspect the query before it is allowed to proceed anywhere near the datastore.</a:t>
            </a:r>
            <a:endParaRPr lang="en-US"/>
          </a:p>
        </p:txBody>
      </p:sp>
      <p:sp>
        <p:nvSpPr>
          <p:cNvPr id="24" name="Shape 24"/>
          <p:cNvSpPr/>
          <p:nvPr/>
        </p:nvSpPr>
        <p:spPr>
          <a:xfrm>
            <a:off x="6162675" y="3914775"/>
            <a:ext cx="6477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4</a:t>
            </a:r>
            <a:endParaRPr lang="en-US"/>
          </a:p>
        </p:txBody>
      </p:sp>
      <p:sp>
        <p:nvSpPr>
          <p:cNvPr id="25" name="Shape 25"/>
          <p:cNvSpPr/>
          <p:nvPr/>
        </p:nvSpPr>
        <p:spPr>
          <a:xfrm>
            <a:off x="6924675" y="3990975"/>
            <a:ext cx="44577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ReadOnly Executor</a:t>
            </a:r>
            <a:endParaRPr lang="en-US"/>
          </a:p>
        </p:txBody>
      </p:sp>
      <p:sp>
        <p:nvSpPr>
          <p:cNvPr id="26" name="Shape 26"/>
          <p:cNvSpPr/>
          <p:nvPr/>
        </p:nvSpPr>
        <p:spPr>
          <a:xfrm>
            <a:off x="6924675" y="4410075"/>
            <a:ext cx="44577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Executes only queries that passed the gate, holding strictly read-only permissions against the data store.</a:t>
            </a:r>
            <a:endParaRPr lang="en-US"/>
          </a:p>
        </p:txBody>
      </p:sp>
      <p:sp>
        <p:nvSpPr>
          <p:cNvPr id="27" name="Shape 27"/>
          <p:cNvSpPr/>
          <p:nvPr/>
        </p:nvSpPr>
        <p:spPr>
          <a:xfrm>
            <a:off x="762000" y="5238750"/>
            <a:ext cx="6477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5</a:t>
            </a:r>
            <a:endParaRPr lang="en-US"/>
          </a:p>
        </p:txBody>
      </p:sp>
      <p:sp>
        <p:nvSpPr>
          <p:cNvPr id="28" name="Shape 28"/>
          <p:cNvSpPr/>
          <p:nvPr/>
        </p:nvSpPr>
        <p:spPr>
          <a:xfrm>
            <a:off x="1524000" y="5314950"/>
            <a:ext cx="44577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Audit Log</a:t>
            </a:r>
            <a:endParaRPr lang="en-US"/>
          </a:p>
        </p:txBody>
      </p:sp>
      <p:sp>
        <p:nvSpPr>
          <p:cNvPr id="29" name="Shape 29"/>
          <p:cNvSpPr/>
          <p:nvPr/>
        </p:nvSpPr>
        <p:spPr>
          <a:xfrm>
            <a:off x="1524000" y="5734050"/>
            <a:ext cx="44577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Every decision is recorded in an append-only audit log, making the full trail transparent and reviewable.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8" name="Presenton Native SVG Image 29"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29" name="Presenton Native Image 30" descr=""/>
          <p:cNvPicPr/>
          <p:nvPr/>
        </p:nvPicPr>
        <p:blipFill>
          <a:blip r:embed="rId3" cstate="none"/>
          <a:stretch>
            <a:fillRect/>
          </a:stretch>
        </p:blipFill>
        <p:spPr>
          <a:xfrm>
            <a:off x="0" y="5029200"/>
            <a:ext cx="1828800" cy="1828800"/>
          </a:xfrm>
          <a:prstGeom prst="rect">
            <a:avLst/>
          </a:prstGeom>
        </p:spPr>
      </p:pic>
      <p:pic>
        <p:nvPicPr>
          <p:cNvPr id="130" name="Presenton Native Image 31" descr=""/>
          <p:cNvPicPr/>
          <p:nvPr/>
        </p:nvPicPr>
        <p:blipFill>
          <a:blip r:embed="rId4" cstate="none"/>
          <a:stretch>
            <a:fillRect/>
          </a:stretch>
        </p:blipFill>
        <p:spPr>
          <a:xfrm>
            <a:off x="9753600" y="0"/>
            <a:ext cx="2438400" cy="2438400"/>
          </a:xfrm>
          <a:prstGeom prst="rect">
            <a:avLst/>
          </a:prstGeom>
        </p:spPr>
      </p:pic>
      <p:pic>
        <p:nvPicPr>
          <p:cNvPr id="131" name="Presenton Native SVG Image 32" descr=""/>
          <p:cNvPicPr/>
          <p:nvPr/>
        </p:nvPicPr>
        <p:blipFill>
          <a:blip>
            <a:extLst>
              <a:ext uri="{96DAC541-7B7A-43D3-8B79-37D633B846F1}">
                <asvg:svgBlip xmlns:asvg="http://schemas.microsoft.com/office/drawing/2016/SVG/main" r:embed="rId9"/>
              </a:ext>
            </a:extLst>
          </a:blip>
          <a:stretch>
            <a:fillRect/>
          </a:stretch>
        </p:blipFill>
        <p:spPr>
          <a:xfrm>
            <a:off x="838200" y="1676400"/>
            <a:ext cx="4876800" cy="3657600"/>
          </a:xfrm>
          <a:prstGeom prst="rect">
            <a:avLst/>
          </a:prstGeom>
        </p:spPr>
      </p:pic>
      <p:pic>
        <p:nvPicPr>
          <p:cNvPr id="132" name="Presenton Raster Image 33" descr=""/>
          <p:cNvPicPr/>
          <p:nvPr/>
        </p:nvPicPr>
        <p:blipFill>
          <a:blip r:embed="rId6" cstate="none"/>
          <a:stretch>
            <a:fillRect/>
          </a:stretch>
        </p:blipFill>
        <p:spPr>
          <a:xfrm>
            <a:off x="838200" y="1676400"/>
            <a:ext cx="4876800" cy="3657600"/>
          </a:xfrm>
          <a:prstGeom prst="rect">
            <a:avLst/>
          </a:prstGeom>
        </p:spPr>
      </p:pic>
      <p:sp>
        <p:nvSpPr>
          <p:cNvPr id="30" name="Shape 30"/>
          <p:cNvSpPr/>
          <p:nvPr/>
        </p:nvSpPr>
        <p:spPr>
          <a:xfrm>
            <a:off x="6400800" y="1809750"/>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The Validation Gate</a:t>
            </a:r>
            <a:endParaRPr lang="en-US"/>
          </a:p>
        </p:txBody>
      </p:sp>
      <p:sp>
        <p:nvSpPr>
          <p:cNvPr id="31" name="Shape 31"/>
          <p:cNvSpPr/>
          <p:nvPr/>
        </p:nvSpPr>
        <p:spPr>
          <a:xfrm>
            <a:off x="6400800" y="3181350"/>
            <a:ext cx="5067300" cy="1038820"/>
          </a:xfrm>
          <a:prstGeom prst="rect">
            <a:avLst/>
          </a:prstGeom>
          <a:noFill/>
        </p:spPr>
        <p:txBody>
          <a:bodyPr anchor="t" wrap="square" tIns="0" bIns="0" lIns="0" rIns="0">
            <a:normAutofit/>
          </a:bodyPr>
          <a:lstStyle/>
          <a:p>
            <a:pPr algn="l">
              <a:lnSpc>
                <a:spcPts val="2046"/>
              </a:lnSpc>
              <a:buNone/>
            </a:pPr>
            <a:r>
              <a:rPr sz="1650" b="0" i="0">
                <a:solidFill>
                  <a:srgbClr val="4B5563"/>
                </a:solidFill>
                <a:latin typeface="Poppins"/>
                <a:ea typeface="Poppins"/>
              </a:rPr>
              <a:t>Every generated query receives a verdict of PASS or BLOCK with the rule that fired. Developers and reviewers see readable decisions with clear evidence.</a:t>
            </a:r>
            <a:endParaRPr lang="en-US"/>
          </a:p>
        </p:txBody>
      </p:sp>
      <p:sp>
        <p:nvSpPr>
          <p:cNvPr id="32" name="Shape 32"/>
          <p:cNvSpPr/>
          <p:nvPr/>
        </p:nvSpPr>
        <p:spPr>
          <a:xfrm>
            <a:off x="6413748" y="4483150"/>
            <a:ext cx="2438400" cy="195411"/>
          </a:xfrm>
          <a:prstGeom prst="rect">
            <a:avLst/>
          </a:prstGeom>
          <a:noFill/>
        </p:spPr>
        <p:txBody>
          <a:bodyPr anchor="t" wrap="square" tIns="0" bIns="0" lIns="0" rIns="0">
            <a:normAutofit/>
          </a:bodyPr>
          <a:lstStyle/>
          <a:p>
            <a:pPr algn="l">
              <a:lnSpc>
                <a:spcPts val="1539"/>
              </a:lnSpc>
              <a:buNone/>
            </a:pPr>
            <a:r>
              <a:rPr sz="1350" b="0" i="0">
                <a:solidFill>
                  <a:srgbClr val="4B5563"/>
                </a:solidFill>
                <a:latin typeface="Poppins"/>
                <a:ea typeface="Poppins"/>
              </a:rPr>
              <a:t>Deterministic rules</a:t>
            </a:r>
            <a:endParaRPr lang="en-US"/>
          </a:p>
        </p:txBody>
      </p:sp>
      <p:sp>
        <p:nvSpPr>
          <p:cNvPr id="33" name="Shape 33"/>
          <p:cNvSpPr/>
          <p:nvPr/>
        </p:nvSpPr>
        <p:spPr>
          <a:xfrm>
            <a:off x="6400800" y="4802386"/>
            <a:ext cx="2438400" cy="365671"/>
          </a:xfrm>
          <a:prstGeom prst="rect">
            <a:avLst/>
          </a:prstGeom>
          <a:noFill/>
        </p:spPr>
        <p:txBody>
          <a:bodyPr anchor="t" wrap="square" tIns="0" bIns="0" lIns="0" rIns="0">
            <a:normAutofit/>
          </a:bodyPr>
          <a:lstStyle/>
          <a:p>
            <a:pPr algn="l">
              <a:lnSpc>
                <a:spcPts val="2880"/>
              </a:lnSpc>
              <a:buNone/>
            </a:pPr>
            <a:r>
              <a:rPr sz="3600" b="1" i="0">
                <a:solidFill>
                  <a:srgbClr val="9333EA"/>
                </a:solidFill>
                <a:latin typeface="Poppins"/>
                <a:ea typeface="Poppins"/>
              </a:rPr>
              <a:t>10</a:t>
            </a:r>
            <a:endParaRPr lang="en-US"/>
          </a:p>
        </p:txBody>
      </p:sp>
      <p:sp>
        <p:nvSpPr>
          <p:cNvPr id="34" name="Shape 34"/>
          <p:cNvSpPr/>
          <p:nvPr/>
        </p:nvSpPr>
        <p:spPr>
          <a:xfrm>
            <a:off x="9029700" y="4496395"/>
            <a:ext cx="2438400" cy="195411"/>
          </a:xfrm>
          <a:prstGeom prst="rect">
            <a:avLst/>
          </a:prstGeom>
          <a:noFill/>
        </p:spPr>
        <p:txBody>
          <a:bodyPr anchor="t" wrap="square" tIns="0" bIns="0" lIns="0" rIns="0">
            <a:normAutofit/>
          </a:bodyPr>
          <a:lstStyle/>
          <a:p>
            <a:pPr algn="l">
              <a:lnSpc>
                <a:spcPts val="1539"/>
              </a:lnSpc>
              <a:buNone/>
            </a:pPr>
            <a:r>
              <a:rPr sz="1350" b="0" i="0">
                <a:solidFill>
                  <a:srgbClr val="4B5563"/>
                </a:solidFill>
                <a:latin typeface="Poppins"/>
                <a:ea typeface="Poppins"/>
              </a:rPr>
              <a:t>Sensitive columns</a:t>
            </a:r>
            <a:endParaRPr lang="en-US"/>
          </a:p>
        </p:txBody>
      </p:sp>
      <p:sp>
        <p:nvSpPr>
          <p:cNvPr id="35" name="Shape 35"/>
          <p:cNvSpPr/>
          <p:nvPr/>
        </p:nvSpPr>
        <p:spPr>
          <a:xfrm>
            <a:off x="9029700" y="4802386"/>
            <a:ext cx="2438400" cy="365671"/>
          </a:xfrm>
          <a:prstGeom prst="rect">
            <a:avLst/>
          </a:prstGeom>
          <a:noFill/>
        </p:spPr>
        <p:txBody>
          <a:bodyPr anchor="t" wrap="square" tIns="0" bIns="0" lIns="0" rIns="0">
            <a:normAutofit/>
          </a:bodyPr>
          <a:lstStyle/>
          <a:p>
            <a:pPr algn="l">
              <a:lnSpc>
                <a:spcPts val="2880"/>
              </a:lnSpc>
              <a:buNone/>
            </a:pPr>
            <a:r>
              <a:rPr sz="3600" b="1" i="0">
                <a:solidFill>
                  <a:srgbClr val="9333EA"/>
                </a:solidFill>
                <a:latin typeface="Poppins"/>
                <a:ea typeface="Poppins"/>
              </a:rPr>
              <a:t>MASKED</a:t>
            </a:r>
            <a:endParaRPr lang="en-US"/>
          </a:p>
        </p:txBody>
      </p:sp>
      <p:sp>
        <p:nvSpPr>
          <p:cNvPr id="36" name="Shape 36"/>
          <p:cNvSpPr/>
          <p:nvPr/>
        </p:nvSpPr>
        <p:spPr>
          <a:xfrm>
            <a:off x="6400800" y="5338167"/>
            <a:ext cx="2438400" cy="195411"/>
          </a:xfrm>
          <a:prstGeom prst="rect">
            <a:avLst/>
          </a:prstGeom>
          <a:noFill/>
        </p:spPr>
        <p:txBody>
          <a:bodyPr anchor="t" wrap="square" tIns="0" bIns="0" lIns="0" rIns="0">
            <a:normAutofit/>
          </a:bodyPr>
          <a:lstStyle/>
          <a:p>
            <a:pPr algn="l">
              <a:lnSpc>
                <a:spcPts val="1539"/>
              </a:lnSpc>
              <a:buNone/>
            </a:pPr>
            <a:r>
              <a:rPr sz="1350" b="0" i="0">
                <a:solidFill>
                  <a:srgbClr val="4B5563"/>
                </a:solidFill>
                <a:latin typeface="Poppins"/>
                <a:ea typeface="Poppins"/>
              </a:rPr>
              <a:t>Missing row limits</a:t>
            </a:r>
            <a:endParaRPr lang="en-US"/>
          </a:p>
        </p:txBody>
      </p:sp>
      <p:sp>
        <p:nvSpPr>
          <p:cNvPr id="37" name="Shape 37"/>
          <p:cNvSpPr/>
          <p:nvPr/>
        </p:nvSpPr>
        <p:spPr>
          <a:xfrm>
            <a:off x="6400800" y="5644158"/>
            <a:ext cx="2438400" cy="365671"/>
          </a:xfrm>
          <a:prstGeom prst="rect">
            <a:avLst/>
          </a:prstGeom>
          <a:noFill/>
        </p:spPr>
        <p:txBody>
          <a:bodyPr anchor="t" wrap="square" tIns="0" bIns="0" lIns="0" rIns="0">
            <a:normAutofit/>
          </a:bodyPr>
          <a:lstStyle/>
          <a:p>
            <a:pPr algn="l">
              <a:lnSpc>
                <a:spcPts val="2880"/>
              </a:lnSpc>
              <a:buNone/>
            </a:pPr>
            <a:r>
              <a:rPr sz="3600" b="1" i="0">
                <a:solidFill>
                  <a:srgbClr val="9333EA"/>
                </a:solidFill>
                <a:latin typeface="Poppins"/>
                <a:ea typeface="Poppins"/>
              </a:rPr>
              <a:t>Proposed</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3" name="Presenton Native SVG Image 34"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sp>
        <p:nvSpPr>
          <p:cNvPr id="38" name="Shape 38"/>
          <p:cNvSpPr/>
          <p:nvPr/>
        </p:nvSpPr>
        <p:spPr>
          <a:xfrm>
            <a:off x="762000" y="304800"/>
            <a:ext cx="10669488"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Four Workstreams, Four Owners</a:t>
            </a:r>
            <a:endParaRPr lang="en-US"/>
          </a:p>
        </p:txBody>
      </p:sp>
      <p:sp>
        <p:nvSpPr>
          <p:cNvPr id="39" name="Shape 39"/>
          <p:cNvSpPr/>
          <p:nvPr/>
        </p:nvSpPr>
        <p:spPr>
          <a:xfrm>
            <a:off x="762000" y="1028700"/>
            <a:ext cx="7353300" cy="742950"/>
          </a:xfrm>
          <a:prstGeom prst="rect">
            <a:avLst/>
          </a:prstGeom>
          <a:noFill/>
        </p:spPr>
        <p:txBody>
          <a:bodyPr anchor="t" wrap="square" tIns="0" bIns="0" lIns="0" rIns="0">
            <a:normAutofit/>
          </a:bodyPr>
          <a:lstStyle/>
          <a:p>
            <a:pPr algn="l">
              <a:lnSpc>
                <a:spcPts val="1950"/>
              </a:lnSpc>
              <a:buNone/>
            </a:pPr>
            <a:r>
              <a:rPr sz="1500" b="0" i="0">
                <a:solidFill>
                  <a:srgbClr val="4B5563"/>
                </a:solidFill>
                <a:latin typeface="Poppins"/>
                <a:ea typeface="Poppins"/>
              </a:rPr>
              <a:t xml:space="preserve">The project is organized into four workstreams, each mapped to a numbered SRS requirement and a dedicated team lane, with </a:t>
            </a:r>
            <a:r>
              <a:rPr sz="1500" b="1" i="0">
                <a:solidFill>
                  <a:srgbClr val="4B5563"/>
                </a:solidFill>
                <a:latin typeface="Poppins"/>
                <a:ea typeface="Poppins"/>
              </a:rPr>
              <a:t>one accountable owner</a:t>
            </a:r>
            <a:r>
              <a:rPr sz="1500" b="0" i="0">
                <a:solidFill>
                  <a:srgbClr val="4B5563"/>
                </a:solidFill>
                <a:latin typeface="Poppins"/>
                <a:ea typeface="Poppins"/>
              </a:rPr>
              <a:t xml:space="preserve"> per workstream across the four-member team.</a:t>
            </a:r>
            <a:endParaRPr lang="en-US"/>
          </a:p>
        </p:txBody>
      </p:sp>
      <p:pic>
        <p:nvPicPr>
          <p:cNvPr id="134" name="Presenton Native SVG Image 35" descr=""/>
          <p:cNvPicPr/>
          <p:nvPr/>
        </p:nvPicPr>
        <p:blipFill>
          <a:blip>
            <a:extLst>
              <a:ext uri="{96DAC541-7B7A-43D3-8B79-37D633B846F1}">
                <asvg:svgBlip xmlns:asvg="http://schemas.microsoft.com/office/drawing/2016/SVG/main" r:embed="rId10"/>
              </a:ext>
            </a:extLst>
          </a:blip>
          <a:stretch>
            <a:fillRect/>
          </a:stretch>
        </p:blipFill>
        <p:spPr>
          <a:xfrm>
            <a:off x="762000" y="1828800"/>
            <a:ext cx="7315200" cy="4724400"/>
          </a:xfrm>
          <a:prstGeom prst="rect">
            <a:avLst/>
          </a:prstGeom>
        </p:spPr>
      </p:pic>
      <p:pic>
        <p:nvPicPr>
          <p:cNvPr id="135" name="Presenton Native Image 36" descr=""/>
          <p:cNvPicPr/>
          <p:nvPr/>
        </p:nvPicPr>
        <p:blipFill>
          <a:blip r:embed="rId4" cstate="none"/>
          <a:stretch>
            <a:fillRect/>
          </a:stretch>
        </p:blipFill>
        <p:spPr>
          <a:xfrm>
            <a:off x="923925" y="1990725"/>
            <a:ext cx="6991350" cy="4381500"/>
          </a:xfrm>
          <a:prstGeom prst="rect">
            <a:avLst/>
          </a:prstGeom>
        </p:spPr>
      </p:pic>
      <p:pic>
        <p:nvPicPr>
          <p:cNvPr id="136" name="Presenton Native Image 37" descr=""/>
          <p:cNvPicPr/>
          <p:nvPr/>
        </p:nvPicPr>
        <p:blipFill>
          <a:blip r:embed="rId5" cstate="none"/>
          <a:stretch>
            <a:fillRect/>
          </a:stretch>
        </p:blipFill>
        <p:spPr>
          <a:xfrm>
            <a:off x="8382000" y="969169"/>
            <a:ext cx="3048000" cy="1538288"/>
          </a:xfrm>
          <a:prstGeom prst="rect">
            <a:avLst/>
          </a:prstGeom>
        </p:spPr>
      </p:pic>
      <p:pic>
        <p:nvPicPr>
          <p:cNvPr id="137" name="Presenton Native Image 38" descr=""/>
          <p:cNvPicPr/>
          <p:nvPr/>
        </p:nvPicPr>
        <p:blipFill>
          <a:blip r:embed="rId6" cstate="none"/>
          <a:stretch>
            <a:fillRect/>
          </a:stretch>
        </p:blipFill>
        <p:spPr>
          <a:xfrm>
            <a:off x="8382000" y="2659856"/>
            <a:ext cx="3048000" cy="1538288"/>
          </a:xfrm>
          <a:prstGeom prst="rect">
            <a:avLst/>
          </a:prstGeom>
        </p:spPr>
      </p:pic>
      <p:pic>
        <p:nvPicPr>
          <p:cNvPr id="138" name="Presenton Native Image 39" descr=""/>
          <p:cNvPicPr/>
          <p:nvPr/>
        </p:nvPicPr>
        <p:blipFill>
          <a:blip r:embed="rId7" cstate="none"/>
          <a:stretch>
            <a:fillRect/>
          </a:stretch>
        </p:blipFill>
        <p:spPr>
          <a:xfrm>
            <a:off x="8382000" y="4350544"/>
            <a:ext cx="3048000" cy="15382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9" name="Presenton Native SVG Image 40"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pic>
        <p:nvPicPr>
          <p:cNvPr id="140" name="Presenton Native Image 41" descr=""/>
          <p:cNvPicPr/>
          <p:nvPr/>
        </p:nvPicPr>
        <p:blipFill>
          <a:blip r:embed="rId3" cstate="none"/>
          <a:stretch>
            <a:fillRect/>
          </a:stretch>
        </p:blipFill>
        <p:spPr>
          <a:xfrm>
            <a:off x="0" y="0"/>
            <a:ext cx="2438400" cy="6858000"/>
          </a:xfrm>
          <a:prstGeom prst="rect">
            <a:avLst/>
          </a:prstGeom>
        </p:spPr>
      </p:pic>
      <p:pic>
        <p:nvPicPr>
          <p:cNvPr id="141" name="Presenton Native Image 42" descr=""/>
          <p:cNvPicPr/>
          <p:nvPr/>
        </p:nvPicPr>
        <p:blipFill>
          <a:blip r:embed="rId4" cstate="none"/>
          <a:stretch>
            <a:fillRect/>
          </a:stretch>
        </p:blipFill>
        <p:spPr>
          <a:xfrm>
            <a:off x="9753600" y="0"/>
            <a:ext cx="2438400" cy="6858000"/>
          </a:xfrm>
          <a:prstGeom prst="rect">
            <a:avLst/>
          </a:prstGeom>
        </p:spPr>
      </p:pic>
      <p:sp>
        <p:nvSpPr>
          <p:cNvPr id="40" name="Shape 40"/>
          <p:cNvSpPr/>
          <p:nvPr/>
        </p:nvSpPr>
        <p:spPr>
          <a:xfrm>
            <a:off x="762000" y="2019300"/>
            <a:ext cx="10706100" cy="457200"/>
          </a:xfrm>
          <a:prstGeom prst="rect">
            <a:avLst/>
          </a:prstGeom>
          <a:noFill/>
        </p:spPr>
        <p:txBody>
          <a:bodyPr anchor="t" wrap="square" tIns="0" bIns="0" lIns="0" rIns="0">
            <a:normAutofit/>
          </a:bodyPr>
          <a:lstStyle/>
          <a:p>
            <a:pPr algn="ctr">
              <a:lnSpc>
                <a:spcPts val="3600"/>
              </a:lnSpc>
              <a:buNone/>
            </a:pPr>
            <a:r>
              <a:rPr sz="4500" b="1" i="0">
                <a:solidFill>
                  <a:srgbClr val="111827"/>
                </a:solidFill>
                <a:latin typeface="Poppins"/>
                <a:ea typeface="Poppins"/>
              </a:rPr>
              <a:t>Evaluation Plan</a:t>
            </a:r>
            <a:endParaRPr lang="en-US"/>
          </a:p>
        </p:txBody>
      </p:sp>
      <p:sp>
        <p:nvSpPr>
          <p:cNvPr id="41" name="Shape 41"/>
          <p:cNvSpPr/>
          <p:nvPr/>
        </p:nvSpPr>
        <p:spPr>
          <a:xfrm>
            <a:off x="7620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100%</a:t>
            </a:r>
            <a:endParaRPr lang="en-US"/>
          </a:p>
        </p:txBody>
      </p:sp>
      <p:pic>
        <p:nvPicPr>
          <p:cNvPr id="142" name="Presenton Native SVG Image 43" descr=""/>
          <p:cNvPicPr/>
          <p:nvPr/>
        </p:nvPicPr>
        <p:blipFill>
          <a:blip>
            <a:extLst>
              <a:ext uri="{96DAC541-7B7A-43D3-8B79-37D633B846F1}">
                <asvg:svgBlip xmlns:asvg="http://schemas.microsoft.com/office/drawing/2016/SVG/main" r:embed="rId10"/>
              </a:ext>
            </a:extLst>
          </a:blip>
          <a:stretch>
            <a:fillRect/>
          </a:stretch>
        </p:blipFill>
        <p:spPr>
          <a:xfrm>
            <a:off x="762000" y="4188619"/>
            <a:ext cx="3352800" cy="1194197"/>
          </a:xfrm>
          <a:prstGeom prst="rect">
            <a:avLst/>
          </a:prstGeom>
        </p:spPr>
      </p:pic>
      <p:sp>
        <p:nvSpPr>
          <p:cNvPr id="42" name="Shape 42"/>
          <p:cNvSpPr/>
          <p:nvPr/>
        </p:nvSpPr>
        <p:spPr>
          <a:xfrm>
            <a:off x="926306" y="4336107"/>
            <a:ext cx="3009900" cy="781645"/>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Block rate required on destructive attack classes, measured against 30 attack prompts spanning six published attack classes</a:t>
            </a:r>
            <a:endParaRPr lang="en-US"/>
          </a:p>
        </p:txBody>
      </p:sp>
      <p:sp>
        <p:nvSpPr>
          <p:cNvPr id="43" name="Shape 43"/>
          <p:cNvSpPr/>
          <p:nvPr/>
        </p:nvSpPr>
        <p:spPr>
          <a:xfrm>
            <a:off x="44196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10%</a:t>
            </a:r>
            <a:endParaRPr lang="en-US"/>
          </a:p>
        </p:txBody>
      </p:sp>
      <p:pic>
        <p:nvPicPr>
          <p:cNvPr id="143" name="Presenton Native SVG Image 44" descr=""/>
          <p:cNvPicPr/>
          <p:nvPr/>
        </p:nvPicPr>
        <p:blipFill>
          <a:blip>
            <a:extLst>
              <a:ext uri="{96DAC541-7B7A-43D3-8B79-37D633B846F1}">
                <asvg:svgBlip xmlns:asvg="http://schemas.microsoft.com/office/drawing/2016/SVG/main" r:embed="rId11"/>
              </a:ext>
            </a:extLst>
          </a:blip>
          <a:stretch>
            <a:fillRect/>
          </a:stretch>
        </p:blipFill>
        <p:spPr>
          <a:xfrm>
            <a:off x="4419600" y="4188619"/>
            <a:ext cx="3352800" cy="1168003"/>
          </a:xfrm>
          <a:prstGeom prst="rect">
            <a:avLst/>
          </a:prstGeom>
        </p:spPr>
      </p:pic>
      <p:sp>
        <p:nvSpPr>
          <p:cNvPr id="44" name="Shape 44"/>
          <p:cNvSpPr/>
          <p:nvPr/>
        </p:nvSpPr>
        <p:spPr>
          <a:xfrm>
            <a:off x="4597003" y="4342507"/>
            <a:ext cx="3009900" cy="781645"/>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False positive rate on 30 benign prompts, with every result reported openly regardless of whether the target is met</a:t>
            </a:r>
            <a:endParaRPr lang="en-US"/>
          </a:p>
        </p:txBody>
      </p:sp>
      <p:sp>
        <p:nvSpPr>
          <p:cNvPr id="45" name="Shape 45"/>
          <p:cNvSpPr/>
          <p:nvPr/>
        </p:nvSpPr>
        <p:spPr>
          <a:xfrm>
            <a:off x="8077200" y="3390900"/>
            <a:ext cx="3390900" cy="457200"/>
          </a:xfrm>
          <a:prstGeom prst="rect">
            <a:avLst/>
          </a:prstGeom>
          <a:noFill/>
        </p:spPr>
        <p:txBody>
          <a:bodyPr anchor="t" wrap="square" tIns="0" bIns="0" lIns="0" rIns="0">
            <a:normAutofit/>
          </a:bodyPr>
          <a:lstStyle/>
          <a:p>
            <a:pPr algn="ctr">
              <a:lnSpc>
                <a:spcPts val="3600"/>
              </a:lnSpc>
              <a:buNone/>
            </a:pPr>
            <a:r>
              <a:rPr sz="4500" b="1" i="0">
                <a:solidFill>
                  <a:srgbClr val="9333EA"/>
                </a:solidFill>
                <a:latin typeface="Poppins"/>
                <a:ea typeface="Poppins"/>
              </a:rPr>
              <a:t>&lt;</a:t>
            </a:r>
            <a:r>
              <a:rPr sz="4500" b="1" i="0">
                <a:solidFill>
                  <a:srgbClr val="9333EA"/>
                </a:solidFill>
                <a:latin typeface="Poppins"/>
                <a:ea typeface="Poppins"/>
              </a:rPr>
              <a:t>50ms</a:t>
            </a:r>
            <a:endParaRPr lang="en-US"/>
          </a:p>
        </p:txBody>
      </p:sp>
      <p:pic>
        <p:nvPicPr>
          <p:cNvPr id="144" name="Presenton Native SVG Image 45" descr=""/>
          <p:cNvPicPr/>
          <p:nvPr/>
        </p:nvPicPr>
        <p:blipFill>
          <a:blip>
            <a:extLst>
              <a:ext uri="{96DAC541-7B7A-43D3-8B79-37D633B846F1}">
                <asvg:svgBlip xmlns:asvg="http://schemas.microsoft.com/office/drawing/2016/SVG/main" r:embed="rId12"/>
              </a:ext>
            </a:extLst>
          </a:blip>
          <a:stretch>
            <a:fillRect/>
          </a:stretch>
        </p:blipFill>
        <p:spPr>
          <a:xfrm>
            <a:off x="8077200" y="4201716"/>
            <a:ext cx="3352800" cy="1168152"/>
          </a:xfrm>
          <a:prstGeom prst="rect">
            <a:avLst/>
          </a:prstGeom>
        </p:spPr>
      </p:pic>
      <p:sp>
        <p:nvSpPr>
          <p:cNvPr id="46" name="Shape 46"/>
          <p:cNvSpPr/>
          <p:nvPr/>
        </p:nvSpPr>
        <p:spPr>
          <a:xfrm>
            <a:off x="8267700" y="4336107"/>
            <a:ext cx="3009900" cy="781645"/>
          </a:xfrm>
          <a:prstGeom prst="rect">
            <a:avLst/>
          </a:prstGeom>
          <a:noFill/>
        </p:spPr>
        <p:txBody>
          <a:bodyPr anchor="t" wrap="square" tIns="0" bIns="0" lIns="0" rIns="0">
            <a:normAutofit/>
          </a:bodyPr>
          <a:lstStyle/>
          <a:p>
            <a:pPr algn="ctr">
              <a:lnSpc>
                <a:spcPts val="1539"/>
              </a:lnSpc>
              <a:buNone/>
            </a:pPr>
            <a:r>
              <a:rPr sz="1350" b="0" i="0">
                <a:solidFill>
                  <a:srgbClr val="FFFFFF"/>
                </a:solidFill>
                <a:latin typeface="Poppins"/>
                <a:ea typeface="Poppins"/>
              </a:rPr>
              <a:t>p95 added gate latency ceiling, with zero silent regressions enforced by running the corpus in continuous integration</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45" name="Presenton Native SVG Image 46"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pic>
        <p:nvPicPr>
          <p:cNvPr id="146" name="Presenton Native Image 47" descr=""/>
          <p:cNvPicPr/>
          <p:nvPr/>
        </p:nvPicPr>
        <p:blipFill>
          <a:blip r:embed="rId4" cstate="none"/>
          <a:stretch>
            <a:fillRect/>
          </a:stretch>
        </p:blipFill>
        <p:spPr>
          <a:xfrm>
            <a:off x="0" y="5334000"/>
            <a:ext cx="3048000" cy="1524000"/>
          </a:xfrm>
          <a:prstGeom prst="rect">
            <a:avLst/>
          </a:prstGeom>
        </p:spPr>
      </p:pic>
      <p:sp>
        <p:nvSpPr>
          <p:cNvPr id="47" name="Shape 47"/>
          <p:cNvSpPr/>
          <p:nvPr/>
        </p:nvSpPr>
        <p:spPr>
          <a:xfrm>
            <a:off x="762000" y="2019300"/>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Course Plan and Stack</a:t>
            </a:r>
            <a:endParaRPr lang="en-US"/>
          </a:p>
        </p:txBody>
      </p:sp>
      <p:pic>
        <p:nvPicPr>
          <p:cNvPr id="147" name="Presenton Native SVG Image 48" descr=""/>
          <p:cNvPicPr/>
          <p:nvPr/>
        </p:nvPicPr>
        <p:blipFill>
          <a:blip>
            <a:extLst>
              <a:ext uri="{96DAC541-7B7A-43D3-8B79-37D633B846F1}">
                <asvg:svgBlip xmlns:asvg="http://schemas.microsoft.com/office/drawing/2016/SVG/main" r:embed="rId10"/>
              </a:ext>
            </a:extLst>
          </a:blip>
          <a:stretch>
            <a:fillRect/>
          </a:stretch>
        </p:blipFill>
        <p:spPr>
          <a:xfrm>
            <a:off x="762000" y="3390900"/>
            <a:ext cx="762000" cy="38100"/>
          </a:xfrm>
          <a:prstGeom prst="rect">
            <a:avLst/>
          </a:prstGeom>
        </p:spPr>
      </p:pic>
      <p:sp>
        <p:nvSpPr>
          <p:cNvPr id="48" name="Shape 48"/>
          <p:cNvSpPr/>
          <p:nvPr/>
        </p:nvSpPr>
        <p:spPr>
          <a:xfrm>
            <a:off x="762000" y="3657600"/>
            <a:ext cx="5067300" cy="1298525"/>
          </a:xfrm>
          <a:prstGeom prst="rect">
            <a:avLst/>
          </a:prstGeom>
          <a:noFill/>
        </p:spPr>
        <p:txBody>
          <a:bodyPr anchor="t" wrap="square" tIns="0" bIns="0" lIns="0" rIns="0">
            <a:normAutofit/>
          </a:bodyPr>
          <a:lstStyle/>
          <a:p>
            <a:pPr algn="l">
              <a:lnSpc>
                <a:spcPts val="2046"/>
              </a:lnSpc>
              <a:buNone/>
            </a:pPr>
            <a:r>
              <a:rPr sz="1650" b="0" i="0">
                <a:solidFill>
                  <a:srgbClr val="4B5563"/>
                </a:solidFill>
                <a:latin typeface="Poppins"/>
                <a:ea typeface="Poppins"/>
              </a:rPr>
              <a:t xml:space="preserve">CS 5391 Software Engineering group project with </a:t>
            </a:r>
            <a:r>
              <a:rPr sz="1650" b="1" i="0">
                <a:solidFill>
                  <a:srgbClr val="4B5563"/>
                </a:solidFill>
                <a:latin typeface="Poppins"/>
                <a:ea typeface="Poppins"/>
              </a:rPr>
              <a:t>four members</a:t>
            </a:r>
            <a:r>
              <a:rPr sz="1650" b="0" i="0">
                <a:solidFill>
                  <a:srgbClr val="4B5563"/>
                </a:solidFill>
                <a:latin typeface="Poppins"/>
                <a:ea typeface="Poppins"/>
              </a:rPr>
              <a:t xml:space="preserve">. Milestones: proposal and presentation, SRS mapped to tests, implementation, final demo. Stack: </a:t>
            </a:r>
            <a:r>
              <a:rPr sz="1650" b="1" i="0">
                <a:solidFill>
                  <a:srgbClr val="4B5563"/>
                </a:solidFill>
                <a:latin typeface="Poppins"/>
                <a:ea typeface="Poppins"/>
              </a:rPr>
              <a:t>Python, Flask, SQLite, pytest, GitHub Actions, mock LLM</a:t>
            </a:r>
            <a:r>
              <a:rPr sz="1650" b="0" i="0">
                <a:solidFill>
                  <a:srgbClr val="4B5563"/>
                </a:solidFill>
                <a:latin typeface="Poppins"/>
                <a:ea typeface="Poppins"/>
              </a:rPr>
              <a:t>.</a:t>
            </a:r>
            <a:endParaRPr lang="en-US"/>
          </a:p>
        </p:txBody>
      </p:sp>
      <p:pic>
        <p:nvPicPr>
          <p:cNvPr id="148" name="Presenton Native SVG Image 49" descr=""/>
          <p:cNvPicPr/>
          <p:nvPr/>
        </p:nvPicPr>
        <p:blipFill>
          <a:blip>
            <a:extLst>
              <a:ext uri="{96DAC541-7B7A-43D3-8B79-37D633B846F1}">
                <asvg:svgBlip xmlns:asvg="http://schemas.microsoft.com/office/drawing/2016/SVG/main" r:embed="rId11"/>
              </a:ext>
            </a:extLst>
          </a:blip>
          <a:stretch>
            <a:fillRect/>
          </a:stretch>
        </p:blipFill>
        <p:spPr>
          <a:xfrm>
            <a:off x="6991350" y="966788"/>
            <a:ext cx="1219200" cy="1219200"/>
          </a:xfrm>
          <a:prstGeom prst="rect">
            <a:avLst/>
          </a:prstGeom>
        </p:spPr>
      </p:pic>
      <p:pic>
        <p:nvPicPr>
          <p:cNvPr id="149" name="Presenton Raster Image 50" descr=""/>
          <p:cNvPicPr/>
          <p:nvPr/>
        </p:nvPicPr>
        <p:blipFill>
          <a:blip r:embed="rId6" cstate="none"/>
          <a:stretch>
            <a:fillRect/>
          </a:stretch>
        </p:blipFill>
        <p:spPr>
          <a:xfrm>
            <a:off x="6991350" y="966788"/>
            <a:ext cx="1219200" cy="1219200"/>
          </a:xfrm>
          <a:prstGeom prst="rect">
            <a:avLst/>
          </a:prstGeom>
        </p:spPr>
      </p:pic>
      <p:sp>
        <p:nvSpPr>
          <p:cNvPr id="49" name="Shape 49"/>
          <p:cNvSpPr/>
          <p:nvPr/>
        </p:nvSpPr>
        <p:spPr>
          <a:xfrm>
            <a:off x="6400800" y="2300288"/>
            <a:ext cx="2438400" cy="259705"/>
          </a:xfrm>
          <a:prstGeom prst="rect">
            <a:avLst/>
          </a:prstGeom>
          <a:noFill/>
        </p:spPr>
        <p:txBody>
          <a:bodyPr anchor="t" wrap="square" tIns="0" bIns="0" lIns="0" rIns="0">
            <a:normAutofit/>
          </a:bodyPr>
          <a:lstStyle/>
          <a:p>
            <a:pPr algn="ctr">
              <a:lnSpc>
                <a:spcPts val="2046"/>
              </a:lnSpc>
              <a:buNone/>
            </a:pPr>
            <a:r>
              <a:rPr sz="1650" b="0" i="0">
                <a:solidFill>
                  <a:srgbClr val="111827"/>
                </a:solidFill>
                <a:latin typeface="Poppins"/>
                <a:ea typeface="Poppins"/>
              </a:rPr>
              <a:t>Member One</a:t>
            </a:r>
            <a:endParaRPr lang="en-US"/>
          </a:p>
        </p:txBody>
      </p:sp>
      <p:sp>
        <p:nvSpPr>
          <p:cNvPr id="50" name="Shape 50"/>
          <p:cNvSpPr/>
          <p:nvPr/>
        </p:nvSpPr>
        <p:spPr>
          <a:xfrm>
            <a:off x="6400800" y="2566988"/>
            <a:ext cx="2438400" cy="195411"/>
          </a:xfrm>
          <a:prstGeom prst="rect">
            <a:avLst/>
          </a:prstGeom>
          <a:noFill/>
        </p:spPr>
        <p:txBody>
          <a:bodyPr anchor="t" wrap="square" tIns="0" bIns="0" lIns="0" rIns="0">
            <a:normAutofit/>
          </a:bodyPr>
          <a:lstStyle/>
          <a:p>
            <a:pPr algn="ctr">
              <a:lnSpc>
                <a:spcPts val="1539"/>
              </a:lnSpc>
              <a:buNone/>
            </a:pPr>
            <a:r>
              <a:rPr sz="1350" b="0" i="1">
                <a:solidFill>
                  <a:srgbClr val="4B5563"/>
                </a:solidFill>
                <a:latin typeface="Poppins"/>
                <a:ea typeface="Poppins"/>
              </a:rPr>
              <a:t>Requirements Lead</a:t>
            </a:r>
            <a:endParaRPr lang="en-US"/>
          </a:p>
        </p:txBody>
      </p:sp>
      <p:sp>
        <p:nvSpPr>
          <p:cNvPr id="51" name="Shape 51"/>
          <p:cNvSpPr/>
          <p:nvPr/>
        </p:nvSpPr>
        <p:spPr>
          <a:xfrm>
            <a:off x="6477000" y="2833688"/>
            <a:ext cx="2286000" cy="445591"/>
          </a:xfrm>
          <a:prstGeom prst="rect">
            <a:avLst/>
          </a:prstGeom>
          <a:noFill/>
        </p:spPr>
        <p:txBody>
          <a:bodyPr anchor="t" wrap="square" tIns="0" bIns="0" lIns="0" rIns="0">
            <a:normAutofit/>
          </a:bodyPr>
          <a:lstStyle/>
          <a:p>
            <a:pPr algn="ctr">
              <a:lnSpc>
                <a:spcPts val="1170"/>
              </a:lnSpc>
              <a:buNone/>
            </a:pPr>
            <a:r>
              <a:rPr sz="900" b="0" i="0">
                <a:solidFill>
                  <a:srgbClr val="4B5563"/>
                </a:solidFill>
                <a:latin typeface="Poppins"/>
                <a:ea typeface="Poppins"/>
              </a:rPr>
              <a:t>Owns the SRS with numbered requirements that map directly to test cases for traceability.</a:t>
            </a:r>
            <a:endParaRPr lang="en-US"/>
          </a:p>
        </p:txBody>
      </p:sp>
      <p:pic>
        <p:nvPicPr>
          <p:cNvPr id="150" name="Presenton Native SVG Image 51" descr=""/>
          <p:cNvPicPr/>
          <p:nvPr/>
        </p:nvPicPr>
        <p:blipFill>
          <a:blip>
            <a:extLst>
              <a:ext uri="{96DAC541-7B7A-43D3-8B79-37D633B846F1}">
                <asvg:svgBlip xmlns:asvg="http://schemas.microsoft.com/office/drawing/2016/SVG/main" r:embed="rId12"/>
              </a:ext>
            </a:extLst>
          </a:blip>
          <a:stretch>
            <a:fillRect/>
          </a:stretch>
        </p:blipFill>
        <p:spPr>
          <a:xfrm>
            <a:off x="9620250" y="966788"/>
            <a:ext cx="1219200" cy="1219200"/>
          </a:xfrm>
          <a:prstGeom prst="rect">
            <a:avLst/>
          </a:prstGeom>
        </p:spPr>
      </p:pic>
      <p:pic>
        <p:nvPicPr>
          <p:cNvPr id="151" name="Presenton Raster Image 52" descr=""/>
          <p:cNvPicPr/>
          <p:nvPr/>
        </p:nvPicPr>
        <p:blipFill>
          <a:blip r:embed="rId6" cstate="none"/>
          <a:stretch>
            <a:fillRect/>
          </a:stretch>
        </p:blipFill>
        <p:spPr>
          <a:xfrm>
            <a:off x="9620250" y="966788"/>
            <a:ext cx="1219200" cy="1219200"/>
          </a:xfrm>
          <a:prstGeom prst="rect">
            <a:avLst/>
          </a:prstGeom>
        </p:spPr>
      </p:pic>
      <p:sp>
        <p:nvSpPr>
          <p:cNvPr id="52" name="Shape 52"/>
          <p:cNvSpPr/>
          <p:nvPr/>
        </p:nvSpPr>
        <p:spPr>
          <a:xfrm>
            <a:off x="9029700" y="2300288"/>
            <a:ext cx="2438400" cy="259705"/>
          </a:xfrm>
          <a:prstGeom prst="rect">
            <a:avLst/>
          </a:prstGeom>
          <a:noFill/>
        </p:spPr>
        <p:txBody>
          <a:bodyPr anchor="t" wrap="square" tIns="0" bIns="0" lIns="0" rIns="0">
            <a:normAutofit/>
          </a:bodyPr>
          <a:lstStyle/>
          <a:p>
            <a:pPr algn="ctr">
              <a:lnSpc>
                <a:spcPts val="2046"/>
              </a:lnSpc>
              <a:buNone/>
            </a:pPr>
            <a:r>
              <a:rPr sz="1650" b="0" i="0">
                <a:solidFill>
                  <a:srgbClr val="111827"/>
                </a:solidFill>
                <a:latin typeface="Poppins"/>
                <a:ea typeface="Poppins"/>
              </a:rPr>
              <a:t>Member Two</a:t>
            </a:r>
            <a:endParaRPr lang="en-US"/>
          </a:p>
        </p:txBody>
      </p:sp>
      <p:sp>
        <p:nvSpPr>
          <p:cNvPr id="53" name="Shape 53"/>
          <p:cNvSpPr/>
          <p:nvPr/>
        </p:nvSpPr>
        <p:spPr>
          <a:xfrm>
            <a:off x="9029700" y="2566988"/>
            <a:ext cx="2438400" cy="195411"/>
          </a:xfrm>
          <a:prstGeom prst="rect">
            <a:avLst/>
          </a:prstGeom>
          <a:noFill/>
        </p:spPr>
        <p:txBody>
          <a:bodyPr anchor="t" wrap="square" tIns="0" bIns="0" lIns="0" rIns="0">
            <a:normAutofit/>
          </a:bodyPr>
          <a:lstStyle/>
          <a:p>
            <a:pPr algn="ctr">
              <a:lnSpc>
                <a:spcPts val="1539"/>
              </a:lnSpc>
              <a:buNone/>
            </a:pPr>
            <a:r>
              <a:rPr sz="1350" b="0" i="1">
                <a:solidFill>
                  <a:srgbClr val="4B5563"/>
                </a:solidFill>
                <a:latin typeface="Poppins"/>
                <a:ea typeface="Poppins"/>
              </a:rPr>
              <a:t>Backend Lead</a:t>
            </a:r>
            <a:endParaRPr lang="en-US"/>
          </a:p>
        </p:txBody>
      </p:sp>
      <p:sp>
        <p:nvSpPr>
          <p:cNvPr id="54" name="Shape 54"/>
          <p:cNvSpPr/>
          <p:nvPr/>
        </p:nvSpPr>
        <p:spPr>
          <a:xfrm>
            <a:off x="9105900" y="2833688"/>
            <a:ext cx="2286000" cy="445591"/>
          </a:xfrm>
          <a:prstGeom prst="rect">
            <a:avLst/>
          </a:prstGeom>
          <a:noFill/>
        </p:spPr>
        <p:txBody>
          <a:bodyPr anchor="t" wrap="square" tIns="0" bIns="0" lIns="0" rIns="0">
            <a:normAutofit/>
          </a:bodyPr>
          <a:lstStyle/>
          <a:p>
            <a:pPr algn="ctr">
              <a:lnSpc>
                <a:spcPts val="1170"/>
              </a:lnSpc>
              <a:buNone/>
            </a:pPr>
            <a:r>
              <a:rPr sz="900" b="0" i="0">
                <a:solidFill>
                  <a:srgbClr val="4B5563"/>
                </a:solidFill>
                <a:latin typeface="Poppins"/>
                <a:ea typeface="Poppins"/>
              </a:rPr>
              <a:t>Builds the Python Flask web app and the SQLite demo database with deliberately sensitive columns.</a:t>
            </a:r>
            <a:endParaRPr lang="en-US"/>
          </a:p>
        </p:txBody>
      </p:sp>
      <p:pic>
        <p:nvPicPr>
          <p:cNvPr id="152" name="Presenton Native SVG Image 53" descr=""/>
          <p:cNvPicPr/>
          <p:nvPr/>
        </p:nvPicPr>
        <p:blipFill>
          <a:blip>
            <a:extLst>
              <a:ext uri="{96DAC541-7B7A-43D3-8B79-37D633B846F1}">
                <asvg:svgBlip xmlns:asvg="http://schemas.microsoft.com/office/drawing/2016/SVG/main" r:embed="rId13"/>
              </a:ext>
            </a:extLst>
          </a:blip>
          <a:stretch>
            <a:fillRect/>
          </a:stretch>
        </p:blipFill>
        <p:spPr>
          <a:xfrm>
            <a:off x="6991350" y="3621881"/>
            <a:ext cx="1219200" cy="1219200"/>
          </a:xfrm>
          <a:prstGeom prst="rect">
            <a:avLst/>
          </a:prstGeom>
        </p:spPr>
      </p:pic>
      <p:pic>
        <p:nvPicPr>
          <p:cNvPr id="153" name="Presenton Raster Image 54" descr=""/>
          <p:cNvPicPr/>
          <p:nvPr/>
        </p:nvPicPr>
        <p:blipFill>
          <a:blip r:embed="rId6" cstate="none"/>
          <a:stretch>
            <a:fillRect/>
          </a:stretch>
        </p:blipFill>
        <p:spPr>
          <a:xfrm>
            <a:off x="6991350" y="3621881"/>
            <a:ext cx="1219200" cy="1219200"/>
          </a:xfrm>
          <a:prstGeom prst="rect">
            <a:avLst/>
          </a:prstGeom>
        </p:spPr>
      </p:pic>
      <p:sp>
        <p:nvSpPr>
          <p:cNvPr id="55" name="Shape 55"/>
          <p:cNvSpPr/>
          <p:nvPr/>
        </p:nvSpPr>
        <p:spPr>
          <a:xfrm>
            <a:off x="6400800" y="4955381"/>
            <a:ext cx="2438400" cy="259705"/>
          </a:xfrm>
          <a:prstGeom prst="rect">
            <a:avLst/>
          </a:prstGeom>
          <a:noFill/>
        </p:spPr>
        <p:txBody>
          <a:bodyPr anchor="t" wrap="square" tIns="0" bIns="0" lIns="0" rIns="0">
            <a:normAutofit/>
          </a:bodyPr>
          <a:lstStyle/>
          <a:p>
            <a:pPr algn="ctr">
              <a:lnSpc>
                <a:spcPts val="2046"/>
              </a:lnSpc>
              <a:buNone/>
            </a:pPr>
            <a:r>
              <a:rPr sz="1650" b="0" i="0">
                <a:solidFill>
                  <a:srgbClr val="111827"/>
                </a:solidFill>
                <a:latin typeface="Poppins"/>
                <a:ea typeface="Poppins"/>
              </a:rPr>
              <a:t>Member Three</a:t>
            </a:r>
            <a:endParaRPr lang="en-US"/>
          </a:p>
        </p:txBody>
      </p:sp>
      <p:sp>
        <p:nvSpPr>
          <p:cNvPr id="56" name="Shape 56"/>
          <p:cNvSpPr/>
          <p:nvPr/>
        </p:nvSpPr>
        <p:spPr>
          <a:xfrm>
            <a:off x="6400800" y="5222081"/>
            <a:ext cx="2438400" cy="195411"/>
          </a:xfrm>
          <a:prstGeom prst="rect">
            <a:avLst/>
          </a:prstGeom>
          <a:noFill/>
        </p:spPr>
        <p:txBody>
          <a:bodyPr anchor="t" wrap="square" tIns="0" bIns="0" lIns="0" rIns="0">
            <a:normAutofit/>
          </a:bodyPr>
          <a:lstStyle/>
          <a:p>
            <a:pPr algn="ctr">
              <a:lnSpc>
                <a:spcPts val="1539"/>
              </a:lnSpc>
              <a:buNone/>
            </a:pPr>
            <a:r>
              <a:rPr sz="1350" b="0" i="1">
                <a:solidFill>
                  <a:srgbClr val="4B5563"/>
                </a:solidFill>
                <a:latin typeface="Poppins"/>
                <a:ea typeface="Poppins"/>
              </a:rPr>
              <a:t>QA and CI Lead</a:t>
            </a:r>
            <a:endParaRPr lang="en-US"/>
          </a:p>
        </p:txBody>
      </p:sp>
      <p:sp>
        <p:nvSpPr>
          <p:cNvPr id="57" name="Shape 57"/>
          <p:cNvSpPr/>
          <p:nvPr/>
        </p:nvSpPr>
        <p:spPr>
          <a:xfrm>
            <a:off x="6477000" y="5488781"/>
            <a:ext cx="2286000" cy="445591"/>
          </a:xfrm>
          <a:prstGeom prst="rect">
            <a:avLst/>
          </a:prstGeom>
          <a:noFill/>
        </p:spPr>
        <p:txBody>
          <a:bodyPr anchor="t" wrap="square" tIns="0" bIns="0" lIns="0" rIns="0">
            <a:normAutofit/>
          </a:bodyPr>
          <a:lstStyle/>
          <a:p>
            <a:pPr algn="ctr">
              <a:lnSpc>
                <a:spcPts val="1170"/>
              </a:lnSpc>
              <a:buNone/>
            </a:pPr>
            <a:r>
              <a:rPr sz="900" b="0" i="0">
                <a:solidFill>
                  <a:srgbClr val="4B5563"/>
                </a:solidFill>
                <a:latin typeface="Poppins"/>
                <a:ea typeface="Poppins"/>
              </a:rPr>
              <a:t>Runs pytest suites and GitHub Actions pipelines so every numbered requirement is tested in CI.</a:t>
            </a:r>
            <a:endParaRPr lang="en-US"/>
          </a:p>
        </p:txBody>
      </p:sp>
      <p:pic>
        <p:nvPicPr>
          <p:cNvPr id="154" name="Presenton Native SVG Image 55" descr=""/>
          <p:cNvPicPr/>
          <p:nvPr/>
        </p:nvPicPr>
        <p:blipFill>
          <a:blip>
            <a:extLst>
              <a:ext uri="{96DAC541-7B7A-43D3-8B79-37D633B846F1}">
                <asvg:svgBlip xmlns:asvg="http://schemas.microsoft.com/office/drawing/2016/SVG/main" r:embed="rId14"/>
              </a:ext>
            </a:extLst>
          </a:blip>
          <a:stretch>
            <a:fillRect/>
          </a:stretch>
        </p:blipFill>
        <p:spPr>
          <a:xfrm>
            <a:off x="9620250" y="3621881"/>
            <a:ext cx="1219200" cy="1219200"/>
          </a:xfrm>
          <a:prstGeom prst="rect">
            <a:avLst/>
          </a:prstGeom>
        </p:spPr>
      </p:pic>
      <p:pic>
        <p:nvPicPr>
          <p:cNvPr id="155" name="Presenton Raster Image 56" descr=""/>
          <p:cNvPicPr/>
          <p:nvPr/>
        </p:nvPicPr>
        <p:blipFill>
          <a:blip r:embed="rId6" cstate="none"/>
          <a:stretch>
            <a:fillRect/>
          </a:stretch>
        </p:blipFill>
        <p:spPr>
          <a:xfrm>
            <a:off x="9620250" y="3621881"/>
            <a:ext cx="1219200" cy="1219200"/>
          </a:xfrm>
          <a:prstGeom prst="rect">
            <a:avLst/>
          </a:prstGeom>
        </p:spPr>
      </p:pic>
      <p:sp>
        <p:nvSpPr>
          <p:cNvPr id="58" name="Shape 58"/>
          <p:cNvSpPr/>
          <p:nvPr/>
        </p:nvSpPr>
        <p:spPr>
          <a:xfrm>
            <a:off x="9029700" y="4955381"/>
            <a:ext cx="2438400" cy="259705"/>
          </a:xfrm>
          <a:prstGeom prst="rect">
            <a:avLst/>
          </a:prstGeom>
          <a:noFill/>
        </p:spPr>
        <p:txBody>
          <a:bodyPr anchor="t" wrap="square" tIns="0" bIns="0" lIns="0" rIns="0">
            <a:normAutofit/>
          </a:bodyPr>
          <a:lstStyle/>
          <a:p>
            <a:pPr algn="ctr">
              <a:lnSpc>
                <a:spcPts val="2046"/>
              </a:lnSpc>
              <a:buNone/>
            </a:pPr>
            <a:r>
              <a:rPr sz="1650" b="0" i="0">
                <a:solidFill>
                  <a:srgbClr val="111827"/>
                </a:solidFill>
                <a:latin typeface="Poppins"/>
                <a:ea typeface="Poppins"/>
              </a:rPr>
              <a:t>Member Four</a:t>
            </a:r>
            <a:endParaRPr lang="en-US"/>
          </a:p>
        </p:txBody>
      </p:sp>
      <p:sp>
        <p:nvSpPr>
          <p:cNvPr id="59" name="Shape 59"/>
          <p:cNvSpPr/>
          <p:nvPr/>
        </p:nvSpPr>
        <p:spPr>
          <a:xfrm>
            <a:off x="9029700" y="5222081"/>
            <a:ext cx="2438400" cy="195411"/>
          </a:xfrm>
          <a:prstGeom prst="rect">
            <a:avLst/>
          </a:prstGeom>
          <a:noFill/>
        </p:spPr>
        <p:txBody>
          <a:bodyPr anchor="t" wrap="square" tIns="0" bIns="0" lIns="0" rIns="0">
            <a:normAutofit/>
          </a:bodyPr>
          <a:lstStyle/>
          <a:p>
            <a:pPr algn="ctr">
              <a:lnSpc>
                <a:spcPts val="1539"/>
              </a:lnSpc>
              <a:buNone/>
            </a:pPr>
            <a:r>
              <a:rPr sz="1350" b="0" i="1">
                <a:solidFill>
                  <a:srgbClr val="4B5563"/>
                </a:solidFill>
                <a:latin typeface="Poppins"/>
                <a:ea typeface="Poppins"/>
              </a:rPr>
              <a:t>LLM Integration Lead</a:t>
            </a:r>
            <a:endParaRPr lang="en-US"/>
          </a:p>
        </p:txBody>
      </p:sp>
      <p:sp>
        <p:nvSpPr>
          <p:cNvPr id="60" name="Shape 60"/>
          <p:cNvSpPr/>
          <p:nvPr/>
        </p:nvSpPr>
        <p:spPr>
          <a:xfrm>
            <a:off x="9105900" y="5488781"/>
            <a:ext cx="2286000" cy="445591"/>
          </a:xfrm>
          <a:prstGeom prst="rect">
            <a:avLst/>
          </a:prstGeom>
          <a:noFill/>
        </p:spPr>
        <p:txBody>
          <a:bodyPr anchor="t" wrap="square" tIns="0" bIns="0" lIns="0" rIns="0">
            <a:normAutofit/>
          </a:bodyPr>
          <a:lstStyle/>
          <a:p>
            <a:pPr algn="ctr">
              <a:lnSpc>
                <a:spcPts val="1170"/>
              </a:lnSpc>
              <a:buNone/>
            </a:pPr>
            <a:r>
              <a:rPr sz="900" b="0" i="0">
                <a:solidFill>
                  <a:srgbClr val="4B5563"/>
                </a:solidFill>
                <a:latin typeface="Poppins"/>
                <a:ea typeface="Poppins"/>
              </a:rPr>
              <a:t>Delivers a deterministic mock LLM mode with an optional live LLM for the final demo.</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QueryGuard a safety gate for LLM-generated SQL  - Presenter CS 5391 Project Team (4 members) -</dc:title>
  <dc:subject>Generated by Presenton export-core</dc:subject>
  <dc:creator>Presenton</dc:creator>
  <cp:lastModifiedBy>Presenton</cp:lastModifiedBy>
  <dcterms:created xsi:type="dcterms:W3CDTF">2026-09-05T14:06:14.312Z</dcterms:created>
  <dcterms:modified xsi:type="dcterms:W3CDTF">2026-09-05T14:06:14.312Z</dcterms:modified>
</cp:coreProperties>
</file>