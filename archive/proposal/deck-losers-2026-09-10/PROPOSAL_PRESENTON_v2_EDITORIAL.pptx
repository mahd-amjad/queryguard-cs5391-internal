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Good morning everyone. Today we present QueryGuard, our CS 5391 Software Engineering group project, developed by the two-member team of M. Mahd Amjad and Arwa Arafeh, dated September 9, 2026. We will outline the risk of unguarded LLM-generated SQL, review existing defenses and the gap they leave, and introduce QueryGuard as a deterministic validation gate. We will close with our workstreams, the evaluation we plan to run, and our course milestones.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Applications let users query databases in plain English, and many frameworks forward the model's SQL directly to the database. Published CVEs in Vanna AI, LlamaIndex, and AnythingLLM show impacts from remote code execution to personal data extraction. Our research baseline is that 96 percent of manual prompt-injection attacks succeed against undefended pipelines. Evaluating defenses is planned upcoming work by team members M. Mahd Amjad and Arwa Arafeh, presented on September 9, 2026.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reviews prior defenses to frame our planned work. Model-side fixes like StruQ and SecAlign operate at the model level but demand retraining or fine-tuning. Generic guardrails such as NVIDIA NeMo Guardrails and Guardrails AI are schema-unaware and rely on opaque classifiers. What is missing, and what we plan to build, is a transparent, deterministic, SQL-specific check positioned between the LLM and the database that understands the schema and explains every decision it makes.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QueryGuard sits at the application layer between the LLM and the database, giving us a transparent validation gate. The pipeline moves through five planned stages: intake, generation by an LLM or deterministic mock, validation, a read-only executor, and an append-only audit log. Because the executor accepts only gate-passed queries, the trust boundary is architectural rather than advisory, so safety does not depend on prompt wording.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Inside the validation gate, ten deterministic rules are applied to every generated query. Each query receives a PASS or BLOCK verdict along with the rule that fired, sensitive columns can be masked, and missing limits can be suggested. Because outcomes are deterministic, the gate is explainable and testable, unlike opaque classifier approaches, and developers always get a clear reason for every block. Evaluation is planned work carried out by M. Mahd Amjad and Arwa Arafeh.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shows how our two-person team divides the work. M. Mahd Amjad carries the validation gate rule engine at forty percent, plus the evaluation harness, corpus, and CI at twenty. Arwa Arafeh owns the web application UI and API and the documentation stream at twenty percent each. Every workstream has one accountable owner, with paired ownership keeping engineering depth and quality oversight balanced.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frames the evaluation as planned work, not yet run. The labeled corpus contains 30 attack and 30 benign prompts across six published attack classes. Four targets guide the plan: a 100 percent block rate on destructive classes, under 10 percent false positives reported openly, under 50 milliseconds p95 added gate latency, and zero silent regressions. The corpus runs in continuous integration, so a broken rule fails the build.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Our two-member team, M. Mahd Amjad and Arwa Arafeh, presents the CS 5391 course plan dated September 9, 2026. Milestones run in order: proposal and presentation first, then an SRS whose numbered requirements map to test cases, then implementation and a demo before the final. The stack pairs Python Flask with an SQLite demo database, uses pytest and GitHub Actions for CI, and runs a mock LLM mode for deterministic demos, with live LLM optional.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image" Target="../media/Presenton_Native_Image_2.png"/><Relationship Id="rId4" Type="http://schemas.openxmlformats.org/officeDocument/2006/relationships/image" Target="../media/Presenton_Native_Image_3.png"/><Relationship Id="rId5" Type="http://schemas.openxmlformats.org/officeDocument/2006/relationships/image" Target="../media/Presenton_Native_Image_4.png"/><Relationship Id="rId6" Type="http://schemas.openxmlformats.org/officeDocument/2006/relationships/image" Target="../media/Presenton_Raster_Image_5.png"/><Relationship Id="rId7" Type="http://schemas.openxmlformats.org/officeDocument/2006/relationships/image" Target="../media/Presenton_Raster_Image_6.png"/><Relationship Id="rId8" Type="http://schemas.openxmlformats.org/officeDocument/2006/relationships/image" Target="../media/Presenton_Native_Image_7.png"/><Relationship Id="rId9" Type="http://schemas.openxmlformats.org/officeDocument/2006/relationships/image" Target="../media/Presenton_Native_Image_8.png"/><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10.png"/><Relationship Id="rId4" Type="http://schemas.openxmlformats.org/officeDocument/2006/relationships/image" Target="../media/Presenton_Native_Image_11.png"/><Relationship Id="rId5" Type="http://schemas.openxmlformats.org/officeDocument/2006/relationships/image" Target="../media/Presenton_Native_Image_12.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image" Target="../media/Presenton_Native_Image_15.png"/><Relationship Id="rId4" Type="http://schemas.openxmlformats.org/officeDocument/2006/relationships/image" Target="../media/Presenton_Native_Image_16.png"/><Relationship Id="rId5" Type="http://schemas.openxmlformats.org/officeDocument/2006/relationships/image" Target="../media/Presenton_Native_Image_17.png"/><Relationship Id="rId6" Type="http://schemas.openxmlformats.org/officeDocument/2006/relationships/image" Target="../media/Presenton_Native_Image_18.png"/><Relationship Id="rId7" Type="http://schemas.openxmlformats.org/officeDocument/2006/relationships/image" Target="../media/Presenton_Native_Image_19.png"/><Relationship Id="rId8" Type="http://schemas.openxmlformats.org/officeDocument/2006/relationships/image" Target="../media/Presenton_Native_Image_20.png"/><Relationship Id="rId9" Type="http://schemas.openxmlformats.org/officeDocument/2006/relationships/image" Target="../media/Presenton_Native_Image_21.png"/><Relationship Id="rId10" Type="http://schemas.openxmlformats.org/officeDocument/2006/relationships/image" Target="../media/Presenton_Native_Image_22.png"/><Relationship Id="rId11" Type="http://schemas.openxmlformats.org/officeDocument/2006/relationships/image" Target="../media/Presenton_Native_Image_23.png"/><Relationship Id="rId12" Type="http://schemas.openxmlformats.org/officeDocument/2006/relationships/image" Target="../media/Presenton_Native_Image_24.png"/><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5.png"/><Relationship Id="rId3" Type="http://schemas.openxmlformats.org/officeDocument/2006/relationships/image" Target="../media/Presenton_Native_Image_26.png"/><Relationship Id="rId4" Type="http://schemas.openxmlformats.org/officeDocument/2006/relationships/image" Target="../media/Presenton_Native_Image_27.png"/><Relationship Id="rId5" Type="http://schemas.openxmlformats.org/officeDocument/2006/relationships/image" Target="../media/Presenton_Native_Image_28.png"/><Relationship Id="rId6" Type="http://schemas.openxmlformats.org/officeDocument/2006/relationships/image" Target="../media/Presenton_Native_Image_29.png"/><Relationship Id="rId7" Type="http://schemas.openxmlformats.org/officeDocument/2006/relationships/image" Target="../media/Presenton_Native_Image_30.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1.png"/><Relationship Id="rId3" Type="http://schemas.openxmlformats.org/officeDocument/2006/relationships/image" Target="../media/Presenton_Native_Image_32.png"/><Relationship Id="rId4" Type="http://schemas.openxmlformats.org/officeDocument/2006/relationships/image" Target="../media/Presenton_Native_Image_33.png"/><Relationship Id="rId5" Type="http://schemas.openxmlformats.org/officeDocument/2006/relationships/image" Target="../media/Presenton_Native_Image_34.png"/><Relationship Id="rId6" Type="http://schemas.openxmlformats.org/officeDocument/2006/relationships/image" Target="../media/Presenton_Native_Image_35.png"/><Relationship Id="rId7" Type="http://schemas.openxmlformats.org/officeDocument/2006/relationships/image" Target="../media/Presenton_Native_Image_36.png"/><Relationship Id="rId8" Type="http://schemas.openxmlformats.org/officeDocument/2006/relationships/image" Target="../media/Presenton_Native_Image_37.png"/><Relationship Id="rId9" Type="http://schemas.openxmlformats.org/officeDocument/2006/relationships/image" Target="../media/Presenton_Native_Image_38.png"/><Relationship Id="rId10" Type="http://schemas.openxmlformats.org/officeDocument/2006/relationships/image" Target="../media/Presenton_Native_Image_39.png"/><Relationship Id="rId11" Type="http://schemas.openxmlformats.org/officeDocument/2006/relationships/image" Target="../media/Presenton_Native_Image_40.png"/><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1.png"/><Relationship Id="rId3" Type="http://schemas.openxmlformats.org/officeDocument/2006/relationships/image" Target="../media/Presenton_Native_Image_42.png"/><Relationship Id="rId5" Type="http://schemas.openxmlformats.org/officeDocument/2006/relationships/image" Target="../media/Presenton_Native_Image_44.png"/><Relationship Id="rId7" Type="http://schemas.openxmlformats.org/officeDocument/2006/relationships/image" Target="../media/Presenton_Native_Image_46.png"/><Relationship Id="rId8" Type="http://schemas.openxmlformats.org/officeDocument/2006/relationships/image" Target="../media/Presenton_Native_Image_48.png"/><Relationship Id="rId9" Type="http://schemas.openxmlformats.org/officeDocument/2006/relationships/image" Target="../media/Presenton_Native_Image_50.png"/><Relationship Id="rId10" Type="http://schemas.openxmlformats.org/officeDocument/2006/relationships/notesSlide" Target="../notesSlides/notesSlide7.xml"/><Relationship Id="rId11" Type="http://schemas.openxmlformats.org/officeDocument/2006/relationships/image" Target="../media/presenton-native-svg-1-7.svg"/><Relationship Id="rId12" Type="http://schemas.openxmlformats.org/officeDocument/2006/relationships/image" Target="../media/presenton-native-svg-2-7.svg"/><Relationship Id="rId13" Type="http://schemas.openxmlformats.org/officeDocument/2006/relationships/image" Target="../media/presenton-native-svg-3-7.svg"/><Relationship Id="rId14" Type="http://schemas.openxmlformats.org/officeDocument/2006/relationships/image" Target="../media/presenton-native-svg-4-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1.png"/><Relationship Id="rId5" Type="http://schemas.openxmlformats.org/officeDocument/2006/relationships/notesSlide" Target="../notesSlides/notesSlide8.xml"/><Relationship Id="rId6" Type="http://schemas.openxmlformats.org/officeDocument/2006/relationships/image" Target="../media/presenton-native-svg-5-8.svg"/><Relationship Id="rId7" Type="http://schemas.openxmlformats.org/officeDocument/2006/relationships/image" Target="../media/presenton-native-svg-6-8.svg"/><Relationship Id="rId8" Type="http://schemas.openxmlformats.org/officeDocument/2006/relationships/image" Target="../media/presenton-native-svg-7-8.svg"/><Relationship Id="rId9" Type="http://schemas.openxmlformats.org/officeDocument/2006/relationships/image" Target="../media/presenton-native-svg-8-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0" name="Presenton Native Image 1" descr=""/>
          <p:cNvPicPr/>
          <p:nvPr/>
        </p:nvPicPr>
        <p:blipFill>
          <a:blip r:embed="rId2" cstate="none"/>
          <a:stretch>
            <a:fillRect/>
          </a:stretch>
        </p:blipFill>
        <p:spPr>
          <a:xfrm>
            <a:off x="0" y="0"/>
            <a:ext cx="12192000" cy="6858000"/>
          </a:xfrm>
          <a:prstGeom prst="rect">
            <a:avLst/>
          </a:prstGeom>
        </p:spPr>
      </p:pic>
      <p:pic>
        <p:nvPicPr>
          <p:cNvPr id="101" name="Presenton Native Image 2" descr=""/>
          <p:cNvPicPr/>
          <p:nvPr/>
        </p:nvPicPr>
        <p:blipFill>
          <a:blip r:embed="rId3" cstate="none"/>
          <a:stretch>
            <a:fillRect/>
          </a:stretch>
        </p:blipFill>
        <p:spPr>
          <a:xfrm>
            <a:off x="0" y="328825"/>
            <a:ext cx="9175452" cy="6529175"/>
          </a:xfrm>
          <a:prstGeom prst="rect">
            <a:avLst/>
          </a:prstGeom>
        </p:spPr>
      </p:pic>
      <p:sp>
        <p:nvSpPr>
          <p:cNvPr id="2" name="Shape 2"/>
          <p:cNvSpPr/>
          <p:nvPr/>
        </p:nvSpPr>
        <p:spPr>
          <a:xfrm>
            <a:off x="775692" y="2129284"/>
            <a:ext cx="4522143" cy="563612"/>
          </a:xfrm>
          <a:prstGeom prst="rect">
            <a:avLst/>
          </a:prstGeom>
          <a:noFill/>
        </p:spPr>
        <p:txBody>
          <a:bodyPr anchor="t" wrap="square" tIns="0" bIns="0" lIns="0" rIns="0">
            <a:normAutofit/>
          </a:bodyPr>
          <a:lstStyle/>
          <a:p>
            <a:pPr algn="l">
              <a:lnSpc>
                <a:spcPts val="4439"/>
              </a:lnSpc>
              <a:buNone/>
            </a:pPr>
            <a:r>
              <a:rPr sz="3999" b="1" i="0" spc="59">
                <a:solidFill>
                  <a:srgbClr val="FFFFFF"/>
                </a:solidFill>
                <a:latin typeface="DM Sans"/>
                <a:ea typeface="DM Sans"/>
              </a:rPr>
              <a:t>QueryGuard</a:t>
            </a:r>
            <a:endParaRPr lang="en-US"/>
          </a:p>
        </p:txBody>
      </p:sp>
      <p:sp>
        <p:nvSpPr>
          <p:cNvPr id="3" name="Shape 3"/>
          <p:cNvSpPr/>
          <p:nvPr/>
        </p:nvSpPr>
        <p:spPr>
          <a:xfrm>
            <a:off x="776436" y="2651671"/>
            <a:ext cx="4097982" cy="1081385"/>
          </a:xfrm>
          <a:prstGeom prst="rect">
            <a:avLst/>
          </a:prstGeom>
          <a:noFill/>
        </p:spPr>
        <p:txBody>
          <a:bodyPr anchor="t" wrap="square" tIns="0" bIns="0" lIns="0" rIns="0">
            <a:normAutofit/>
          </a:bodyPr>
          <a:lstStyle/>
          <a:p>
            <a:pPr algn="l">
              <a:lnSpc>
                <a:spcPts val="4258"/>
              </a:lnSpc>
              <a:buNone/>
            </a:pPr>
            <a:r>
              <a:rPr sz="4482" b="1" i="1" spc="67">
                <a:solidFill>
                  <a:srgbClr val="FFFFFF"/>
                </a:solidFill>
                <a:latin typeface="Playfair Display Semi Bold Italics"/>
                <a:ea typeface="Playfair Display Semi Bold Italics"/>
              </a:rPr>
              <a:t>Safety Gate for LLM SQL</a:t>
            </a:r>
            <a:endParaRPr lang="en-US"/>
          </a:p>
        </p:txBody>
      </p:sp>
      <p:sp>
        <p:nvSpPr>
          <p:cNvPr id="4" name="Shape 4"/>
          <p:cNvSpPr/>
          <p:nvPr/>
        </p:nvSpPr>
        <p:spPr>
          <a:xfrm>
            <a:off x="775692" y="4056906"/>
            <a:ext cx="4369445" cy="666155"/>
          </a:xfrm>
          <a:prstGeom prst="rect">
            <a:avLst/>
          </a:prstGeom>
          <a:noFill/>
        </p:spPr>
        <p:txBody>
          <a:bodyPr anchor="t" wrap="square" tIns="0" bIns="0" lIns="0" rIns="0">
            <a:normAutofit/>
          </a:bodyPr>
          <a:lstStyle/>
          <a:p>
            <a:pPr algn="l">
              <a:lnSpc>
                <a:spcPts val="1748"/>
              </a:lnSpc>
              <a:buNone/>
            </a:pPr>
            <a:r>
              <a:rPr sz="1469" b="0" i="0" spc="22">
                <a:solidFill>
                  <a:srgbClr val="FFFFFF"/>
                </a:solidFill>
                <a:latin typeface="DM Sans"/>
                <a:ea typeface="DM Sans"/>
              </a:rPr>
              <a:t>Presented by M. Mahd Amjad and Arwa Arafeh — CS 5391 Software Engineering group project, two-member team — September 9, 2026</a:t>
            </a:r>
            <a:endParaRPr lang="en-US"/>
          </a:p>
        </p:txBody>
      </p:sp>
      <p:pic>
        <p:nvPicPr>
          <p:cNvPr id="102" name="Presenton Native Image 3" descr=""/>
          <p:cNvPicPr/>
          <p:nvPr/>
        </p:nvPicPr>
        <p:blipFill>
          <a:blip r:embed="rId4" cstate="none"/>
          <a:stretch>
            <a:fillRect/>
          </a:stretch>
        </p:blipFill>
        <p:spPr>
          <a:xfrm>
            <a:off x="5887045" y="3112740"/>
            <a:ext cx="6304955" cy="3168997"/>
          </a:xfrm>
          <a:prstGeom prst="rect">
            <a:avLst/>
          </a:prstGeom>
        </p:spPr>
      </p:pic>
      <p:pic>
        <p:nvPicPr>
          <p:cNvPr id="103" name="Presenton Native Image 4" descr=""/>
          <p:cNvPicPr/>
          <p:nvPr/>
        </p:nvPicPr>
        <p:blipFill>
          <a:blip r:embed="rId5" cstate="none"/>
          <a:stretch>
            <a:fillRect/>
          </a:stretch>
        </p:blipFill>
        <p:spPr>
          <a:xfrm>
            <a:off x="7753648" y="0"/>
            <a:ext cx="4438352" cy="3460700"/>
          </a:xfrm>
          <a:prstGeom prst="rect">
            <a:avLst/>
          </a:prstGeom>
        </p:spPr>
      </p:pic>
      <p:pic>
        <p:nvPicPr>
          <p:cNvPr id="104" name="Presenton Raster Image 5" descr=""/>
          <p:cNvPicPr/>
          <p:nvPr/>
        </p:nvPicPr>
        <p:blipFill>
          <a:blip r:embed="rId6" cstate="none"/>
          <a:stretch>
            <a:fillRect/>
          </a:stretch>
        </p:blipFill>
        <p:spPr>
          <a:xfrm>
            <a:off x="6222802" y="3513981"/>
            <a:ext cx="2823270" cy="2706291"/>
          </a:xfrm>
          <a:prstGeom prst="rect">
            <a:avLst/>
          </a:prstGeom>
        </p:spPr>
      </p:pic>
      <p:pic>
        <p:nvPicPr>
          <p:cNvPr id="105" name="Presenton Raster Image 6" descr=""/>
          <p:cNvPicPr/>
          <p:nvPr/>
        </p:nvPicPr>
        <p:blipFill>
          <a:blip r:embed="rId7" cstate="none"/>
          <a:stretch>
            <a:fillRect/>
          </a:stretch>
        </p:blipFill>
        <p:spPr>
          <a:xfrm>
            <a:off x="7860357" y="557957"/>
            <a:ext cx="3890070" cy="5647432"/>
          </a:xfrm>
          <a:prstGeom prst="rect">
            <a:avLst/>
          </a:prstGeom>
        </p:spPr>
      </p:pic>
      <p:pic>
        <p:nvPicPr>
          <p:cNvPr id="106" name="Presenton Native Image 7" descr=""/>
          <p:cNvPicPr/>
          <p:nvPr/>
        </p:nvPicPr>
        <p:blipFill>
          <a:blip r:embed="rId8" cstate="none"/>
          <a:stretch>
            <a:fillRect/>
          </a:stretch>
        </p:blipFill>
        <p:spPr>
          <a:xfrm>
            <a:off x="0" y="5702498"/>
            <a:ext cx="2142530" cy="584150"/>
          </a:xfrm>
          <a:prstGeom prst="rect">
            <a:avLst/>
          </a:prstGeom>
        </p:spPr>
      </p:pic>
      <p:pic>
        <p:nvPicPr>
          <p:cNvPr id="107" name="Presenton Native Image 8" descr=""/>
          <p:cNvPicPr/>
          <p:nvPr/>
        </p:nvPicPr>
        <p:blipFill>
          <a:blip r:embed="rId9" cstate="none"/>
          <a:stretch>
            <a:fillRect/>
          </a:stretch>
        </p:blipFill>
        <p:spPr>
          <a:xfrm>
            <a:off x="400050" y="5816947"/>
            <a:ext cx="355104" cy="355104"/>
          </a:xfrm>
          <a:prstGeom prst="rect">
            <a:avLst/>
          </a:prstGeom>
        </p:spPr>
      </p:pic>
      <p:sp>
        <p:nvSpPr>
          <p:cNvPr id="5" name="Shape 5"/>
          <p:cNvSpPr/>
          <p:nvPr/>
        </p:nvSpPr>
        <p:spPr>
          <a:xfrm>
            <a:off x="839242" y="5848648"/>
            <a:ext cx="965448" cy="353913"/>
          </a:xfrm>
          <a:prstGeom prst="rect">
            <a:avLst/>
          </a:prstGeom>
          <a:noFill/>
        </p:spPr>
        <p:txBody>
          <a:bodyPr anchor="t" wrap="square" tIns="0" bIns="0" lIns="0" rIns="0">
            <a:normAutofit/>
          </a:bodyPr>
          <a:lstStyle/>
          <a:p>
            <a:pPr algn="l">
              <a:lnSpc>
                <a:spcPts val="1394"/>
              </a:lnSpc>
              <a:buNone/>
            </a:pPr>
            <a:r>
              <a:rPr sz="1340" b="0" i="0">
                <a:solidFill>
                  <a:srgbClr val="D9D9D9"/>
                </a:solidFill>
                <a:latin typeface="DM Sans"/>
                <a:ea typeface="DM Sans"/>
              </a:rPr>
              <a:t>Mahd Amjad</a:t>
            </a:r>
            <a:endParaRPr lang="en-US"/>
          </a:p>
        </p:txBody>
      </p:sp>
      <p:sp>
        <p:nvSpPr>
          <p:cNvPr id="6" name="Shape 6"/>
          <p:cNvSpPr/>
          <p:nvPr/>
        </p:nvSpPr>
        <p:spPr>
          <a:xfrm>
            <a:off x="845641" y="6023818"/>
            <a:ext cx="1005780" cy="123230"/>
          </a:xfrm>
          <a:prstGeom prst="rect">
            <a:avLst/>
          </a:prstGeom>
          <a:noFill/>
        </p:spPr>
        <p:txBody>
          <a:bodyPr anchor="t" wrap="square" tIns="0" bIns="0" lIns="0" rIns="0">
            <a:normAutofit/>
          </a:bodyPr>
          <a:lstStyle/>
          <a:p>
            <a:pPr algn="l">
              <a:lnSpc>
                <a:spcPts val="971"/>
              </a:lnSpc>
              <a:buNone/>
            </a:pPr>
            <a:r>
              <a:rPr sz="934" b="0" i="0">
                <a:solidFill>
                  <a:srgbClr val="D9D9D9"/>
                </a:solidFill>
                <a:latin typeface="DM Sans"/>
                <a:ea typeface="DM Sans"/>
              </a:rPr>
              <a:t>with Arwa Arafeh</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8" name="Presenton Native Image 9" descr=""/>
          <p:cNvPicPr/>
          <p:nvPr/>
        </p:nvPicPr>
        <p:blipFill>
          <a:blip r:embed="rId2" cstate="none"/>
          <a:stretch>
            <a:fillRect/>
          </a:stretch>
        </p:blipFill>
        <p:spPr>
          <a:xfrm>
            <a:off x="0" y="328825"/>
            <a:ext cx="9175452" cy="6529175"/>
          </a:xfrm>
          <a:prstGeom prst="rect">
            <a:avLst/>
          </a:prstGeom>
        </p:spPr>
      </p:pic>
      <p:sp>
        <p:nvSpPr>
          <p:cNvPr id="7" name="Shape 7"/>
          <p:cNvSpPr/>
          <p:nvPr/>
        </p:nvSpPr>
        <p:spPr>
          <a:xfrm>
            <a:off x="762000" y="593378"/>
            <a:ext cx="4848969" cy="1493937"/>
          </a:xfrm>
          <a:prstGeom prst="rect">
            <a:avLst/>
          </a:prstGeom>
          <a:noFill/>
        </p:spPr>
        <p:txBody>
          <a:bodyPr anchor="t" wrap="square" tIns="0" bIns="0" lIns="0" rIns="0">
            <a:normAutofit/>
          </a:bodyPr>
          <a:lstStyle/>
          <a:p>
            <a:pPr algn="l">
              <a:lnSpc>
                <a:spcPts val="3922"/>
              </a:lnSpc>
              <a:buNone/>
            </a:pPr>
            <a:r>
              <a:rPr sz="3533" b="1" i="1" spc="52">
                <a:solidFill>
                  <a:srgbClr val="FFFFFF"/>
                </a:solidFill>
                <a:latin typeface="Playfair Display Semi Bold Italics"/>
                <a:ea typeface="Playfair Display Semi Bold Italics"/>
              </a:rPr>
              <a:t>The Problem: Unguarded LLM-Generated SQL</a:t>
            </a:r>
            <a:endParaRPr lang="en-US"/>
          </a:p>
        </p:txBody>
      </p:sp>
      <p:pic>
        <p:nvPicPr>
          <p:cNvPr id="109" name="Presenton Native Image 10" descr=""/>
          <p:cNvPicPr/>
          <p:nvPr/>
        </p:nvPicPr>
        <p:blipFill>
          <a:blip r:embed="rId3" cstate="none"/>
          <a:stretch>
            <a:fillRect/>
          </a:stretch>
        </p:blipFill>
        <p:spPr>
          <a:xfrm>
            <a:off x="361950" y="2247900"/>
            <a:ext cx="4257675" cy="3409950"/>
          </a:xfrm>
          <a:prstGeom prst="rect">
            <a:avLst/>
          </a:prstGeom>
        </p:spPr>
      </p:pic>
      <p:sp>
        <p:nvSpPr>
          <p:cNvPr id="8" name="Shape 8"/>
          <p:cNvSpPr/>
          <p:nvPr/>
        </p:nvSpPr>
        <p:spPr>
          <a:xfrm>
            <a:off x="6976765" y="2111276"/>
            <a:ext cx="2070050" cy="2070050"/>
          </a:xfrm>
          <a:prstGeom prst="roundRect">
            <a:avLst>
              <a:gd name="adj" fmla="val 8282"/>
            </a:avLst>
          </a:prstGeom>
          <a:solidFill>
            <a:srgbClr val="202832"/>
          </a:solidFill>
          <a:ln w="9525">
            <a:solidFill>
              <a:srgbClr val="2C3742"/>
            </a:solidFill>
          </a:ln>
        </p:spPr>
        <p:txBody>
          <a:bodyPr/>
          <a:lstStyle/>
          <a:p/>
        </p:txBody>
      </p:sp>
      <p:sp>
        <p:nvSpPr>
          <p:cNvPr id="9" name="Shape 9"/>
          <p:cNvSpPr/>
          <p:nvPr/>
        </p:nvSpPr>
        <p:spPr>
          <a:xfrm>
            <a:off x="7276951" y="3126432"/>
            <a:ext cx="1592759" cy="439341"/>
          </a:xfrm>
          <a:prstGeom prst="rect">
            <a:avLst/>
          </a:prstGeom>
          <a:noFill/>
        </p:spPr>
        <p:txBody>
          <a:bodyPr anchor="t" wrap="square" tIns="0" bIns="0" lIns="0" rIns="0">
            <a:normAutofit/>
          </a:bodyPr>
          <a:lstStyle/>
          <a:p>
            <a:pPr algn="r">
              <a:lnSpc>
                <a:spcPts val="3460"/>
              </a:lnSpc>
              <a:buNone/>
            </a:pPr>
            <a:r>
              <a:rPr sz="3117" b="1" i="0" spc="47">
                <a:solidFill>
                  <a:srgbClr val="44AFFF"/>
                </a:solidFill>
                <a:latin typeface="DM Sans"/>
                <a:ea typeface="DM Sans"/>
              </a:rPr>
              <a:t>96%</a:t>
            </a:r>
            <a:endParaRPr lang="en-US"/>
          </a:p>
        </p:txBody>
      </p:sp>
      <p:sp>
        <p:nvSpPr>
          <p:cNvPr id="10" name="Shape 10"/>
          <p:cNvSpPr/>
          <p:nvPr/>
        </p:nvSpPr>
        <p:spPr>
          <a:xfrm>
            <a:off x="7276951" y="3624709"/>
            <a:ext cx="1592759" cy="383381"/>
          </a:xfrm>
          <a:prstGeom prst="rect">
            <a:avLst/>
          </a:prstGeom>
          <a:noFill/>
        </p:spPr>
        <p:txBody>
          <a:bodyPr anchor="t" wrap="square" tIns="0" bIns="0" lIns="0" rIns="0">
            <a:normAutofit/>
          </a:bodyPr>
          <a:lstStyle/>
          <a:p>
            <a:pPr algn="r">
              <a:lnSpc>
                <a:spcPts val="1510"/>
              </a:lnSpc>
              <a:buNone/>
            </a:pPr>
            <a:r>
              <a:rPr sz="1269" b="0" i="0" spc="19">
                <a:solidFill>
                  <a:srgbClr val="FFFFFF"/>
                </a:solidFill>
                <a:latin typeface="DM Sans"/>
                <a:ea typeface="DM Sans"/>
              </a:rPr>
              <a:t>Injection Success Rate</a:t>
            </a:r>
            <a:endParaRPr lang="en-US"/>
          </a:p>
        </p:txBody>
      </p:sp>
      <p:sp>
        <p:nvSpPr>
          <p:cNvPr id="11" name="Shape 11"/>
          <p:cNvSpPr/>
          <p:nvPr/>
        </p:nvSpPr>
        <p:spPr>
          <a:xfrm>
            <a:off x="9336435" y="2111276"/>
            <a:ext cx="2070050" cy="2070050"/>
          </a:xfrm>
          <a:prstGeom prst="roundRect">
            <a:avLst>
              <a:gd name="adj" fmla="val 8282"/>
            </a:avLst>
          </a:prstGeom>
          <a:solidFill>
            <a:srgbClr val="202832"/>
          </a:solidFill>
          <a:ln w="9525">
            <a:solidFill>
              <a:srgbClr val="2C3742"/>
            </a:solidFill>
          </a:ln>
        </p:spPr>
        <p:txBody>
          <a:bodyPr/>
          <a:lstStyle/>
          <a:p/>
        </p:txBody>
      </p:sp>
      <p:sp>
        <p:nvSpPr>
          <p:cNvPr id="12" name="Shape 12"/>
          <p:cNvSpPr/>
          <p:nvPr/>
        </p:nvSpPr>
        <p:spPr>
          <a:xfrm>
            <a:off x="9636621" y="3126432"/>
            <a:ext cx="1592759" cy="439341"/>
          </a:xfrm>
          <a:prstGeom prst="rect">
            <a:avLst/>
          </a:prstGeom>
          <a:noFill/>
        </p:spPr>
        <p:txBody>
          <a:bodyPr anchor="t" wrap="square" tIns="0" bIns="0" lIns="0" rIns="0">
            <a:normAutofit/>
          </a:bodyPr>
          <a:lstStyle/>
          <a:p>
            <a:pPr algn="r">
              <a:lnSpc>
                <a:spcPts val="3460"/>
              </a:lnSpc>
              <a:buNone/>
            </a:pPr>
            <a:r>
              <a:rPr sz="3117" b="1" i="0" spc="47">
                <a:solidFill>
                  <a:srgbClr val="44AFFF"/>
                </a:solidFill>
                <a:latin typeface="DM Sans"/>
                <a:ea typeface="DM Sans"/>
              </a:rPr>
              <a:t>9.8</a:t>
            </a:r>
            <a:endParaRPr lang="en-US"/>
          </a:p>
        </p:txBody>
      </p:sp>
      <p:sp>
        <p:nvSpPr>
          <p:cNvPr id="13" name="Shape 13"/>
          <p:cNvSpPr/>
          <p:nvPr/>
        </p:nvSpPr>
        <p:spPr>
          <a:xfrm>
            <a:off x="9636621" y="3624709"/>
            <a:ext cx="1592759" cy="191691"/>
          </a:xfrm>
          <a:prstGeom prst="rect">
            <a:avLst/>
          </a:prstGeom>
          <a:noFill/>
        </p:spPr>
        <p:txBody>
          <a:bodyPr anchor="t" wrap="square" tIns="0" bIns="0" lIns="0" rIns="0">
            <a:normAutofit/>
          </a:bodyPr>
          <a:lstStyle/>
          <a:p>
            <a:pPr algn="r">
              <a:lnSpc>
                <a:spcPts val="1510"/>
              </a:lnSpc>
              <a:buNone/>
            </a:pPr>
            <a:r>
              <a:rPr sz="1269" b="0" i="0" spc="19">
                <a:solidFill>
                  <a:srgbClr val="FFFFFF"/>
                </a:solidFill>
                <a:latin typeface="DM Sans"/>
                <a:ea typeface="DM Sans"/>
              </a:rPr>
              <a:t>Peak CVSS Score</a:t>
            </a:r>
            <a:endParaRPr lang="en-US"/>
          </a:p>
        </p:txBody>
      </p:sp>
      <p:pic>
        <p:nvPicPr>
          <p:cNvPr id="110" name="Presenton Native Image 11" descr=""/>
          <p:cNvPicPr/>
          <p:nvPr/>
        </p:nvPicPr>
        <p:blipFill>
          <a:blip r:embed="rId4" cstate="none"/>
          <a:stretch>
            <a:fillRect/>
          </a:stretch>
        </p:blipFill>
        <p:spPr>
          <a:xfrm>
            <a:off x="6983016" y="4682877"/>
            <a:ext cx="131266" cy="127992"/>
          </a:xfrm>
          <a:prstGeom prst="rect">
            <a:avLst/>
          </a:prstGeom>
        </p:spPr>
      </p:pic>
      <p:sp>
        <p:nvSpPr>
          <p:cNvPr id="14" name="Shape 14"/>
          <p:cNvSpPr/>
          <p:nvPr/>
        </p:nvSpPr>
        <p:spPr>
          <a:xfrm>
            <a:off x="7225457" y="4682877"/>
            <a:ext cx="4010174" cy="335161"/>
          </a:xfrm>
          <a:prstGeom prst="rect">
            <a:avLst/>
          </a:prstGeom>
          <a:noFill/>
        </p:spPr>
        <p:txBody>
          <a:bodyPr anchor="t" wrap="square" tIns="0" bIns="0" lIns="0" rIns="0">
            <a:normAutofit/>
          </a:bodyPr>
          <a:lstStyle/>
          <a:p>
            <a:pPr algn="l">
              <a:lnSpc>
                <a:spcPts val="1320"/>
              </a:lnSpc>
              <a:buNone/>
            </a:pPr>
            <a:r>
              <a:rPr sz="1269" b="0" i="0" spc="19">
                <a:solidFill>
                  <a:srgbClr val="FFFFFF"/>
                </a:solidFill>
                <a:latin typeface="DM Sans"/>
                <a:ea typeface="DM Sans"/>
              </a:rPr>
              <a:t>Many frameworks pass model-generated SQL straight to production databases without checks.</a:t>
            </a:r>
            <a:endParaRPr lang="en-US"/>
          </a:p>
        </p:txBody>
      </p:sp>
      <p:pic>
        <p:nvPicPr>
          <p:cNvPr id="111" name="Presenton Native Image 12" descr=""/>
          <p:cNvPicPr/>
          <p:nvPr/>
        </p:nvPicPr>
        <p:blipFill>
          <a:blip r:embed="rId5" cstate="none"/>
          <a:stretch>
            <a:fillRect/>
          </a:stretch>
        </p:blipFill>
        <p:spPr>
          <a:xfrm>
            <a:off x="6983016" y="5297091"/>
            <a:ext cx="131266" cy="127992"/>
          </a:xfrm>
          <a:prstGeom prst="rect">
            <a:avLst/>
          </a:prstGeom>
        </p:spPr>
      </p:pic>
      <p:sp>
        <p:nvSpPr>
          <p:cNvPr id="15" name="Shape 15"/>
          <p:cNvSpPr/>
          <p:nvPr/>
        </p:nvSpPr>
        <p:spPr>
          <a:xfrm>
            <a:off x="7225457" y="5297091"/>
            <a:ext cx="4010174" cy="335161"/>
          </a:xfrm>
          <a:prstGeom prst="rect">
            <a:avLst/>
          </a:prstGeom>
          <a:noFill/>
        </p:spPr>
        <p:txBody>
          <a:bodyPr anchor="t" wrap="square" tIns="0" bIns="0" lIns="0" rIns="0">
            <a:normAutofit/>
          </a:bodyPr>
          <a:lstStyle/>
          <a:p>
            <a:pPr algn="l">
              <a:lnSpc>
                <a:spcPts val="1320"/>
              </a:lnSpc>
              <a:buNone/>
            </a:pPr>
            <a:r>
              <a:rPr sz="1269" b="0" i="0" spc="19">
                <a:solidFill>
                  <a:srgbClr val="FFFFFF"/>
                </a:solidFill>
                <a:latin typeface="DM Sans"/>
                <a:ea typeface="DM Sans"/>
              </a:rPr>
              <a:t>Published CVEs from 2024 to 2026 span remote code execution and personal data extraction.</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2" name="Presenton Native Image 13" descr=""/>
          <p:cNvPicPr/>
          <p:nvPr/>
        </p:nvPicPr>
        <p:blipFill>
          <a:blip r:embed="rId2" cstate="none"/>
          <a:stretch>
            <a:fillRect/>
          </a:stretch>
        </p:blipFill>
        <p:spPr>
          <a:xfrm>
            <a:off x="0" y="328825"/>
            <a:ext cx="9175452" cy="6529175"/>
          </a:xfrm>
          <a:prstGeom prst="rect">
            <a:avLst/>
          </a:prstGeom>
        </p:spPr>
      </p:pic>
      <p:sp>
        <p:nvSpPr>
          <p:cNvPr id="16" name="Shape 16"/>
          <p:cNvSpPr/>
          <p:nvPr/>
        </p:nvSpPr>
        <p:spPr>
          <a:xfrm>
            <a:off x="762000" y="783282"/>
            <a:ext cx="10322123" cy="497979"/>
          </a:xfrm>
          <a:prstGeom prst="rect">
            <a:avLst/>
          </a:prstGeom>
          <a:noFill/>
        </p:spPr>
        <p:txBody>
          <a:bodyPr anchor="t" wrap="square" tIns="0" bIns="0" lIns="0" rIns="0">
            <a:normAutofit/>
          </a:bodyPr>
          <a:lstStyle/>
          <a:p>
            <a:pPr algn="l">
              <a:lnSpc>
                <a:spcPts val="3922"/>
              </a:lnSpc>
              <a:buNone/>
            </a:pPr>
            <a:r>
              <a:rPr sz="3533" b="1" i="1" spc="52">
                <a:solidFill>
                  <a:srgbClr val="FFFFFF"/>
                </a:solidFill>
                <a:latin typeface="Playfair Display Semi Bold Italics"/>
                <a:ea typeface="Playfair Display Semi Bold Italics"/>
              </a:rPr>
              <a:t>Existing Defenses and the Gap</a:t>
            </a:r>
            <a:endParaRPr lang="en-US"/>
          </a:p>
        </p:txBody>
      </p:sp>
      <p:sp>
        <p:nvSpPr>
          <p:cNvPr id="17" name="Shape 17"/>
          <p:cNvSpPr/>
          <p:nvPr/>
        </p:nvSpPr>
        <p:spPr>
          <a:xfrm>
            <a:off x="762000" y="2427387"/>
            <a:ext cx="5024884" cy="201811"/>
          </a:xfrm>
          <a:prstGeom prst="rect">
            <a:avLst/>
          </a:prstGeom>
          <a:noFill/>
        </p:spPr>
        <p:txBody>
          <a:bodyPr anchor="t" wrap="square" tIns="0" bIns="0" lIns="0" rIns="0">
            <a:normAutofit/>
          </a:bodyPr>
          <a:lstStyle/>
          <a:p>
            <a:pPr algn="r">
              <a:lnSpc>
                <a:spcPts val="1590"/>
              </a:lnSpc>
              <a:buNone/>
            </a:pPr>
            <a:r>
              <a:rPr sz="1336" b="1" i="0" spc="20">
                <a:solidFill>
                  <a:srgbClr val="FFFFFF"/>
                </a:solidFill>
                <a:latin typeface="DM Sans"/>
                <a:ea typeface="DM Sans"/>
              </a:rPr>
              <a:t>Model-Side Fixes</a:t>
            </a:r>
            <a:endParaRPr lang="en-US"/>
          </a:p>
        </p:txBody>
      </p:sp>
      <p:sp>
        <p:nvSpPr>
          <p:cNvPr id="18" name="Shape 18"/>
          <p:cNvSpPr/>
          <p:nvPr/>
        </p:nvSpPr>
        <p:spPr>
          <a:xfrm>
            <a:off x="762000" y="2657624"/>
            <a:ext cx="4893915" cy="383381"/>
          </a:xfrm>
          <a:prstGeom prst="rect">
            <a:avLst/>
          </a:prstGeom>
          <a:noFill/>
        </p:spPr>
        <p:txBody>
          <a:bodyPr anchor="t" wrap="square" tIns="0" bIns="0" lIns="0" rIns="0">
            <a:normAutofit/>
          </a:bodyPr>
          <a:lstStyle/>
          <a:p>
            <a:pPr algn="r">
              <a:lnSpc>
                <a:spcPts val="1510"/>
              </a:lnSpc>
              <a:buNone/>
            </a:pPr>
            <a:r>
              <a:rPr sz="1269" b="1" i="0" spc="19">
                <a:solidFill>
                  <a:srgbClr val="FFFFFF"/>
                </a:solidFill>
                <a:latin typeface="DM Sans"/>
                <a:ea typeface="DM Sans"/>
              </a:rPr>
              <a:t>StruQ</a:t>
            </a:r>
            <a:r>
              <a:rPr sz="1269" b="0" i="0" spc="19">
                <a:solidFill>
                  <a:srgbClr val="FFFFFF"/>
                </a:solidFill>
                <a:latin typeface="DM Sans"/>
                <a:ea typeface="DM Sans"/>
              </a:rPr>
              <a:t xml:space="preserve"> and </a:t>
            </a:r>
            <a:r>
              <a:rPr sz="1269" b="1" i="0" spc="19">
                <a:solidFill>
                  <a:srgbClr val="FFFFFF"/>
                </a:solidFill>
                <a:latin typeface="DM Sans"/>
                <a:ea typeface="DM Sans"/>
              </a:rPr>
              <a:t>SecAlign</a:t>
            </a:r>
            <a:r>
              <a:rPr sz="1269" b="0" i="0" spc="19">
                <a:solidFill>
                  <a:srgbClr val="FFFFFF"/>
                </a:solidFill>
                <a:latin typeface="DM Sans"/>
                <a:ea typeface="DM Sans"/>
              </a:rPr>
              <a:t xml:space="preserve"> harden prompts at the model level, but both require retraining or fine-tuning.</a:t>
            </a:r>
            <a:endParaRPr lang="en-US"/>
          </a:p>
        </p:txBody>
      </p:sp>
      <p:sp>
        <p:nvSpPr>
          <p:cNvPr id="19" name="Shape 19"/>
          <p:cNvSpPr/>
          <p:nvPr/>
        </p:nvSpPr>
        <p:spPr>
          <a:xfrm>
            <a:off x="762000" y="3180457"/>
            <a:ext cx="5039320" cy="12650"/>
          </a:xfrm>
          <a:prstGeom prst="rect">
            <a:avLst/>
          </a:prstGeom>
          <a:solidFill>
            <a:srgbClr val="FFFFFF"/>
          </a:solidFill>
        </p:spPr>
        <p:txBody>
          <a:bodyPr/>
          <a:lstStyle/>
          <a:p/>
        </p:txBody>
      </p:sp>
      <p:sp>
        <p:nvSpPr>
          <p:cNvPr id="20" name="Shape 20"/>
          <p:cNvSpPr/>
          <p:nvPr/>
        </p:nvSpPr>
        <p:spPr>
          <a:xfrm>
            <a:off x="762000" y="3574107"/>
            <a:ext cx="5024884" cy="201811"/>
          </a:xfrm>
          <a:prstGeom prst="rect">
            <a:avLst/>
          </a:prstGeom>
          <a:noFill/>
        </p:spPr>
        <p:txBody>
          <a:bodyPr anchor="t" wrap="square" tIns="0" bIns="0" lIns="0" rIns="0">
            <a:normAutofit/>
          </a:bodyPr>
          <a:lstStyle/>
          <a:p>
            <a:pPr algn="r">
              <a:lnSpc>
                <a:spcPts val="1590"/>
              </a:lnSpc>
              <a:buNone/>
            </a:pPr>
            <a:r>
              <a:rPr sz="1336" b="1" i="0" spc="20">
                <a:solidFill>
                  <a:srgbClr val="FFFFFF"/>
                </a:solidFill>
                <a:latin typeface="DM Sans"/>
                <a:ea typeface="DM Sans"/>
              </a:rPr>
              <a:t>Generic Guardrails</a:t>
            </a:r>
            <a:endParaRPr lang="en-US"/>
          </a:p>
        </p:txBody>
      </p:sp>
      <p:sp>
        <p:nvSpPr>
          <p:cNvPr id="21" name="Shape 21"/>
          <p:cNvSpPr/>
          <p:nvPr/>
        </p:nvSpPr>
        <p:spPr>
          <a:xfrm>
            <a:off x="762000" y="3804345"/>
            <a:ext cx="4893915" cy="383381"/>
          </a:xfrm>
          <a:prstGeom prst="rect">
            <a:avLst/>
          </a:prstGeom>
          <a:noFill/>
        </p:spPr>
        <p:txBody>
          <a:bodyPr anchor="t" wrap="square" tIns="0" bIns="0" lIns="0" rIns="0">
            <a:normAutofit/>
          </a:bodyPr>
          <a:lstStyle/>
          <a:p>
            <a:pPr algn="r">
              <a:lnSpc>
                <a:spcPts val="1510"/>
              </a:lnSpc>
              <a:buNone/>
            </a:pPr>
            <a:r>
              <a:rPr sz="1269" b="0" i="0" spc="19">
                <a:solidFill>
                  <a:srgbClr val="FFFFFF"/>
                </a:solidFill>
                <a:latin typeface="DM Sans"/>
                <a:ea typeface="DM Sans"/>
              </a:rPr>
              <a:t xml:space="preserve">NVIDIA NeMo Guardrails and Guardrails AI are </a:t>
            </a:r>
            <a:r>
              <a:rPr sz="1269" b="1" i="0" spc="19">
                <a:solidFill>
                  <a:srgbClr val="FFFFFF"/>
                </a:solidFill>
                <a:latin typeface="DM Sans"/>
                <a:ea typeface="DM Sans"/>
              </a:rPr>
              <a:t>schema-unaware</a:t>
            </a:r>
            <a:r>
              <a:rPr sz="1269" b="0" i="0" spc="19">
                <a:solidFill>
                  <a:srgbClr val="FFFFFF"/>
                </a:solidFill>
                <a:latin typeface="DM Sans"/>
                <a:ea typeface="DM Sans"/>
              </a:rPr>
              <a:t xml:space="preserve"> and rely on </a:t>
            </a:r>
            <a:r>
              <a:rPr sz="1269" b="1" i="0" spc="19">
                <a:solidFill>
                  <a:srgbClr val="FFFFFF"/>
                </a:solidFill>
                <a:latin typeface="DM Sans"/>
                <a:ea typeface="DM Sans"/>
              </a:rPr>
              <a:t>opaque classifiers</a:t>
            </a:r>
            <a:r>
              <a:rPr sz="1269" b="0" i="0" spc="19">
                <a:solidFill>
                  <a:srgbClr val="FFFFFF"/>
                </a:solidFill>
                <a:latin typeface="DM Sans"/>
                <a:ea typeface="DM Sans"/>
              </a:rPr>
              <a:t>.</a:t>
            </a:r>
            <a:endParaRPr lang="en-US"/>
          </a:p>
        </p:txBody>
      </p:sp>
      <p:sp>
        <p:nvSpPr>
          <p:cNvPr id="22" name="Shape 22"/>
          <p:cNvSpPr/>
          <p:nvPr/>
        </p:nvSpPr>
        <p:spPr>
          <a:xfrm>
            <a:off x="762000" y="4327178"/>
            <a:ext cx="5039320" cy="12650"/>
          </a:xfrm>
          <a:prstGeom prst="rect">
            <a:avLst/>
          </a:prstGeom>
          <a:solidFill>
            <a:srgbClr val="FFFFFF"/>
          </a:solidFill>
        </p:spPr>
        <p:txBody>
          <a:bodyPr/>
          <a:lstStyle/>
          <a:p/>
        </p:txBody>
      </p:sp>
      <p:sp>
        <p:nvSpPr>
          <p:cNvPr id="23" name="Shape 23"/>
          <p:cNvSpPr/>
          <p:nvPr/>
        </p:nvSpPr>
        <p:spPr>
          <a:xfrm>
            <a:off x="762000" y="4720828"/>
            <a:ext cx="5024884" cy="201811"/>
          </a:xfrm>
          <a:prstGeom prst="rect">
            <a:avLst/>
          </a:prstGeom>
          <a:noFill/>
        </p:spPr>
        <p:txBody>
          <a:bodyPr anchor="t" wrap="square" tIns="0" bIns="0" lIns="0" rIns="0">
            <a:normAutofit/>
          </a:bodyPr>
          <a:lstStyle/>
          <a:p>
            <a:pPr algn="r">
              <a:lnSpc>
                <a:spcPts val="1590"/>
              </a:lnSpc>
              <a:buNone/>
            </a:pPr>
            <a:r>
              <a:rPr sz="1336" b="1" i="0" spc="20">
                <a:solidFill>
                  <a:srgbClr val="FFFFFF"/>
                </a:solidFill>
                <a:latin typeface="DM Sans"/>
                <a:ea typeface="DM Sans"/>
              </a:rPr>
              <a:t>The Missing Layer</a:t>
            </a:r>
            <a:endParaRPr lang="en-US"/>
          </a:p>
        </p:txBody>
      </p:sp>
      <p:sp>
        <p:nvSpPr>
          <p:cNvPr id="24" name="Shape 24"/>
          <p:cNvSpPr/>
          <p:nvPr/>
        </p:nvSpPr>
        <p:spPr>
          <a:xfrm>
            <a:off x="762000" y="4951065"/>
            <a:ext cx="4893915" cy="383381"/>
          </a:xfrm>
          <a:prstGeom prst="rect">
            <a:avLst/>
          </a:prstGeom>
          <a:noFill/>
        </p:spPr>
        <p:txBody>
          <a:bodyPr anchor="t" wrap="square" tIns="0" bIns="0" lIns="0" rIns="0">
            <a:normAutofit/>
          </a:bodyPr>
          <a:lstStyle/>
          <a:p>
            <a:pPr algn="r">
              <a:lnSpc>
                <a:spcPts val="1510"/>
              </a:lnSpc>
              <a:buNone/>
            </a:pPr>
            <a:r>
              <a:rPr sz="1269" b="0" i="0" spc="19">
                <a:solidFill>
                  <a:srgbClr val="FFFFFF"/>
                </a:solidFill>
                <a:latin typeface="DM Sans"/>
                <a:ea typeface="DM Sans"/>
              </a:rPr>
              <a:t xml:space="preserve">A </a:t>
            </a:r>
            <a:r>
              <a:rPr sz="1269" b="1" i="0" spc="19">
                <a:solidFill>
                  <a:srgbClr val="FFFFFF"/>
                </a:solidFill>
                <a:latin typeface="DM Sans"/>
                <a:ea typeface="DM Sans"/>
              </a:rPr>
              <a:t>transparent, deterministic, SQL-specific</a:t>
            </a:r>
            <a:r>
              <a:rPr sz="1269" b="0" i="0" spc="19">
                <a:solidFill>
                  <a:srgbClr val="FFFFFF"/>
                </a:solidFill>
                <a:latin typeface="DM Sans"/>
                <a:ea typeface="DM Sans"/>
              </a:rPr>
              <a:t xml:space="preserve"> check between the LLM and the database that explains every decision.</a:t>
            </a:r>
            <a:endParaRPr lang="en-US"/>
          </a:p>
        </p:txBody>
      </p:sp>
      <p:sp>
        <p:nvSpPr>
          <p:cNvPr id="25" name="Shape 25"/>
          <p:cNvSpPr/>
          <p:nvPr/>
        </p:nvSpPr>
        <p:spPr>
          <a:xfrm>
            <a:off x="762000" y="5473898"/>
            <a:ext cx="5039320" cy="12650"/>
          </a:xfrm>
          <a:prstGeom prst="rect">
            <a:avLst/>
          </a:prstGeom>
          <a:solidFill>
            <a:srgbClr val="FFFFFF"/>
          </a:solidFill>
        </p:spPr>
        <p:txBody>
          <a:bodyPr/>
          <a:lstStyl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3" name="Presenton Native Image 14" descr=""/>
          <p:cNvPicPr/>
          <p:nvPr/>
        </p:nvPicPr>
        <p:blipFill>
          <a:blip r:embed="rId2" cstate="none"/>
          <a:stretch>
            <a:fillRect/>
          </a:stretch>
        </p:blipFill>
        <p:spPr>
          <a:xfrm>
            <a:off x="0" y="328824"/>
            <a:ext cx="9175452" cy="6529176"/>
          </a:xfrm>
          <a:prstGeom prst="rect">
            <a:avLst/>
          </a:prstGeom>
        </p:spPr>
      </p:pic>
      <p:sp>
        <p:nvSpPr>
          <p:cNvPr id="26" name="Shape 26"/>
          <p:cNvSpPr/>
          <p:nvPr/>
        </p:nvSpPr>
        <p:spPr>
          <a:xfrm>
            <a:off x="762000" y="638919"/>
            <a:ext cx="10374064" cy="497979"/>
          </a:xfrm>
          <a:prstGeom prst="rect">
            <a:avLst/>
          </a:prstGeom>
          <a:noFill/>
        </p:spPr>
        <p:txBody>
          <a:bodyPr anchor="t" wrap="square" tIns="0" bIns="0" lIns="0" rIns="0">
            <a:normAutofit/>
          </a:bodyPr>
          <a:lstStyle/>
          <a:p>
            <a:pPr algn="l">
              <a:lnSpc>
                <a:spcPts val="3922"/>
              </a:lnSpc>
              <a:buNone/>
            </a:pPr>
            <a:r>
              <a:rPr sz="3533" b="1" i="1" spc="52">
                <a:solidFill>
                  <a:srgbClr val="FFFFFF"/>
                </a:solidFill>
                <a:latin typeface="Playfair Display Semi Bold Italics"/>
                <a:ea typeface="Playfair Display Semi Bold Italics"/>
              </a:rPr>
              <a:t>QueryGuard: A Deterministic Validation Gate</a:t>
            </a:r>
            <a:endParaRPr lang="en-US"/>
          </a:p>
        </p:txBody>
      </p:sp>
      <p:pic>
        <p:nvPicPr>
          <p:cNvPr id="114" name="Presenton Native Image 15" descr=""/>
          <p:cNvPicPr/>
          <p:nvPr/>
        </p:nvPicPr>
        <p:blipFill>
          <a:blip r:embed="rId3" cstate="none"/>
          <a:stretch>
            <a:fillRect/>
          </a:stretch>
        </p:blipFill>
        <p:spPr>
          <a:xfrm>
            <a:off x="6015335" y="4701332"/>
            <a:ext cx="1347192" cy="2156668"/>
          </a:xfrm>
          <a:prstGeom prst="rect">
            <a:avLst/>
          </a:prstGeom>
        </p:spPr>
      </p:pic>
      <p:sp>
        <p:nvSpPr>
          <p:cNvPr id="27" name="Shape 27"/>
          <p:cNvSpPr/>
          <p:nvPr/>
        </p:nvSpPr>
        <p:spPr>
          <a:xfrm>
            <a:off x="6785074" y="2834432"/>
            <a:ext cx="1175445" cy="201811"/>
          </a:xfrm>
          <a:prstGeom prst="rect">
            <a:avLst/>
          </a:prstGeom>
          <a:noFill/>
        </p:spPr>
        <p:txBody>
          <a:bodyPr anchor="t" wrap="square" tIns="0" bIns="0" lIns="0" rIns="0">
            <a:normAutofit/>
          </a:bodyPr>
          <a:lstStyle/>
          <a:p>
            <a:pPr algn="ctr">
              <a:lnSpc>
                <a:spcPts val="1590"/>
              </a:lnSpc>
              <a:buNone/>
            </a:pPr>
            <a:r>
              <a:rPr sz="1336" b="1" i="0" spc="20">
                <a:solidFill>
                  <a:srgbClr val="FFFFFF"/>
                </a:solidFill>
                <a:latin typeface="DM Sans"/>
                <a:ea typeface="DM Sans"/>
              </a:rPr>
              <a:t>Intake</a:t>
            </a:r>
            <a:endParaRPr lang="en-US"/>
          </a:p>
        </p:txBody>
      </p:sp>
      <p:sp>
        <p:nvSpPr>
          <p:cNvPr id="28" name="Shape 28"/>
          <p:cNvSpPr/>
          <p:nvPr/>
        </p:nvSpPr>
        <p:spPr>
          <a:xfrm>
            <a:off x="6572696" y="3091011"/>
            <a:ext cx="1548259" cy="493365"/>
          </a:xfrm>
          <a:prstGeom prst="rect">
            <a:avLst/>
          </a:prstGeom>
          <a:noFill/>
        </p:spPr>
        <p:txBody>
          <a:bodyPr anchor="t" wrap="square" tIns="0" bIns="0" lIns="0" rIns="0">
            <a:normAutofit/>
          </a:bodyPr>
          <a:lstStyle/>
          <a:p>
            <a:pPr algn="ctr">
              <a:lnSpc>
                <a:spcPts val="1295"/>
              </a:lnSpc>
              <a:buNone/>
            </a:pPr>
            <a:r>
              <a:rPr sz="1136" b="0" i="0" spc="17">
                <a:solidFill>
                  <a:srgbClr val="FFFFFF"/>
                </a:solidFill>
                <a:latin typeface="DM Sans"/>
                <a:ea typeface="DM Sans"/>
              </a:rPr>
              <a:t>Every incoming request enters the pipeline here.</a:t>
            </a:r>
            <a:endParaRPr lang="en-US"/>
          </a:p>
        </p:txBody>
      </p:sp>
      <p:pic>
        <p:nvPicPr>
          <p:cNvPr id="115" name="Presenton Native Image 16" descr=""/>
          <p:cNvPicPr/>
          <p:nvPr/>
        </p:nvPicPr>
        <p:blipFill>
          <a:blip r:embed="rId4" cstate="none"/>
          <a:stretch>
            <a:fillRect/>
          </a:stretch>
        </p:blipFill>
        <p:spPr>
          <a:xfrm>
            <a:off x="6999982" y="3802707"/>
            <a:ext cx="547688" cy="506462"/>
          </a:xfrm>
          <a:prstGeom prst="rect">
            <a:avLst/>
          </a:prstGeom>
        </p:spPr>
      </p:pic>
      <p:pic>
        <p:nvPicPr>
          <p:cNvPr id="116" name="Presenton Native Image 17" descr=""/>
          <p:cNvPicPr/>
          <p:nvPr/>
        </p:nvPicPr>
        <p:blipFill>
          <a:blip r:embed="rId5" cstate="none"/>
          <a:stretch>
            <a:fillRect/>
          </a:stretch>
        </p:blipFill>
        <p:spPr>
          <a:xfrm>
            <a:off x="4761607" y="5103912"/>
            <a:ext cx="1281113" cy="1754088"/>
          </a:xfrm>
          <a:prstGeom prst="rect">
            <a:avLst/>
          </a:prstGeom>
        </p:spPr>
      </p:pic>
      <p:sp>
        <p:nvSpPr>
          <p:cNvPr id="29" name="Shape 29"/>
          <p:cNvSpPr/>
          <p:nvPr/>
        </p:nvSpPr>
        <p:spPr>
          <a:xfrm>
            <a:off x="4052441" y="3282255"/>
            <a:ext cx="1358950" cy="201811"/>
          </a:xfrm>
          <a:prstGeom prst="rect">
            <a:avLst/>
          </a:prstGeom>
          <a:noFill/>
        </p:spPr>
        <p:txBody>
          <a:bodyPr anchor="t" wrap="square" tIns="0" bIns="0" lIns="0" rIns="0">
            <a:normAutofit/>
          </a:bodyPr>
          <a:lstStyle/>
          <a:p>
            <a:pPr algn="ctr">
              <a:lnSpc>
                <a:spcPts val="1590"/>
              </a:lnSpc>
              <a:buNone/>
            </a:pPr>
            <a:r>
              <a:rPr sz="1336" b="1" i="0" spc="20">
                <a:solidFill>
                  <a:srgbClr val="FFFFFF"/>
                </a:solidFill>
                <a:latin typeface="DM Sans"/>
                <a:ea typeface="DM Sans"/>
              </a:rPr>
              <a:t>Generator</a:t>
            </a:r>
            <a:endParaRPr lang="en-US"/>
          </a:p>
        </p:txBody>
      </p:sp>
      <p:sp>
        <p:nvSpPr>
          <p:cNvPr id="30" name="Shape 30"/>
          <p:cNvSpPr/>
          <p:nvPr/>
        </p:nvSpPr>
        <p:spPr>
          <a:xfrm>
            <a:off x="3969990" y="3525589"/>
            <a:ext cx="1494086" cy="493365"/>
          </a:xfrm>
          <a:prstGeom prst="rect">
            <a:avLst/>
          </a:prstGeom>
          <a:noFill/>
        </p:spPr>
        <p:txBody>
          <a:bodyPr anchor="t" wrap="square" tIns="0" bIns="0" lIns="0" rIns="0">
            <a:normAutofit/>
          </a:bodyPr>
          <a:lstStyle/>
          <a:p>
            <a:pPr algn="ctr">
              <a:lnSpc>
                <a:spcPts val="1295"/>
              </a:lnSpc>
              <a:buNone/>
            </a:pPr>
            <a:r>
              <a:rPr sz="1136" b="0" i="0" spc="17">
                <a:solidFill>
                  <a:srgbClr val="FFFFFF"/>
                </a:solidFill>
                <a:latin typeface="DM Sans"/>
                <a:ea typeface="DM Sans"/>
              </a:rPr>
              <a:t>An LLM or deterministic mock drafts a SQL query.</a:t>
            </a:r>
            <a:endParaRPr lang="en-US"/>
          </a:p>
        </p:txBody>
      </p:sp>
      <p:pic>
        <p:nvPicPr>
          <p:cNvPr id="117" name="Presenton Native Image 18" descr=""/>
          <p:cNvPicPr/>
          <p:nvPr/>
        </p:nvPicPr>
        <p:blipFill>
          <a:blip r:embed="rId6" cstate="none"/>
          <a:stretch>
            <a:fillRect/>
          </a:stretch>
        </p:blipFill>
        <p:spPr>
          <a:xfrm>
            <a:off x="4487763" y="4243388"/>
            <a:ext cx="542330" cy="504974"/>
          </a:xfrm>
          <a:prstGeom prst="rect">
            <a:avLst/>
          </a:prstGeom>
        </p:spPr>
      </p:pic>
      <p:pic>
        <p:nvPicPr>
          <p:cNvPr id="118" name="Presenton Native Image 19" descr=""/>
          <p:cNvPicPr/>
          <p:nvPr/>
        </p:nvPicPr>
        <p:blipFill>
          <a:blip r:embed="rId7" cstate="none"/>
          <a:stretch>
            <a:fillRect/>
          </a:stretch>
        </p:blipFill>
        <p:spPr>
          <a:xfrm>
            <a:off x="6005959" y="4289822"/>
            <a:ext cx="36761" cy="2568178"/>
          </a:xfrm>
          <a:prstGeom prst="rect">
            <a:avLst/>
          </a:prstGeom>
        </p:spPr>
      </p:pic>
      <p:sp>
        <p:nvSpPr>
          <p:cNvPr id="31" name="Shape 31"/>
          <p:cNvSpPr/>
          <p:nvPr/>
        </p:nvSpPr>
        <p:spPr>
          <a:xfrm>
            <a:off x="5453807" y="2183309"/>
            <a:ext cx="1201787" cy="403622"/>
          </a:xfrm>
          <a:prstGeom prst="rect">
            <a:avLst/>
          </a:prstGeom>
          <a:noFill/>
        </p:spPr>
        <p:txBody>
          <a:bodyPr anchor="t" wrap="square" tIns="0" bIns="0" lIns="0" rIns="0">
            <a:normAutofit/>
          </a:bodyPr>
          <a:lstStyle/>
          <a:p>
            <a:pPr algn="ctr">
              <a:lnSpc>
                <a:spcPts val="1590"/>
              </a:lnSpc>
              <a:buNone/>
            </a:pPr>
            <a:r>
              <a:rPr sz="1336" b="1" i="0" spc="20">
                <a:solidFill>
                  <a:srgbClr val="FFFFFF"/>
                </a:solidFill>
                <a:latin typeface="DM Sans"/>
                <a:ea typeface="DM Sans"/>
              </a:rPr>
              <a:t>Validation Gate</a:t>
            </a:r>
            <a:endParaRPr lang="en-US"/>
          </a:p>
        </p:txBody>
      </p:sp>
      <p:sp>
        <p:nvSpPr>
          <p:cNvPr id="32" name="Shape 32"/>
          <p:cNvSpPr/>
          <p:nvPr/>
        </p:nvSpPr>
        <p:spPr>
          <a:xfrm>
            <a:off x="5336530" y="2423964"/>
            <a:ext cx="1376511" cy="493365"/>
          </a:xfrm>
          <a:prstGeom prst="rect">
            <a:avLst/>
          </a:prstGeom>
          <a:noFill/>
        </p:spPr>
        <p:txBody>
          <a:bodyPr anchor="t" wrap="square" tIns="0" bIns="0" lIns="0" rIns="0">
            <a:normAutofit/>
          </a:bodyPr>
          <a:lstStyle/>
          <a:p>
            <a:pPr algn="ctr">
              <a:lnSpc>
                <a:spcPts val="1295"/>
              </a:lnSpc>
              <a:buNone/>
            </a:pPr>
            <a:r>
              <a:rPr sz="1136" b="0" i="0" spc="17">
                <a:solidFill>
                  <a:srgbClr val="FFFFFF"/>
                </a:solidFill>
                <a:latin typeface="DM Sans"/>
                <a:ea typeface="DM Sans"/>
              </a:rPr>
              <a:t>The deterministic gate checks SQL before execution.</a:t>
            </a:r>
            <a:endParaRPr lang="en-US"/>
          </a:p>
        </p:txBody>
      </p:sp>
      <p:pic>
        <p:nvPicPr>
          <p:cNvPr id="119" name="Presenton Native Image 20" descr=""/>
          <p:cNvPicPr/>
          <p:nvPr/>
        </p:nvPicPr>
        <p:blipFill>
          <a:blip r:embed="rId8" cstate="none"/>
          <a:stretch>
            <a:fillRect/>
          </a:stretch>
        </p:blipFill>
        <p:spPr>
          <a:xfrm>
            <a:off x="5742682" y="3294459"/>
            <a:ext cx="563761" cy="556617"/>
          </a:xfrm>
          <a:prstGeom prst="rect">
            <a:avLst/>
          </a:prstGeom>
        </p:spPr>
      </p:pic>
      <p:pic>
        <p:nvPicPr>
          <p:cNvPr id="120" name="Presenton Native Image 21" descr=""/>
          <p:cNvPicPr/>
          <p:nvPr/>
        </p:nvPicPr>
        <p:blipFill>
          <a:blip r:embed="rId9" cstate="none"/>
          <a:stretch>
            <a:fillRect/>
          </a:stretch>
        </p:blipFill>
        <p:spPr>
          <a:xfrm>
            <a:off x="6015335" y="3317230"/>
            <a:ext cx="3068687" cy="3540770"/>
          </a:xfrm>
          <a:prstGeom prst="rect">
            <a:avLst/>
          </a:prstGeom>
        </p:spPr>
      </p:pic>
      <p:sp>
        <p:nvSpPr>
          <p:cNvPr id="33" name="Shape 33"/>
          <p:cNvSpPr/>
          <p:nvPr/>
        </p:nvSpPr>
        <p:spPr>
          <a:xfrm>
            <a:off x="8252371" y="1314450"/>
            <a:ext cx="1476821" cy="201811"/>
          </a:xfrm>
          <a:prstGeom prst="rect">
            <a:avLst/>
          </a:prstGeom>
          <a:noFill/>
        </p:spPr>
        <p:txBody>
          <a:bodyPr anchor="t" wrap="square" tIns="0" bIns="0" lIns="0" rIns="0">
            <a:normAutofit/>
          </a:bodyPr>
          <a:lstStyle/>
          <a:p>
            <a:pPr algn="ctr">
              <a:lnSpc>
                <a:spcPts val="1590"/>
              </a:lnSpc>
              <a:buNone/>
            </a:pPr>
            <a:r>
              <a:rPr sz="1336" b="1" i="0" spc="20">
                <a:solidFill>
                  <a:srgbClr val="FFFFFF"/>
                </a:solidFill>
                <a:latin typeface="DM Sans"/>
                <a:ea typeface="DM Sans"/>
              </a:rPr>
              <a:t>Executor</a:t>
            </a:r>
            <a:endParaRPr lang="en-US"/>
          </a:p>
        </p:txBody>
      </p:sp>
      <p:sp>
        <p:nvSpPr>
          <p:cNvPr id="34" name="Shape 34"/>
          <p:cNvSpPr/>
          <p:nvPr/>
        </p:nvSpPr>
        <p:spPr>
          <a:xfrm>
            <a:off x="8222903" y="1563737"/>
            <a:ext cx="1548854" cy="493365"/>
          </a:xfrm>
          <a:prstGeom prst="rect">
            <a:avLst/>
          </a:prstGeom>
          <a:noFill/>
        </p:spPr>
        <p:txBody>
          <a:bodyPr anchor="t" wrap="square" tIns="0" bIns="0" lIns="0" rIns="0">
            <a:normAutofit/>
          </a:bodyPr>
          <a:lstStyle/>
          <a:p>
            <a:pPr algn="ctr">
              <a:lnSpc>
                <a:spcPts val="1295"/>
              </a:lnSpc>
              <a:buNone/>
            </a:pPr>
            <a:r>
              <a:rPr sz="1136" b="0" i="0" spc="17">
                <a:solidFill>
                  <a:srgbClr val="FFFFFF"/>
                </a:solidFill>
                <a:latin typeface="DM Sans"/>
                <a:ea typeface="DM Sans"/>
              </a:rPr>
              <a:t>A read-only executor runs only gate-passed queries.</a:t>
            </a:r>
            <a:endParaRPr lang="en-US"/>
          </a:p>
        </p:txBody>
      </p:sp>
      <p:pic>
        <p:nvPicPr>
          <p:cNvPr id="121" name="Presenton Native Image 22" descr=""/>
          <p:cNvPicPr/>
          <p:nvPr/>
        </p:nvPicPr>
        <p:blipFill>
          <a:blip r:embed="rId10" cstate="none"/>
          <a:stretch>
            <a:fillRect/>
          </a:stretch>
        </p:blipFill>
        <p:spPr>
          <a:xfrm>
            <a:off x="8645575" y="2439888"/>
            <a:ext cx="684609" cy="580132"/>
          </a:xfrm>
          <a:prstGeom prst="rect">
            <a:avLst/>
          </a:prstGeom>
        </p:spPr>
      </p:pic>
      <p:pic>
        <p:nvPicPr>
          <p:cNvPr id="122" name="Presenton Native Image 23" descr=""/>
          <p:cNvPicPr/>
          <p:nvPr/>
        </p:nvPicPr>
        <p:blipFill>
          <a:blip r:embed="rId11" cstate="none"/>
          <a:stretch>
            <a:fillRect/>
          </a:stretch>
        </p:blipFill>
        <p:spPr>
          <a:xfrm>
            <a:off x="2927449" y="3689747"/>
            <a:ext cx="3120926" cy="3168253"/>
          </a:xfrm>
          <a:prstGeom prst="rect">
            <a:avLst/>
          </a:prstGeom>
        </p:spPr>
      </p:pic>
      <p:sp>
        <p:nvSpPr>
          <p:cNvPr id="35" name="Shape 35"/>
          <p:cNvSpPr/>
          <p:nvPr/>
        </p:nvSpPr>
        <p:spPr>
          <a:xfrm>
            <a:off x="2197745" y="1727299"/>
            <a:ext cx="1594545" cy="201811"/>
          </a:xfrm>
          <a:prstGeom prst="rect">
            <a:avLst/>
          </a:prstGeom>
          <a:noFill/>
        </p:spPr>
        <p:txBody>
          <a:bodyPr anchor="t" wrap="square" tIns="0" bIns="0" lIns="0" rIns="0">
            <a:normAutofit/>
          </a:bodyPr>
          <a:lstStyle/>
          <a:p>
            <a:pPr algn="ctr">
              <a:lnSpc>
                <a:spcPts val="1590"/>
              </a:lnSpc>
              <a:buNone/>
            </a:pPr>
            <a:r>
              <a:rPr sz="1336" b="1" i="0" spc="20">
                <a:solidFill>
                  <a:srgbClr val="FFFFFF"/>
                </a:solidFill>
                <a:latin typeface="DM Sans"/>
                <a:ea typeface="DM Sans"/>
              </a:rPr>
              <a:t>Audit Log</a:t>
            </a:r>
            <a:endParaRPr lang="en-US"/>
          </a:p>
        </p:txBody>
      </p:sp>
      <p:sp>
        <p:nvSpPr>
          <p:cNvPr id="36" name="Shape 36"/>
          <p:cNvSpPr/>
          <p:nvPr/>
        </p:nvSpPr>
        <p:spPr>
          <a:xfrm>
            <a:off x="2124224" y="1976586"/>
            <a:ext cx="1767929" cy="493365"/>
          </a:xfrm>
          <a:prstGeom prst="rect">
            <a:avLst/>
          </a:prstGeom>
          <a:noFill/>
        </p:spPr>
        <p:txBody>
          <a:bodyPr anchor="t" wrap="square" tIns="0" bIns="0" lIns="0" rIns="0">
            <a:normAutofit/>
          </a:bodyPr>
          <a:lstStyle/>
          <a:p>
            <a:pPr algn="ctr">
              <a:lnSpc>
                <a:spcPts val="1295"/>
              </a:lnSpc>
              <a:buNone/>
            </a:pPr>
            <a:r>
              <a:rPr sz="1136" b="0" i="0" spc="17">
                <a:solidFill>
                  <a:srgbClr val="FFFFFF"/>
                </a:solidFill>
                <a:latin typeface="DM Sans"/>
                <a:ea typeface="DM Sans"/>
              </a:rPr>
              <a:t>Append-only records make every query traceable.</a:t>
            </a:r>
            <a:endParaRPr lang="en-US"/>
          </a:p>
        </p:txBody>
      </p:sp>
      <p:pic>
        <p:nvPicPr>
          <p:cNvPr id="123" name="Presenton Native Image 24" descr=""/>
          <p:cNvPicPr/>
          <p:nvPr/>
        </p:nvPicPr>
        <p:blipFill>
          <a:blip r:embed="rId12" cstate="none"/>
          <a:stretch>
            <a:fillRect/>
          </a:stretch>
        </p:blipFill>
        <p:spPr>
          <a:xfrm>
            <a:off x="2742754" y="2833985"/>
            <a:ext cx="511671" cy="5116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24" name="Presenton Native Image 25" descr=""/>
          <p:cNvPicPr/>
          <p:nvPr/>
        </p:nvPicPr>
        <p:blipFill>
          <a:blip r:embed="rId2" cstate="none"/>
          <a:stretch>
            <a:fillRect/>
          </a:stretch>
        </p:blipFill>
        <p:spPr>
          <a:xfrm>
            <a:off x="0" y="328824"/>
            <a:ext cx="9175452" cy="6529176"/>
          </a:xfrm>
          <a:prstGeom prst="rect">
            <a:avLst/>
          </a:prstGeom>
        </p:spPr>
      </p:pic>
      <p:sp>
        <p:nvSpPr>
          <p:cNvPr id="37" name="Shape 37"/>
          <p:cNvSpPr/>
          <p:nvPr/>
        </p:nvSpPr>
        <p:spPr>
          <a:xfrm>
            <a:off x="762000" y="842218"/>
            <a:ext cx="10708332" cy="497979"/>
          </a:xfrm>
          <a:prstGeom prst="rect">
            <a:avLst/>
          </a:prstGeom>
          <a:noFill/>
        </p:spPr>
        <p:txBody>
          <a:bodyPr anchor="t" wrap="square" tIns="0" bIns="0" lIns="0" rIns="0">
            <a:normAutofit/>
          </a:bodyPr>
          <a:lstStyle/>
          <a:p>
            <a:pPr algn="l">
              <a:lnSpc>
                <a:spcPts val="3922"/>
              </a:lnSpc>
              <a:buNone/>
            </a:pPr>
            <a:r>
              <a:rPr sz="3533" b="1" i="1" spc="52">
                <a:solidFill>
                  <a:srgbClr val="FFFFFF"/>
                </a:solidFill>
                <a:latin typeface="Playfair Display Semi Bold Italics"/>
                <a:ea typeface="Playfair Display Semi Bold Italics"/>
              </a:rPr>
              <a:t>Inside the Validation Gate</a:t>
            </a:r>
            <a:endParaRPr lang="en-US"/>
          </a:p>
        </p:txBody>
      </p:sp>
      <p:pic>
        <p:nvPicPr>
          <p:cNvPr id="125" name="Presenton Native Image 26" descr=""/>
          <p:cNvPicPr/>
          <p:nvPr/>
        </p:nvPicPr>
        <p:blipFill>
          <a:blip r:embed="rId3" cstate="none"/>
          <a:stretch>
            <a:fillRect/>
          </a:stretch>
        </p:blipFill>
        <p:spPr>
          <a:xfrm>
            <a:off x="4239071" y="1804690"/>
            <a:ext cx="3841700" cy="4117181"/>
          </a:xfrm>
          <a:prstGeom prst="rect">
            <a:avLst/>
          </a:prstGeom>
        </p:spPr>
      </p:pic>
      <p:pic>
        <p:nvPicPr>
          <p:cNvPr id="126" name="Presenton Native Image 27" descr=""/>
          <p:cNvPicPr/>
          <p:nvPr/>
        </p:nvPicPr>
        <p:blipFill>
          <a:blip r:embed="rId4" cstate="none"/>
          <a:stretch>
            <a:fillRect/>
          </a:stretch>
        </p:blipFill>
        <p:spPr>
          <a:xfrm>
            <a:off x="4801195" y="2540943"/>
            <a:ext cx="714375" cy="714375"/>
          </a:xfrm>
          <a:prstGeom prst="rect">
            <a:avLst/>
          </a:prstGeom>
        </p:spPr>
      </p:pic>
      <p:pic>
        <p:nvPicPr>
          <p:cNvPr id="127" name="Presenton Native Image 28" descr=""/>
          <p:cNvPicPr/>
          <p:nvPr/>
        </p:nvPicPr>
        <p:blipFill>
          <a:blip r:embed="rId5" cstate="none"/>
          <a:stretch>
            <a:fillRect/>
          </a:stretch>
        </p:blipFill>
        <p:spPr>
          <a:xfrm>
            <a:off x="6805166" y="2540943"/>
            <a:ext cx="714375" cy="714375"/>
          </a:xfrm>
          <a:prstGeom prst="rect">
            <a:avLst/>
          </a:prstGeom>
        </p:spPr>
      </p:pic>
      <p:pic>
        <p:nvPicPr>
          <p:cNvPr id="128" name="Presenton Native Image 29" descr=""/>
          <p:cNvPicPr/>
          <p:nvPr/>
        </p:nvPicPr>
        <p:blipFill>
          <a:blip r:embed="rId6" cstate="none"/>
          <a:stretch>
            <a:fillRect/>
          </a:stretch>
        </p:blipFill>
        <p:spPr>
          <a:xfrm>
            <a:off x="4773811" y="4559350"/>
            <a:ext cx="714375" cy="714375"/>
          </a:xfrm>
          <a:prstGeom prst="rect">
            <a:avLst/>
          </a:prstGeom>
        </p:spPr>
      </p:pic>
      <p:pic>
        <p:nvPicPr>
          <p:cNvPr id="129" name="Presenton Native Image 30" descr=""/>
          <p:cNvPicPr/>
          <p:nvPr/>
        </p:nvPicPr>
        <p:blipFill>
          <a:blip r:embed="rId7" cstate="none"/>
          <a:stretch>
            <a:fillRect/>
          </a:stretch>
        </p:blipFill>
        <p:spPr>
          <a:xfrm>
            <a:off x="6823621" y="4616500"/>
            <a:ext cx="714375" cy="695325"/>
          </a:xfrm>
          <a:prstGeom prst="rect">
            <a:avLst/>
          </a:prstGeom>
        </p:spPr>
      </p:pic>
      <p:sp>
        <p:nvSpPr>
          <p:cNvPr id="38" name="Shape 38"/>
          <p:cNvSpPr/>
          <p:nvPr/>
        </p:nvSpPr>
        <p:spPr>
          <a:xfrm>
            <a:off x="1326356" y="2349252"/>
            <a:ext cx="2506266" cy="201811"/>
          </a:xfrm>
          <a:prstGeom prst="rect">
            <a:avLst/>
          </a:prstGeom>
          <a:noFill/>
        </p:spPr>
        <p:txBody>
          <a:bodyPr anchor="t" wrap="square" tIns="0" bIns="0" lIns="0" rIns="0">
            <a:normAutofit/>
          </a:bodyPr>
          <a:lstStyle/>
          <a:p>
            <a:pPr algn="r">
              <a:lnSpc>
                <a:spcPts val="1590"/>
              </a:lnSpc>
              <a:buNone/>
            </a:pPr>
            <a:r>
              <a:rPr sz="1336" b="1" i="0" spc="20">
                <a:solidFill>
                  <a:srgbClr val="FFFFFF"/>
                </a:solidFill>
                <a:latin typeface="Playfair Display"/>
                <a:ea typeface="Playfair Display"/>
              </a:rPr>
              <a:t>Ten Deterministic Rules</a:t>
            </a:r>
            <a:endParaRPr lang="en-US"/>
          </a:p>
        </p:txBody>
      </p:sp>
      <p:sp>
        <p:nvSpPr>
          <p:cNvPr id="39" name="Shape 39"/>
          <p:cNvSpPr/>
          <p:nvPr/>
        </p:nvSpPr>
        <p:spPr>
          <a:xfrm>
            <a:off x="1326356" y="2598539"/>
            <a:ext cx="2506266" cy="545604"/>
          </a:xfrm>
          <a:prstGeom prst="rect">
            <a:avLst/>
          </a:prstGeom>
          <a:noFill/>
        </p:spPr>
        <p:txBody>
          <a:bodyPr anchor="t" wrap="square" tIns="0" bIns="0" lIns="0" rIns="0">
            <a:normAutofit/>
          </a:bodyPr>
          <a:lstStyle/>
          <a:p>
            <a:pPr algn="r">
              <a:lnSpc>
                <a:spcPts val="1432"/>
              </a:lnSpc>
              <a:buNone/>
            </a:pPr>
            <a:r>
              <a:rPr sz="1203" b="0" i="0" spc="18">
                <a:solidFill>
                  <a:srgbClr val="FFFFFF"/>
                </a:solidFill>
                <a:latin typeface="DM Sans"/>
                <a:ea typeface="DM Sans"/>
              </a:rPr>
              <a:t>Evaluation is planned: ten fixed rules check every generated query, every time.</a:t>
            </a:r>
            <a:endParaRPr lang="en-US"/>
          </a:p>
        </p:txBody>
      </p:sp>
      <p:sp>
        <p:nvSpPr>
          <p:cNvPr id="40" name="Shape 40"/>
          <p:cNvSpPr/>
          <p:nvPr/>
        </p:nvSpPr>
        <p:spPr>
          <a:xfrm>
            <a:off x="8634413" y="2349252"/>
            <a:ext cx="2774007" cy="201811"/>
          </a:xfrm>
          <a:prstGeom prst="rect">
            <a:avLst/>
          </a:prstGeom>
          <a:noFill/>
        </p:spPr>
        <p:txBody>
          <a:bodyPr anchor="t" wrap="square" tIns="0" bIns="0" lIns="0" rIns="0">
            <a:normAutofit/>
          </a:bodyPr>
          <a:lstStyle/>
          <a:p>
            <a:pPr algn="l">
              <a:lnSpc>
                <a:spcPts val="1590"/>
              </a:lnSpc>
              <a:buNone/>
            </a:pPr>
            <a:r>
              <a:rPr sz="1336" b="1" i="0" spc="20">
                <a:solidFill>
                  <a:srgbClr val="FFFFFF"/>
                </a:solidFill>
                <a:latin typeface="Playfair Display"/>
                <a:ea typeface="Playfair Display"/>
              </a:rPr>
              <a:t>Verdict on Every Query</a:t>
            </a:r>
            <a:endParaRPr lang="en-US"/>
          </a:p>
        </p:txBody>
      </p:sp>
      <p:sp>
        <p:nvSpPr>
          <p:cNvPr id="41" name="Shape 41"/>
          <p:cNvSpPr/>
          <p:nvPr/>
        </p:nvSpPr>
        <p:spPr>
          <a:xfrm>
            <a:off x="8634413" y="2598539"/>
            <a:ext cx="2493020" cy="545604"/>
          </a:xfrm>
          <a:prstGeom prst="rect">
            <a:avLst/>
          </a:prstGeom>
          <a:noFill/>
        </p:spPr>
        <p:txBody>
          <a:bodyPr anchor="t" wrap="square" tIns="0" bIns="0" lIns="0" rIns="0">
            <a:normAutofit/>
          </a:bodyPr>
          <a:lstStyle/>
          <a:p>
            <a:pPr algn="l">
              <a:lnSpc>
                <a:spcPts val="1432"/>
              </a:lnSpc>
              <a:buNone/>
            </a:pPr>
            <a:r>
              <a:rPr sz="1203" b="0" i="0" spc="18">
                <a:solidFill>
                  <a:srgbClr val="FFFFFF"/>
                </a:solidFill>
                <a:latin typeface="DM Sans"/>
                <a:ea typeface="DM Sans"/>
              </a:rPr>
              <a:t>Each query receives a clear PASS or BLOCK verdict, together with the exact rule that fired.</a:t>
            </a:r>
            <a:endParaRPr lang="en-US"/>
          </a:p>
        </p:txBody>
      </p:sp>
      <p:sp>
        <p:nvSpPr>
          <p:cNvPr id="42" name="Shape 42"/>
          <p:cNvSpPr/>
          <p:nvPr/>
        </p:nvSpPr>
        <p:spPr>
          <a:xfrm>
            <a:off x="1326356" y="4410670"/>
            <a:ext cx="2506266" cy="201811"/>
          </a:xfrm>
          <a:prstGeom prst="rect">
            <a:avLst/>
          </a:prstGeom>
          <a:noFill/>
        </p:spPr>
        <p:txBody>
          <a:bodyPr anchor="t" wrap="square" tIns="0" bIns="0" lIns="0" rIns="0">
            <a:normAutofit/>
          </a:bodyPr>
          <a:lstStyle/>
          <a:p>
            <a:pPr algn="r">
              <a:lnSpc>
                <a:spcPts val="1590"/>
              </a:lnSpc>
              <a:buNone/>
            </a:pPr>
            <a:r>
              <a:rPr sz="1336" b="1" i="0" spc="20">
                <a:solidFill>
                  <a:srgbClr val="FFFFFF"/>
                </a:solidFill>
                <a:latin typeface="Playfair Display"/>
                <a:ea typeface="Playfair Display"/>
              </a:rPr>
              <a:t>Sensitive Columns</a:t>
            </a:r>
            <a:endParaRPr lang="en-US"/>
          </a:p>
        </p:txBody>
      </p:sp>
      <p:sp>
        <p:nvSpPr>
          <p:cNvPr id="43" name="Shape 43"/>
          <p:cNvSpPr/>
          <p:nvPr/>
        </p:nvSpPr>
        <p:spPr>
          <a:xfrm>
            <a:off x="1326356" y="4659957"/>
            <a:ext cx="2506266" cy="545604"/>
          </a:xfrm>
          <a:prstGeom prst="rect">
            <a:avLst/>
          </a:prstGeom>
          <a:noFill/>
        </p:spPr>
        <p:txBody>
          <a:bodyPr anchor="t" wrap="square" tIns="0" bIns="0" lIns="0" rIns="0">
            <a:normAutofit/>
          </a:bodyPr>
          <a:lstStyle/>
          <a:p>
            <a:pPr algn="r">
              <a:lnSpc>
                <a:spcPts val="1432"/>
              </a:lnSpc>
              <a:buNone/>
            </a:pPr>
            <a:r>
              <a:rPr sz="1203" b="0" i="0" spc="18">
                <a:solidFill>
                  <a:srgbClr val="FFFFFF"/>
                </a:solidFill>
                <a:latin typeface="DM Sans"/>
                <a:ea typeface="DM Sans"/>
              </a:rPr>
              <a:t>When sensitive columns appear, the gate plans to MASK them before any query can run.</a:t>
            </a:r>
            <a:endParaRPr lang="en-US"/>
          </a:p>
        </p:txBody>
      </p:sp>
      <p:sp>
        <p:nvSpPr>
          <p:cNvPr id="44" name="Shape 44"/>
          <p:cNvSpPr/>
          <p:nvPr/>
        </p:nvSpPr>
        <p:spPr>
          <a:xfrm>
            <a:off x="8634413" y="4410670"/>
            <a:ext cx="2519809" cy="201811"/>
          </a:xfrm>
          <a:prstGeom prst="rect">
            <a:avLst/>
          </a:prstGeom>
          <a:noFill/>
        </p:spPr>
        <p:txBody>
          <a:bodyPr anchor="t" wrap="square" tIns="0" bIns="0" lIns="0" rIns="0">
            <a:normAutofit/>
          </a:bodyPr>
          <a:lstStyle/>
          <a:p>
            <a:pPr algn="l">
              <a:lnSpc>
                <a:spcPts val="1590"/>
              </a:lnSpc>
              <a:buNone/>
            </a:pPr>
            <a:r>
              <a:rPr sz="1336" b="1" i="0" spc="20">
                <a:solidFill>
                  <a:srgbClr val="FFFFFF"/>
                </a:solidFill>
                <a:latin typeface="Playfair Display"/>
                <a:ea typeface="Playfair Display"/>
              </a:rPr>
              <a:t>Suggested Missing Limits</a:t>
            </a:r>
            <a:endParaRPr lang="en-US"/>
          </a:p>
        </p:txBody>
      </p:sp>
      <p:sp>
        <p:nvSpPr>
          <p:cNvPr id="45" name="Shape 45"/>
          <p:cNvSpPr/>
          <p:nvPr/>
        </p:nvSpPr>
        <p:spPr>
          <a:xfrm>
            <a:off x="8634413" y="4659957"/>
            <a:ext cx="2493020" cy="545604"/>
          </a:xfrm>
          <a:prstGeom prst="rect">
            <a:avLst/>
          </a:prstGeom>
          <a:noFill/>
        </p:spPr>
        <p:txBody>
          <a:bodyPr anchor="t" wrap="square" tIns="0" bIns="0" lIns="0" rIns="0">
            <a:normAutofit/>
          </a:bodyPr>
          <a:lstStyle/>
          <a:p>
            <a:pPr algn="l">
              <a:lnSpc>
                <a:spcPts val="1432"/>
              </a:lnSpc>
              <a:buNone/>
            </a:pPr>
            <a:r>
              <a:rPr sz="1203" b="0" i="0" spc="18">
                <a:solidFill>
                  <a:srgbClr val="FFFFFF"/>
                </a:solidFill>
                <a:latin typeface="DM Sans"/>
                <a:ea typeface="DM Sans"/>
              </a:rPr>
              <a:t>Missing limits can be SUGGESTED, giving developers a clear reason for every block.</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0" name="Presenton Native Image 31" descr=""/>
          <p:cNvPicPr/>
          <p:nvPr/>
        </p:nvPicPr>
        <p:blipFill>
          <a:blip r:embed="rId2" cstate="none"/>
          <a:stretch>
            <a:fillRect/>
          </a:stretch>
        </p:blipFill>
        <p:spPr>
          <a:xfrm>
            <a:off x="0" y="328824"/>
            <a:ext cx="9175452" cy="6529176"/>
          </a:xfrm>
          <a:prstGeom prst="rect">
            <a:avLst/>
          </a:prstGeom>
        </p:spPr>
      </p:pic>
      <p:sp>
        <p:nvSpPr>
          <p:cNvPr id="46" name="Shape 46"/>
          <p:cNvSpPr/>
          <p:nvPr/>
        </p:nvSpPr>
        <p:spPr>
          <a:xfrm>
            <a:off x="764828" y="788938"/>
            <a:ext cx="10439698" cy="497979"/>
          </a:xfrm>
          <a:prstGeom prst="rect">
            <a:avLst/>
          </a:prstGeom>
          <a:noFill/>
        </p:spPr>
        <p:txBody>
          <a:bodyPr anchor="t" wrap="square" tIns="0" bIns="0" lIns="0" rIns="0">
            <a:normAutofit/>
          </a:bodyPr>
          <a:lstStyle/>
          <a:p>
            <a:pPr algn="l">
              <a:lnSpc>
                <a:spcPts val="3922"/>
              </a:lnSpc>
              <a:buNone/>
            </a:pPr>
            <a:r>
              <a:rPr sz="3533" b="1" i="1" spc="52">
                <a:solidFill>
                  <a:srgbClr val="FFFFFF"/>
                </a:solidFill>
                <a:latin typeface="Playfair Display Semi Bold Italics"/>
                <a:ea typeface="Playfair Display Semi Bold Italics"/>
              </a:rPr>
              <a:t>Workstreams and Ownership</a:t>
            </a:r>
            <a:endParaRPr lang="en-US"/>
          </a:p>
        </p:txBody>
      </p:sp>
      <p:pic>
        <p:nvPicPr>
          <p:cNvPr id="131" name="Presenton Native Image 32" descr=""/>
          <p:cNvPicPr/>
          <p:nvPr/>
        </p:nvPicPr>
        <p:blipFill>
          <a:blip r:embed="rId3" cstate="none"/>
          <a:stretch>
            <a:fillRect/>
          </a:stretch>
        </p:blipFill>
        <p:spPr>
          <a:xfrm>
            <a:off x="4182517" y="2127200"/>
            <a:ext cx="4011513" cy="3771602"/>
          </a:xfrm>
          <a:prstGeom prst="rect">
            <a:avLst/>
          </a:prstGeom>
        </p:spPr>
      </p:pic>
      <p:pic>
        <p:nvPicPr>
          <p:cNvPr id="132" name="Presenton Native Image 33" descr=""/>
          <p:cNvPicPr/>
          <p:nvPr/>
        </p:nvPicPr>
        <p:blipFill>
          <a:blip r:embed="rId4" cstate="none"/>
          <a:stretch>
            <a:fillRect/>
          </a:stretch>
        </p:blipFill>
        <p:spPr>
          <a:xfrm>
            <a:off x="5907435" y="3379887"/>
            <a:ext cx="496342" cy="511671"/>
          </a:xfrm>
          <a:prstGeom prst="rect">
            <a:avLst/>
          </a:prstGeom>
        </p:spPr>
      </p:pic>
      <p:sp>
        <p:nvSpPr>
          <p:cNvPr id="47" name="Shape 47"/>
          <p:cNvSpPr/>
          <p:nvPr/>
        </p:nvSpPr>
        <p:spPr>
          <a:xfrm>
            <a:off x="5765304" y="3972669"/>
            <a:ext cx="799505" cy="379214"/>
          </a:xfrm>
          <a:prstGeom prst="rect">
            <a:avLst/>
          </a:prstGeom>
          <a:noFill/>
        </p:spPr>
        <p:txBody>
          <a:bodyPr anchor="t" wrap="square" tIns="0" bIns="0" lIns="0" rIns="0">
            <a:normAutofit/>
          </a:bodyPr>
          <a:lstStyle/>
          <a:p>
            <a:pPr algn="ctr">
              <a:lnSpc>
                <a:spcPts val="1493"/>
              </a:lnSpc>
              <a:buNone/>
            </a:pPr>
            <a:r>
              <a:rPr sz="1523" b="1" i="0" spc="22">
                <a:solidFill>
                  <a:srgbClr val="0F92F4"/>
                </a:solidFill>
                <a:latin typeface="DM Sans"/>
                <a:ea typeface="DM Sans"/>
              </a:rPr>
              <a:t>Ownership</a:t>
            </a:r>
            <a:endParaRPr lang="en-US"/>
          </a:p>
        </p:txBody>
      </p:sp>
      <p:pic>
        <p:nvPicPr>
          <p:cNvPr id="133" name="Presenton Native Image 34" descr=""/>
          <p:cNvPicPr/>
          <p:nvPr/>
        </p:nvPicPr>
        <p:blipFill>
          <a:blip r:embed="rId5" cstate="none"/>
          <a:stretch>
            <a:fillRect/>
          </a:stretch>
        </p:blipFill>
        <p:spPr>
          <a:xfrm>
            <a:off x="4690914" y="2515642"/>
            <a:ext cx="636984" cy="674191"/>
          </a:xfrm>
          <a:prstGeom prst="rect">
            <a:avLst/>
          </a:prstGeom>
        </p:spPr>
      </p:pic>
      <p:sp>
        <p:nvSpPr>
          <p:cNvPr id="48" name="Shape 48"/>
          <p:cNvSpPr/>
          <p:nvPr/>
        </p:nvSpPr>
        <p:spPr>
          <a:xfrm>
            <a:off x="4488061" y="3266629"/>
            <a:ext cx="799505" cy="189607"/>
          </a:xfrm>
          <a:prstGeom prst="rect">
            <a:avLst/>
          </a:prstGeom>
          <a:noFill/>
        </p:spPr>
        <p:txBody>
          <a:bodyPr anchor="t" wrap="square" tIns="0" bIns="0" lIns="0" rIns="0">
            <a:normAutofit/>
          </a:bodyPr>
          <a:lstStyle/>
          <a:p>
            <a:pPr algn="ctr">
              <a:lnSpc>
                <a:spcPts val="1493"/>
              </a:lnSpc>
              <a:buNone/>
            </a:pPr>
            <a:r>
              <a:rPr sz="1523" b="1" i="0" spc="22">
                <a:solidFill>
                  <a:srgbClr val="FFFFFF"/>
                </a:solidFill>
                <a:latin typeface="DM Sans"/>
                <a:ea typeface="DM Sans"/>
              </a:rPr>
              <a:t>Engine</a:t>
            </a:r>
            <a:endParaRPr lang="en-US"/>
          </a:p>
        </p:txBody>
      </p:sp>
      <p:pic>
        <p:nvPicPr>
          <p:cNvPr id="134" name="Presenton Native Image 35" descr=""/>
          <p:cNvPicPr/>
          <p:nvPr/>
        </p:nvPicPr>
        <p:blipFill>
          <a:blip r:embed="rId6" cstate="none"/>
          <a:stretch>
            <a:fillRect/>
          </a:stretch>
        </p:blipFill>
        <p:spPr>
          <a:xfrm>
            <a:off x="7170837" y="3047554"/>
            <a:ext cx="612279" cy="612279"/>
          </a:xfrm>
          <a:prstGeom prst="rect">
            <a:avLst/>
          </a:prstGeom>
        </p:spPr>
      </p:pic>
      <p:sp>
        <p:nvSpPr>
          <p:cNvPr id="49" name="Shape 49"/>
          <p:cNvSpPr/>
          <p:nvPr/>
        </p:nvSpPr>
        <p:spPr>
          <a:xfrm>
            <a:off x="7124849" y="3767584"/>
            <a:ext cx="799505" cy="189607"/>
          </a:xfrm>
          <a:prstGeom prst="rect">
            <a:avLst/>
          </a:prstGeom>
          <a:noFill/>
        </p:spPr>
        <p:txBody>
          <a:bodyPr anchor="t" wrap="square" tIns="0" bIns="0" lIns="0" rIns="0">
            <a:normAutofit/>
          </a:bodyPr>
          <a:lstStyle/>
          <a:p>
            <a:pPr algn="ctr">
              <a:lnSpc>
                <a:spcPts val="1493"/>
              </a:lnSpc>
              <a:buNone/>
            </a:pPr>
            <a:r>
              <a:rPr sz="1523" b="1" i="0" spc="22">
                <a:solidFill>
                  <a:srgbClr val="FFFFFF"/>
                </a:solidFill>
                <a:latin typeface="DM Sans"/>
                <a:ea typeface="DM Sans"/>
              </a:rPr>
              <a:t>Web UI</a:t>
            </a:r>
            <a:endParaRPr lang="en-US"/>
          </a:p>
        </p:txBody>
      </p:sp>
      <p:pic>
        <p:nvPicPr>
          <p:cNvPr id="135" name="Presenton Native Image 36" descr=""/>
          <p:cNvPicPr/>
          <p:nvPr/>
        </p:nvPicPr>
        <p:blipFill>
          <a:blip r:embed="rId7" cstate="none"/>
          <a:stretch>
            <a:fillRect/>
          </a:stretch>
        </p:blipFill>
        <p:spPr>
          <a:xfrm>
            <a:off x="5938242" y="4920853"/>
            <a:ext cx="587276" cy="549176"/>
          </a:xfrm>
          <a:prstGeom prst="rect">
            <a:avLst/>
          </a:prstGeom>
        </p:spPr>
      </p:pic>
      <p:sp>
        <p:nvSpPr>
          <p:cNvPr id="50" name="Shape 50"/>
          <p:cNvSpPr/>
          <p:nvPr/>
        </p:nvSpPr>
        <p:spPr>
          <a:xfrm>
            <a:off x="5841653" y="5543848"/>
            <a:ext cx="799505" cy="189607"/>
          </a:xfrm>
          <a:prstGeom prst="rect">
            <a:avLst/>
          </a:prstGeom>
          <a:noFill/>
        </p:spPr>
        <p:txBody>
          <a:bodyPr anchor="t" wrap="square" tIns="0" bIns="0" lIns="0" rIns="0">
            <a:normAutofit/>
          </a:bodyPr>
          <a:lstStyle/>
          <a:p>
            <a:pPr algn="ctr">
              <a:lnSpc>
                <a:spcPts val="1493"/>
              </a:lnSpc>
              <a:buNone/>
            </a:pPr>
            <a:r>
              <a:rPr sz="1523" b="1" i="0" spc="22">
                <a:solidFill>
                  <a:srgbClr val="FFFFFF"/>
                </a:solidFill>
                <a:latin typeface="DM Sans"/>
                <a:ea typeface="DM Sans"/>
              </a:rPr>
              <a:t>Docs</a:t>
            </a:r>
            <a:endParaRPr lang="en-US"/>
          </a:p>
        </p:txBody>
      </p:sp>
      <p:sp>
        <p:nvSpPr>
          <p:cNvPr id="51" name="Shape 51"/>
          <p:cNvSpPr/>
          <p:nvPr/>
        </p:nvSpPr>
        <p:spPr>
          <a:xfrm>
            <a:off x="824508" y="2473077"/>
            <a:ext cx="1535311" cy="439341"/>
          </a:xfrm>
          <a:prstGeom prst="rect">
            <a:avLst/>
          </a:prstGeom>
          <a:noFill/>
        </p:spPr>
        <p:txBody>
          <a:bodyPr anchor="t" wrap="square" tIns="0" bIns="0" lIns="0" rIns="0">
            <a:normAutofit/>
          </a:bodyPr>
          <a:lstStyle/>
          <a:p>
            <a:pPr algn="l">
              <a:lnSpc>
                <a:spcPts val="3460"/>
              </a:lnSpc>
              <a:buNone/>
            </a:pPr>
            <a:r>
              <a:rPr sz="3117" b="1" i="0" spc="47">
                <a:solidFill>
                  <a:srgbClr val="44AFFF"/>
                </a:solidFill>
                <a:latin typeface="DM Sans"/>
                <a:ea typeface="DM Sans"/>
              </a:rPr>
              <a:t>40%</a:t>
            </a:r>
            <a:endParaRPr lang="en-US"/>
          </a:p>
        </p:txBody>
      </p:sp>
      <p:pic>
        <p:nvPicPr>
          <p:cNvPr id="136" name="Presenton Native Image 37" descr=""/>
          <p:cNvPicPr/>
          <p:nvPr/>
        </p:nvPicPr>
        <p:blipFill>
          <a:blip r:embed="rId8" cstate="none"/>
          <a:stretch>
            <a:fillRect/>
          </a:stretch>
        </p:blipFill>
        <p:spPr>
          <a:xfrm>
            <a:off x="2454325" y="2550914"/>
            <a:ext cx="280541" cy="280541"/>
          </a:xfrm>
          <a:prstGeom prst="rect">
            <a:avLst/>
          </a:prstGeom>
        </p:spPr>
      </p:pic>
      <p:sp>
        <p:nvSpPr>
          <p:cNvPr id="52" name="Shape 52"/>
          <p:cNvSpPr/>
          <p:nvPr/>
        </p:nvSpPr>
        <p:spPr>
          <a:xfrm>
            <a:off x="866477" y="2978795"/>
            <a:ext cx="2435423" cy="191691"/>
          </a:xfrm>
          <a:prstGeom prst="rect">
            <a:avLst/>
          </a:prstGeom>
          <a:noFill/>
        </p:spPr>
        <p:txBody>
          <a:bodyPr anchor="t" wrap="square" tIns="0" bIns="0" lIns="0" rIns="0">
            <a:normAutofit/>
          </a:bodyPr>
          <a:lstStyle/>
          <a:p>
            <a:pPr algn="l">
              <a:lnSpc>
                <a:spcPts val="1510"/>
              </a:lnSpc>
              <a:buNone/>
            </a:pPr>
            <a:r>
              <a:rPr sz="1269" b="1" i="0" spc="19">
                <a:solidFill>
                  <a:srgbClr val="FFFFFF"/>
                </a:solidFill>
                <a:latin typeface="DM Sans"/>
                <a:ea typeface="DM Sans"/>
              </a:rPr>
              <a:t>Validation Rules</a:t>
            </a:r>
            <a:endParaRPr lang="en-US"/>
          </a:p>
        </p:txBody>
      </p:sp>
      <p:sp>
        <p:nvSpPr>
          <p:cNvPr id="53" name="Shape 53"/>
          <p:cNvSpPr/>
          <p:nvPr/>
        </p:nvSpPr>
        <p:spPr>
          <a:xfrm>
            <a:off x="866477" y="3201888"/>
            <a:ext cx="1713309" cy="686991"/>
          </a:xfrm>
          <a:prstGeom prst="rect">
            <a:avLst/>
          </a:prstGeom>
          <a:noFill/>
        </p:spPr>
        <p:txBody>
          <a:bodyPr anchor="t" wrap="square" tIns="0" bIns="0" lIns="0" rIns="0">
            <a:normAutofit/>
          </a:bodyPr>
          <a:lstStyle/>
          <a:p>
            <a:pPr algn="l">
              <a:lnSpc>
                <a:spcPts val="1352"/>
              </a:lnSpc>
              <a:buNone/>
            </a:pPr>
            <a:r>
              <a:rPr sz="1136" b="0" i="0" spc="17">
                <a:solidFill>
                  <a:srgbClr val="8A8F99"/>
                </a:solidFill>
                <a:latin typeface="DM Sans"/>
                <a:ea typeface="DM Sans"/>
              </a:rPr>
              <a:t>M. Mahd Amjad owns the validation gate rule engine, the largest planned share.</a:t>
            </a:r>
            <a:endParaRPr lang="en-US"/>
          </a:p>
        </p:txBody>
      </p:sp>
      <p:sp>
        <p:nvSpPr>
          <p:cNvPr id="54" name="Shape 54"/>
          <p:cNvSpPr/>
          <p:nvPr/>
        </p:nvSpPr>
        <p:spPr>
          <a:xfrm>
            <a:off x="9286429" y="2473077"/>
            <a:ext cx="1535311" cy="439341"/>
          </a:xfrm>
          <a:prstGeom prst="rect">
            <a:avLst/>
          </a:prstGeom>
          <a:noFill/>
        </p:spPr>
        <p:txBody>
          <a:bodyPr anchor="t" wrap="square" tIns="0" bIns="0" lIns="0" rIns="0">
            <a:normAutofit/>
          </a:bodyPr>
          <a:lstStyle/>
          <a:p>
            <a:pPr algn="l">
              <a:lnSpc>
                <a:spcPts val="3460"/>
              </a:lnSpc>
              <a:buNone/>
            </a:pPr>
            <a:r>
              <a:rPr sz="3117" b="1" i="0" spc="47">
                <a:solidFill>
                  <a:srgbClr val="44AFFF"/>
                </a:solidFill>
                <a:latin typeface="DM Sans"/>
                <a:ea typeface="DM Sans"/>
              </a:rPr>
              <a:t>20%</a:t>
            </a:r>
            <a:endParaRPr lang="en-US"/>
          </a:p>
        </p:txBody>
      </p:sp>
      <p:pic>
        <p:nvPicPr>
          <p:cNvPr id="137" name="Presenton Native Image 38" descr=""/>
          <p:cNvPicPr/>
          <p:nvPr/>
        </p:nvPicPr>
        <p:blipFill>
          <a:blip r:embed="rId9" cstate="none"/>
          <a:stretch>
            <a:fillRect/>
          </a:stretch>
        </p:blipFill>
        <p:spPr>
          <a:xfrm>
            <a:off x="10916245" y="2550914"/>
            <a:ext cx="280541" cy="280541"/>
          </a:xfrm>
          <a:prstGeom prst="rect">
            <a:avLst/>
          </a:prstGeom>
        </p:spPr>
      </p:pic>
      <p:sp>
        <p:nvSpPr>
          <p:cNvPr id="55" name="Shape 55"/>
          <p:cNvSpPr/>
          <p:nvPr/>
        </p:nvSpPr>
        <p:spPr>
          <a:xfrm>
            <a:off x="9328398" y="2978795"/>
            <a:ext cx="2435423" cy="191691"/>
          </a:xfrm>
          <a:prstGeom prst="rect">
            <a:avLst/>
          </a:prstGeom>
          <a:noFill/>
        </p:spPr>
        <p:txBody>
          <a:bodyPr anchor="t" wrap="square" tIns="0" bIns="0" lIns="0" rIns="0">
            <a:normAutofit/>
          </a:bodyPr>
          <a:lstStyle/>
          <a:p>
            <a:pPr algn="l">
              <a:lnSpc>
                <a:spcPts val="1510"/>
              </a:lnSpc>
              <a:buNone/>
            </a:pPr>
            <a:r>
              <a:rPr sz="1269" b="1" i="0" spc="19">
                <a:solidFill>
                  <a:srgbClr val="FFFFFF"/>
                </a:solidFill>
                <a:latin typeface="DM Sans"/>
                <a:ea typeface="DM Sans"/>
              </a:rPr>
              <a:t>Harness and CI</a:t>
            </a:r>
            <a:endParaRPr lang="en-US"/>
          </a:p>
        </p:txBody>
      </p:sp>
      <p:sp>
        <p:nvSpPr>
          <p:cNvPr id="56" name="Shape 56"/>
          <p:cNvSpPr/>
          <p:nvPr/>
        </p:nvSpPr>
        <p:spPr>
          <a:xfrm>
            <a:off x="9328398" y="3201888"/>
            <a:ext cx="1713309" cy="686991"/>
          </a:xfrm>
          <a:prstGeom prst="rect">
            <a:avLst/>
          </a:prstGeom>
          <a:noFill/>
        </p:spPr>
        <p:txBody>
          <a:bodyPr anchor="t" wrap="square" tIns="0" bIns="0" lIns="0" rIns="0">
            <a:normAutofit/>
          </a:bodyPr>
          <a:lstStyle/>
          <a:p>
            <a:pPr algn="l">
              <a:lnSpc>
                <a:spcPts val="1352"/>
              </a:lnSpc>
              <a:buNone/>
            </a:pPr>
            <a:r>
              <a:rPr sz="1136" b="0" i="0" spc="17">
                <a:solidFill>
                  <a:srgbClr val="8A8F99"/>
                </a:solidFill>
                <a:latin typeface="DM Sans"/>
                <a:ea typeface="DM Sans"/>
              </a:rPr>
              <a:t>M. Mahd Amjad builds the evaluation harness, corpus, and CI pipeline support.</a:t>
            </a:r>
            <a:endParaRPr lang="en-US"/>
          </a:p>
        </p:txBody>
      </p:sp>
      <p:sp>
        <p:nvSpPr>
          <p:cNvPr id="57" name="Shape 57"/>
          <p:cNvSpPr/>
          <p:nvPr/>
        </p:nvSpPr>
        <p:spPr>
          <a:xfrm>
            <a:off x="824508" y="4226123"/>
            <a:ext cx="1535311" cy="439341"/>
          </a:xfrm>
          <a:prstGeom prst="rect">
            <a:avLst/>
          </a:prstGeom>
          <a:noFill/>
        </p:spPr>
        <p:txBody>
          <a:bodyPr anchor="t" wrap="square" tIns="0" bIns="0" lIns="0" rIns="0">
            <a:normAutofit/>
          </a:bodyPr>
          <a:lstStyle/>
          <a:p>
            <a:pPr algn="l">
              <a:lnSpc>
                <a:spcPts val="3460"/>
              </a:lnSpc>
              <a:buNone/>
            </a:pPr>
            <a:r>
              <a:rPr sz="3117" b="1" i="0" spc="47">
                <a:solidFill>
                  <a:srgbClr val="44AFFF"/>
                </a:solidFill>
                <a:latin typeface="DM Sans"/>
                <a:ea typeface="DM Sans"/>
              </a:rPr>
              <a:t>20%</a:t>
            </a:r>
            <a:endParaRPr lang="en-US"/>
          </a:p>
        </p:txBody>
      </p:sp>
      <p:pic>
        <p:nvPicPr>
          <p:cNvPr id="138" name="Presenton Native Image 39" descr=""/>
          <p:cNvPicPr/>
          <p:nvPr/>
        </p:nvPicPr>
        <p:blipFill>
          <a:blip r:embed="rId10" cstate="none"/>
          <a:stretch>
            <a:fillRect/>
          </a:stretch>
        </p:blipFill>
        <p:spPr>
          <a:xfrm>
            <a:off x="2454325" y="4303961"/>
            <a:ext cx="280541" cy="280541"/>
          </a:xfrm>
          <a:prstGeom prst="rect">
            <a:avLst/>
          </a:prstGeom>
        </p:spPr>
      </p:pic>
      <p:sp>
        <p:nvSpPr>
          <p:cNvPr id="58" name="Shape 58"/>
          <p:cNvSpPr/>
          <p:nvPr/>
        </p:nvSpPr>
        <p:spPr>
          <a:xfrm>
            <a:off x="866477" y="4731841"/>
            <a:ext cx="2435423" cy="191691"/>
          </a:xfrm>
          <a:prstGeom prst="rect">
            <a:avLst/>
          </a:prstGeom>
          <a:noFill/>
        </p:spPr>
        <p:txBody>
          <a:bodyPr anchor="t" wrap="square" tIns="0" bIns="0" lIns="0" rIns="0">
            <a:normAutofit/>
          </a:bodyPr>
          <a:lstStyle/>
          <a:p>
            <a:pPr algn="l">
              <a:lnSpc>
                <a:spcPts val="1510"/>
              </a:lnSpc>
              <a:buNone/>
            </a:pPr>
            <a:r>
              <a:rPr sz="1269" b="1" i="0" spc="19">
                <a:solidFill>
                  <a:srgbClr val="FFFFFF"/>
                </a:solidFill>
                <a:latin typeface="DM Sans"/>
                <a:ea typeface="DM Sans"/>
              </a:rPr>
              <a:t>Web App UI and API</a:t>
            </a:r>
            <a:endParaRPr lang="en-US"/>
          </a:p>
        </p:txBody>
      </p:sp>
      <p:sp>
        <p:nvSpPr>
          <p:cNvPr id="59" name="Shape 59"/>
          <p:cNvSpPr/>
          <p:nvPr/>
        </p:nvSpPr>
        <p:spPr>
          <a:xfrm>
            <a:off x="866477" y="4954935"/>
            <a:ext cx="1713309" cy="686991"/>
          </a:xfrm>
          <a:prstGeom prst="rect">
            <a:avLst/>
          </a:prstGeom>
          <a:noFill/>
        </p:spPr>
        <p:txBody>
          <a:bodyPr anchor="t" wrap="square" tIns="0" bIns="0" lIns="0" rIns="0">
            <a:normAutofit/>
          </a:bodyPr>
          <a:lstStyle/>
          <a:p>
            <a:pPr algn="l">
              <a:lnSpc>
                <a:spcPts val="1352"/>
              </a:lnSpc>
              <a:buNone/>
            </a:pPr>
            <a:r>
              <a:rPr sz="1136" b="0" i="0" spc="17">
                <a:solidFill>
                  <a:srgbClr val="8A8F99"/>
                </a:solidFill>
                <a:latin typeface="DM Sans"/>
                <a:ea typeface="DM Sans"/>
              </a:rPr>
              <a:t>Arwa Arafeh delivers the web application UI and API layer with paired review.</a:t>
            </a:r>
            <a:endParaRPr lang="en-US"/>
          </a:p>
        </p:txBody>
      </p:sp>
      <p:sp>
        <p:nvSpPr>
          <p:cNvPr id="60" name="Shape 60"/>
          <p:cNvSpPr/>
          <p:nvPr/>
        </p:nvSpPr>
        <p:spPr>
          <a:xfrm>
            <a:off x="9286429" y="4226123"/>
            <a:ext cx="1535311" cy="439341"/>
          </a:xfrm>
          <a:prstGeom prst="rect">
            <a:avLst/>
          </a:prstGeom>
          <a:noFill/>
        </p:spPr>
        <p:txBody>
          <a:bodyPr anchor="t" wrap="square" tIns="0" bIns="0" lIns="0" rIns="0">
            <a:normAutofit/>
          </a:bodyPr>
          <a:lstStyle/>
          <a:p>
            <a:pPr algn="l">
              <a:lnSpc>
                <a:spcPts val="3460"/>
              </a:lnSpc>
              <a:buNone/>
            </a:pPr>
            <a:r>
              <a:rPr sz="3117" b="1" i="0" spc="47">
                <a:solidFill>
                  <a:srgbClr val="44AFFF"/>
                </a:solidFill>
                <a:latin typeface="DM Sans"/>
                <a:ea typeface="DM Sans"/>
              </a:rPr>
              <a:t>20%</a:t>
            </a:r>
            <a:endParaRPr lang="en-US"/>
          </a:p>
        </p:txBody>
      </p:sp>
      <p:pic>
        <p:nvPicPr>
          <p:cNvPr id="139" name="Presenton Native Image 40" descr=""/>
          <p:cNvPicPr/>
          <p:nvPr/>
        </p:nvPicPr>
        <p:blipFill>
          <a:blip r:embed="rId11" cstate="none"/>
          <a:stretch>
            <a:fillRect/>
          </a:stretch>
        </p:blipFill>
        <p:spPr>
          <a:xfrm>
            <a:off x="10916245" y="4303961"/>
            <a:ext cx="280541" cy="280541"/>
          </a:xfrm>
          <a:prstGeom prst="rect">
            <a:avLst/>
          </a:prstGeom>
        </p:spPr>
      </p:pic>
      <p:sp>
        <p:nvSpPr>
          <p:cNvPr id="61" name="Shape 61"/>
          <p:cNvSpPr/>
          <p:nvPr/>
        </p:nvSpPr>
        <p:spPr>
          <a:xfrm>
            <a:off x="9328398" y="4731841"/>
            <a:ext cx="2435423" cy="191691"/>
          </a:xfrm>
          <a:prstGeom prst="rect">
            <a:avLst/>
          </a:prstGeom>
          <a:noFill/>
        </p:spPr>
        <p:txBody>
          <a:bodyPr anchor="t" wrap="square" tIns="0" bIns="0" lIns="0" rIns="0">
            <a:normAutofit/>
          </a:bodyPr>
          <a:lstStyle/>
          <a:p>
            <a:pPr algn="l">
              <a:lnSpc>
                <a:spcPts val="1510"/>
              </a:lnSpc>
              <a:buNone/>
            </a:pPr>
            <a:r>
              <a:rPr sz="1269" b="1" i="0" spc="19">
                <a:solidFill>
                  <a:srgbClr val="FFFFFF"/>
                </a:solidFill>
                <a:latin typeface="DM Sans"/>
                <a:ea typeface="DM Sans"/>
              </a:rPr>
              <a:t>Docs and Decisions</a:t>
            </a:r>
            <a:endParaRPr lang="en-US"/>
          </a:p>
        </p:txBody>
      </p:sp>
      <p:sp>
        <p:nvSpPr>
          <p:cNvPr id="62" name="Shape 62"/>
          <p:cNvSpPr/>
          <p:nvPr/>
        </p:nvSpPr>
        <p:spPr>
          <a:xfrm>
            <a:off x="9328398" y="4954935"/>
            <a:ext cx="1713309" cy="686991"/>
          </a:xfrm>
          <a:prstGeom prst="rect">
            <a:avLst/>
          </a:prstGeom>
          <a:noFill/>
        </p:spPr>
        <p:txBody>
          <a:bodyPr anchor="t" wrap="square" tIns="0" bIns="0" lIns="0" rIns="0">
            <a:normAutofit/>
          </a:bodyPr>
          <a:lstStyle/>
          <a:p>
            <a:pPr algn="l">
              <a:lnSpc>
                <a:spcPts val="1352"/>
              </a:lnSpc>
              <a:buNone/>
            </a:pPr>
            <a:r>
              <a:rPr sz="1136" b="0" i="0" spc="17">
                <a:solidFill>
                  <a:srgbClr val="8A8F99"/>
                </a:solidFill>
                <a:latin typeface="DM Sans"/>
                <a:ea typeface="DM Sans"/>
              </a:rPr>
              <a:t>Arwa Arafeh leads documentation and decision records for shared accountability.</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40" name="Presenton Native Image 41" descr=""/>
          <p:cNvPicPr/>
          <p:nvPr/>
        </p:nvPicPr>
        <p:blipFill>
          <a:blip r:embed="rId2" cstate="none"/>
          <a:stretch>
            <a:fillRect/>
          </a:stretch>
        </p:blipFill>
        <p:spPr>
          <a:xfrm>
            <a:off x="0" y="328826"/>
            <a:ext cx="9175452" cy="6529174"/>
          </a:xfrm>
          <a:prstGeom prst="rect">
            <a:avLst/>
          </a:prstGeom>
        </p:spPr>
      </p:pic>
      <p:pic>
        <p:nvPicPr>
          <p:cNvPr id="141" name="Presenton Native Image 42" descr=""/>
          <p:cNvPicPr/>
          <p:nvPr/>
        </p:nvPicPr>
        <p:blipFill>
          <a:blip r:embed="rId3" cstate="none"/>
          <a:stretch>
            <a:fillRect/>
          </a:stretch>
        </p:blipFill>
        <p:spPr>
          <a:xfrm>
            <a:off x="599480" y="3632746"/>
            <a:ext cx="10992743" cy="3225254"/>
          </a:xfrm>
          <a:prstGeom prst="rect">
            <a:avLst/>
          </a:prstGeom>
        </p:spPr>
      </p:pic>
      <p:sp>
        <p:nvSpPr>
          <p:cNvPr id="63" name="Shape 63"/>
          <p:cNvSpPr/>
          <p:nvPr/>
        </p:nvSpPr>
        <p:spPr>
          <a:xfrm>
            <a:off x="762000" y="891480"/>
            <a:ext cx="6229350" cy="995958"/>
          </a:xfrm>
          <a:prstGeom prst="rect">
            <a:avLst/>
          </a:prstGeom>
          <a:noFill/>
        </p:spPr>
        <p:txBody>
          <a:bodyPr anchor="t" wrap="square" tIns="0" bIns="0" lIns="0" rIns="0">
            <a:normAutofit/>
          </a:bodyPr>
          <a:lstStyle/>
          <a:p>
            <a:pPr algn="l">
              <a:lnSpc>
                <a:spcPts val="3922"/>
              </a:lnSpc>
              <a:buNone/>
            </a:pPr>
            <a:r>
              <a:rPr sz="3533" b="1" i="1" spc="52">
                <a:solidFill>
                  <a:srgbClr val="FFFFFF"/>
                </a:solidFill>
                <a:latin typeface="Playfair Display Semi Bold Italics"/>
                <a:ea typeface="Playfair Display Semi Bold Italics"/>
              </a:rPr>
              <a:t>Evaluation Plan: Planned Work</a:t>
            </a:r>
            <a:endParaRPr lang="en-US"/>
          </a:p>
        </p:txBody>
      </p:sp>
      <p:sp>
        <p:nvSpPr>
          <p:cNvPr id="64" name="Shape 64"/>
          <p:cNvSpPr/>
          <p:nvPr/>
        </p:nvSpPr>
        <p:spPr>
          <a:xfrm>
            <a:off x="4215705" y="2632621"/>
            <a:ext cx="1381571" cy="201811"/>
          </a:xfrm>
          <a:prstGeom prst="rect">
            <a:avLst/>
          </a:prstGeom>
          <a:noFill/>
        </p:spPr>
        <p:txBody>
          <a:bodyPr anchor="t" wrap="square" tIns="0" bIns="0" lIns="0" rIns="0">
            <a:normAutofit/>
          </a:bodyPr>
          <a:lstStyle/>
          <a:p>
            <a:pPr algn="l">
              <a:lnSpc>
                <a:spcPts val="1590"/>
              </a:lnSpc>
              <a:buNone/>
            </a:pPr>
            <a:r>
              <a:rPr sz="1336" b="1" i="0" spc="20">
                <a:solidFill>
                  <a:srgbClr val="FFFFFF"/>
                </a:solidFill>
                <a:latin typeface="DM Sans"/>
                <a:ea typeface="DM Sans"/>
              </a:rPr>
              <a:t>100%</a:t>
            </a:r>
            <a:endParaRPr lang="en-US"/>
          </a:p>
        </p:txBody>
      </p:sp>
      <p:sp>
        <p:nvSpPr>
          <p:cNvPr id="65" name="Shape 65"/>
          <p:cNvSpPr/>
          <p:nvPr/>
        </p:nvSpPr>
        <p:spPr>
          <a:xfrm>
            <a:off x="4228802" y="2875359"/>
            <a:ext cx="1538734" cy="363736"/>
          </a:xfrm>
          <a:prstGeom prst="rect">
            <a:avLst/>
          </a:prstGeom>
          <a:noFill/>
        </p:spPr>
        <p:txBody>
          <a:bodyPr anchor="t" wrap="square" tIns="0" bIns="0" lIns="0" rIns="0">
            <a:normAutofit/>
          </a:bodyPr>
          <a:lstStyle/>
          <a:p>
            <a:pPr algn="l">
              <a:lnSpc>
                <a:spcPts val="1432"/>
              </a:lnSpc>
              <a:buNone/>
            </a:pPr>
            <a:r>
              <a:rPr sz="1203" b="0" i="0" spc="18">
                <a:solidFill>
                  <a:srgbClr val="B9C0CA"/>
                </a:solidFill>
                <a:latin typeface="DM Sans"/>
                <a:ea typeface="DM Sans"/>
              </a:rPr>
              <a:t>Block rate on destructive classes</a:t>
            </a:r>
            <a:endParaRPr lang="en-US"/>
          </a:p>
        </p:txBody>
      </p:sp>
      <p:pic>
        <p:nvPicPr>
          <p:cNvPr id="142" name="Presenton Native SVG Image 43" descr=""/>
          <p:cNvPicPr/>
          <p:nvPr/>
        </p:nvPicPr>
        <p:blipFill>
          <a:blip>
            <a:extLst>
              <a:ext uri="{96DAC541-7B7A-43D3-8B79-37D633B846F1}">
                <asvg:svgBlip xmlns:asvg="http://schemas.microsoft.com/office/drawing/2016/SVG/main" r:embed="rId11"/>
              </a:ext>
            </a:extLst>
          </a:blip>
          <a:stretch>
            <a:fillRect/>
          </a:stretch>
        </p:blipFill>
        <p:spPr>
          <a:xfrm>
            <a:off x="4802981" y="3523506"/>
            <a:ext cx="25301" cy="2475607"/>
          </a:xfrm>
          <a:prstGeom prst="rect">
            <a:avLst/>
          </a:prstGeom>
        </p:spPr>
      </p:pic>
      <p:pic>
        <p:nvPicPr>
          <p:cNvPr id="143" name="Presenton Native Image 44" descr=""/>
          <p:cNvPicPr/>
          <p:nvPr/>
        </p:nvPicPr>
        <p:blipFill>
          <a:blip r:embed="rId5" cstate="none"/>
          <a:stretch>
            <a:fillRect/>
          </a:stretch>
        </p:blipFill>
        <p:spPr>
          <a:xfrm>
            <a:off x="4609505" y="5710386"/>
            <a:ext cx="371177" cy="381595"/>
          </a:xfrm>
          <a:prstGeom prst="rect">
            <a:avLst/>
          </a:prstGeom>
        </p:spPr>
      </p:pic>
      <p:sp>
        <p:nvSpPr>
          <p:cNvPr id="66" name="Shape 66"/>
          <p:cNvSpPr/>
          <p:nvPr/>
        </p:nvSpPr>
        <p:spPr>
          <a:xfrm>
            <a:off x="4549080" y="6254651"/>
            <a:ext cx="510927" cy="222052"/>
          </a:xfrm>
          <a:prstGeom prst="rect">
            <a:avLst/>
          </a:prstGeom>
          <a:noFill/>
        </p:spPr>
        <p:txBody>
          <a:bodyPr anchor="t" wrap="square" tIns="0" bIns="0" lIns="0" rIns="0">
            <a:normAutofit/>
          </a:bodyPr>
          <a:lstStyle/>
          <a:p>
            <a:pPr algn="l">
              <a:lnSpc>
                <a:spcPts val="1748"/>
              </a:lnSpc>
              <a:buNone/>
            </a:pPr>
            <a:r>
              <a:rPr sz="1469" b="1" i="0" spc="22">
                <a:solidFill>
                  <a:srgbClr val="FFFFFF"/>
                </a:solidFill>
                <a:latin typeface="DM Sans"/>
                <a:ea typeface="DM Sans"/>
              </a:rPr>
              <a:t>01</a:t>
            </a:r>
            <a:endParaRPr lang="en-US"/>
          </a:p>
        </p:txBody>
      </p:sp>
      <p:sp>
        <p:nvSpPr>
          <p:cNvPr id="67" name="Shape 67"/>
          <p:cNvSpPr/>
          <p:nvPr/>
        </p:nvSpPr>
        <p:spPr>
          <a:xfrm>
            <a:off x="6666309" y="1808708"/>
            <a:ext cx="1357313" cy="201811"/>
          </a:xfrm>
          <a:prstGeom prst="rect">
            <a:avLst/>
          </a:prstGeom>
          <a:noFill/>
        </p:spPr>
        <p:txBody>
          <a:bodyPr anchor="t" wrap="square" tIns="0" bIns="0" lIns="0" rIns="0">
            <a:normAutofit/>
          </a:bodyPr>
          <a:lstStyle/>
          <a:p>
            <a:pPr algn="l">
              <a:lnSpc>
                <a:spcPts val="1590"/>
              </a:lnSpc>
              <a:buNone/>
            </a:pPr>
            <a:r>
              <a:rPr sz="1336" b="1" i="0" spc="20">
                <a:solidFill>
                  <a:srgbClr val="FFFFFF"/>
                </a:solidFill>
                <a:latin typeface="DM Sans"/>
                <a:ea typeface="DM Sans"/>
              </a:rPr>
              <a:t>&lt;</a:t>
            </a:r>
            <a:r>
              <a:rPr sz="1336" b="1" i="0" spc="20">
                <a:solidFill>
                  <a:srgbClr val="FFFFFF"/>
                </a:solidFill>
                <a:latin typeface="DM Sans"/>
                <a:ea typeface="DM Sans"/>
              </a:rPr>
              <a:t>10%</a:t>
            </a:r>
            <a:endParaRPr lang="en-US"/>
          </a:p>
        </p:txBody>
      </p:sp>
      <p:sp>
        <p:nvSpPr>
          <p:cNvPr id="68" name="Shape 68"/>
          <p:cNvSpPr/>
          <p:nvPr/>
        </p:nvSpPr>
        <p:spPr>
          <a:xfrm>
            <a:off x="6679406" y="2051447"/>
            <a:ext cx="1500932" cy="363736"/>
          </a:xfrm>
          <a:prstGeom prst="rect">
            <a:avLst/>
          </a:prstGeom>
          <a:noFill/>
        </p:spPr>
        <p:txBody>
          <a:bodyPr anchor="t" wrap="square" tIns="0" bIns="0" lIns="0" rIns="0">
            <a:normAutofit/>
          </a:bodyPr>
          <a:lstStyle/>
          <a:p>
            <a:pPr algn="l">
              <a:lnSpc>
                <a:spcPts val="1432"/>
              </a:lnSpc>
              <a:buNone/>
            </a:pPr>
            <a:r>
              <a:rPr sz="1203" b="0" i="0" spc="18">
                <a:solidFill>
                  <a:srgbClr val="B9C0CA"/>
                </a:solidFill>
                <a:latin typeface="DM Sans"/>
                <a:ea typeface="DM Sans"/>
              </a:rPr>
              <a:t>False positives, reported openly</a:t>
            </a:r>
            <a:endParaRPr lang="en-US"/>
          </a:p>
        </p:txBody>
      </p:sp>
      <p:pic>
        <p:nvPicPr>
          <p:cNvPr id="144" name="Presenton Native SVG Image 45" descr=""/>
          <p:cNvPicPr/>
          <p:nvPr/>
        </p:nvPicPr>
        <p:blipFill>
          <a:blip>
            <a:extLst>
              <a:ext uri="{96DAC541-7B7A-43D3-8B79-37D633B846F1}">
                <asvg:svgBlip xmlns:asvg="http://schemas.microsoft.com/office/drawing/2016/SVG/main" r:embed="rId12"/>
              </a:ext>
            </a:extLst>
          </a:blip>
          <a:stretch>
            <a:fillRect/>
          </a:stretch>
        </p:blipFill>
        <p:spPr>
          <a:xfrm>
            <a:off x="7093000" y="2677567"/>
            <a:ext cx="25301" cy="2475607"/>
          </a:xfrm>
          <a:prstGeom prst="rect">
            <a:avLst/>
          </a:prstGeom>
        </p:spPr>
      </p:pic>
      <p:pic>
        <p:nvPicPr>
          <p:cNvPr id="145" name="Presenton Native Image 46" descr=""/>
          <p:cNvPicPr/>
          <p:nvPr/>
        </p:nvPicPr>
        <p:blipFill>
          <a:blip r:embed="rId7" cstate="none"/>
          <a:stretch>
            <a:fillRect/>
          </a:stretch>
        </p:blipFill>
        <p:spPr>
          <a:xfrm>
            <a:off x="6885384" y="4871889"/>
            <a:ext cx="373261" cy="356890"/>
          </a:xfrm>
          <a:prstGeom prst="rect">
            <a:avLst/>
          </a:prstGeom>
        </p:spPr>
      </p:pic>
      <p:sp>
        <p:nvSpPr>
          <p:cNvPr id="69" name="Shape 69"/>
          <p:cNvSpPr/>
          <p:nvPr/>
        </p:nvSpPr>
        <p:spPr>
          <a:xfrm>
            <a:off x="6852196" y="5388173"/>
            <a:ext cx="510927" cy="222052"/>
          </a:xfrm>
          <a:prstGeom prst="rect">
            <a:avLst/>
          </a:prstGeom>
          <a:noFill/>
        </p:spPr>
        <p:txBody>
          <a:bodyPr anchor="t" wrap="square" tIns="0" bIns="0" lIns="0" rIns="0">
            <a:normAutofit/>
          </a:bodyPr>
          <a:lstStyle/>
          <a:p>
            <a:pPr algn="l">
              <a:lnSpc>
                <a:spcPts val="1748"/>
              </a:lnSpc>
              <a:buNone/>
            </a:pPr>
            <a:r>
              <a:rPr sz="1469" b="1" i="0" spc="22">
                <a:solidFill>
                  <a:srgbClr val="FFFFFF"/>
                </a:solidFill>
                <a:latin typeface="DM Sans"/>
                <a:ea typeface="DM Sans"/>
              </a:rPr>
              <a:t>02</a:t>
            </a:r>
            <a:endParaRPr lang="en-US"/>
          </a:p>
        </p:txBody>
      </p:sp>
      <p:sp>
        <p:nvSpPr>
          <p:cNvPr id="70" name="Shape 70"/>
          <p:cNvSpPr/>
          <p:nvPr/>
        </p:nvSpPr>
        <p:spPr>
          <a:xfrm>
            <a:off x="2051447" y="2343596"/>
            <a:ext cx="1344216" cy="201811"/>
          </a:xfrm>
          <a:prstGeom prst="rect">
            <a:avLst/>
          </a:prstGeom>
          <a:noFill/>
        </p:spPr>
        <p:txBody>
          <a:bodyPr anchor="t" wrap="square" tIns="0" bIns="0" lIns="0" rIns="0">
            <a:normAutofit/>
          </a:bodyPr>
          <a:lstStyle/>
          <a:p>
            <a:pPr algn="l">
              <a:lnSpc>
                <a:spcPts val="1590"/>
              </a:lnSpc>
              <a:buNone/>
            </a:pPr>
            <a:r>
              <a:rPr sz="1336" b="1" i="0" spc="20">
                <a:solidFill>
                  <a:srgbClr val="FFFFFF"/>
                </a:solidFill>
                <a:latin typeface="DM Sans"/>
                <a:ea typeface="DM Sans"/>
              </a:rPr>
              <a:t>&lt;</a:t>
            </a:r>
            <a:r>
              <a:rPr sz="1336" b="1" i="0" spc="20">
                <a:solidFill>
                  <a:srgbClr val="FFFFFF"/>
                </a:solidFill>
                <a:latin typeface="DM Sans"/>
                <a:ea typeface="DM Sans"/>
              </a:rPr>
              <a:t>50 ms</a:t>
            </a:r>
            <a:endParaRPr lang="en-US"/>
          </a:p>
        </p:txBody>
      </p:sp>
      <p:sp>
        <p:nvSpPr>
          <p:cNvPr id="71" name="Shape 71"/>
          <p:cNvSpPr/>
          <p:nvPr/>
        </p:nvSpPr>
        <p:spPr>
          <a:xfrm>
            <a:off x="2064544" y="2586484"/>
            <a:ext cx="1500932" cy="363736"/>
          </a:xfrm>
          <a:prstGeom prst="rect">
            <a:avLst/>
          </a:prstGeom>
          <a:noFill/>
        </p:spPr>
        <p:txBody>
          <a:bodyPr anchor="t" wrap="square" tIns="0" bIns="0" lIns="0" rIns="0">
            <a:normAutofit/>
          </a:bodyPr>
          <a:lstStyle/>
          <a:p>
            <a:pPr algn="l">
              <a:lnSpc>
                <a:spcPts val="1432"/>
              </a:lnSpc>
              <a:buNone/>
            </a:pPr>
            <a:r>
              <a:rPr sz="1203" b="0" i="0" spc="18">
                <a:solidFill>
                  <a:srgbClr val="B9C0CA"/>
                </a:solidFill>
                <a:latin typeface="DM Sans"/>
                <a:ea typeface="DM Sans"/>
              </a:rPr>
              <a:t>p95 added gate latency target</a:t>
            </a:r>
            <a:endParaRPr lang="en-US"/>
          </a:p>
        </p:txBody>
      </p:sp>
      <p:pic>
        <p:nvPicPr>
          <p:cNvPr id="146" name="Presenton Native SVG Image 47" descr=""/>
          <p:cNvPicPr/>
          <p:nvPr/>
        </p:nvPicPr>
        <p:blipFill>
          <a:blip>
            <a:extLst>
              <a:ext uri="{96DAC541-7B7A-43D3-8B79-37D633B846F1}">
                <asvg:svgBlip xmlns:asvg="http://schemas.microsoft.com/office/drawing/2016/SVG/main" r:embed="rId13"/>
              </a:ext>
            </a:extLst>
          </a:blip>
          <a:stretch>
            <a:fillRect/>
          </a:stretch>
        </p:blipFill>
        <p:spPr>
          <a:xfrm>
            <a:off x="2599134" y="3225850"/>
            <a:ext cx="25301" cy="2475607"/>
          </a:xfrm>
          <a:prstGeom prst="rect">
            <a:avLst/>
          </a:prstGeom>
        </p:spPr>
      </p:pic>
      <p:pic>
        <p:nvPicPr>
          <p:cNvPr id="147" name="Presenton Native Image 48" descr=""/>
          <p:cNvPicPr/>
          <p:nvPr/>
        </p:nvPicPr>
        <p:blipFill>
          <a:blip r:embed="rId8" cstate="none"/>
          <a:stretch>
            <a:fillRect/>
          </a:stretch>
        </p:blipFill>
        <p:spPr>
          <a:xfrm>
            <a:off x="2418606" y="5426422"/>
            <a:ext cx="360611" cy="345430"/>
          </a:xfrm>
          <a:prstGeom prst="rect">
            <a:avLst/>
          </a:prstGeom>
        </p:spPr>
      </p:pic>
      <p:sp>
        <p:nvSpPr>
          <p:cNvPr id="72" name="Shape 72"/>
          <p:cNvSpPr/>
          <p:nvPr/>
        </p:nvSpPr>
        <p:spPr>
          <a:xfrm>
            <a:off x="2371279" y="5942112"/>
            <a:ext cx="510927" cy="222052"/>
          </a:xfrm>
          <a:prstGeom prst="rect">
            <a:avLst/>
          </a:prstGeom>
          <a:noFill/>
        </p:spPr>
        <p:txBody>
          <a:bodyPr anchor="t" wrap="square" tIns="0" bIns="0" lIns="0" rIns="0">
            <a:normAutofit/>
          </a:bodyPr>
          <a:lstStyle/>
          <a:p>
            <a:pPr algn="l">
              <a:lnSpc>
                <a:spcPts val="1748"/>
              </a:lnSpc>
              <a:buNone/>
            </a:pPr>
            <a:r>
              <a:rPr sz="1469" b="1" i="0" spc="22">
                <a:solidFill>
                  <a:srgbClr val="FFFFFF"/>
                </a:solidFill>
                <a:latin typeface="DM Sans"/>
                <a:ea typeface="DM Sans"/>
              </a:rPr>
              <a:t>03</a:t>
            </a:r>
            <a:endParaRPr lang="en-US"/>
          </a:p>
        </p:txBody>
      </p:sp>
      <p:sp>
        <p:nvSpPr>
          <p:cNvPr id="73" name="Shape 73"/>
          <p:cNvSpPr/>
          <p:nvPr/>
        </p:nvSpPr>
        <p:spPr>
          <a:xfrm>
            <a:off x="8781604" y="2051447"/>
            <a:ext cx="1455688" cy="201811"/>
          </a:xfrm>
          <a:prstGeom prst="rect">
            <a:avLst/>
          </a:prstGeom>
          <a:noFill/>
        </p:spPr>
        <p:txBody>
          <a:bodyPr anchor="t" wrap="square" tIns="0" bIns="0" lIns="0" rIns="0">
            <a:normAutofit/>
          </a:bodyPr>
          <a:lstStyle/>
          <a:p>
            <a:pPr algn="l">
              <a:lnSpc>
                <a:spcPts val="1590"/>
              </a:lnSpc>
              <a:buNone/>
            </a:pPr>
            <a:r>
              <a:rPr sz="1336" b="1" i="0" spc="20">
                <a:solidFill>
                  <a:srgbClr val="FFFFFF"/>
                </a:solidFill>
                <a:latin typeface="DM Sans"/>
                <a:ea typeface="DM Sans"/>
              </a:rPr>
              <a:t>Zero</a:t>
            </a:r>
            <a:endParaRPr lang="en-US"/>
          </a:p>
        </p:txBody>
      </p:sp>
      <p:sp>
        <p:nvSpPr>
          <p:cNvPr id="74" name="Shape 74"/>
          <p:cNvSpPr/>
          <p:nvPr/>
        </p:nvSpPr>
        <p:spPr>
          <a:xfrm>
            <a:off x="8794700" y="2294334"/>
            <a:ext cx="1500932" cy="363736"/>
          </a:xfrm>
          <a:prstGeom prst="rect">
            <a:avLst/>
          </a:prstGeom>
          <a:noFill/>
        </p:spPr>
        <p:txBody>
          <a:bodyPr anchor="t" wrap="square" tIns="0" bIns="0" lIns="0" rIns="0">
            <a:normAutofit/>
          </a:bodyPr>
          <a:lstStyle/>
          <a:p>
            <a:pPr algn="l">
              <a:lnSpc>
                <a:spcPts val="1432"/>
              </a:lnSpc>
              <a:buNone/>
            </a:pPr>
            <a:r>
              <a:rPr sz="1203" b="0" i="0" spc="18">
                <a:solidFill>
                  <a:srgbClr val="B9C0CA"/>
                </a:solidFill>
                <a:latin typeface="DM Sans"/>
                <a:ea typeface="DM Sans"/>
              </a:rPr>
              <a:t>Silent regressions; CI-guarded</a:t>
            </a:r>
            <a:endParaRPr lang="en-US"/>
          </a:p>
        </p:txBody>
      </p:sp>
      <p:pic>
        <p:nvPicPr>
          <p:cNvPr id="148" name="Presenton Native SVG Image 49" descr=""/>
          <p:cNvPicPr/>
          <p:nvPr/>
        </p:nvPicPr>
        <p:blipFill>
          <a:blip>
            <a:extLst>
              <a:ext uri="{96DAC541-7B7A-43D3-8B79-37D633B846F1}">
                <asvg:svgBlip xmlns:asvg="http://schemas.microsoft.com/office/drawing/2016/SVG/main" r:embed="rId14"/>
              </a:ext>
            </a:extLst>
          </a:blip>
          <a:stretch>
            <a:fillRect/>
          </a:stretch>
        </p:blipFill>
        <p:spPr>
          <a:xfrm>
            <a:off x="9529018" y="2958703"/>
            <a:ext cx="25301" cy="2475607"/>
          </a:xfrm>
          <a:prstGeom prst="rect">
            <a:avLst/>
          </a:prstGeom>
        </p:spPr>
      </p:pic>
      <p:pic>
        <p:nvPicPr>
          <p:cNvPr id="149" name="Presenton Native Image 50" descr=""/>
          <p:cNvPicPr/>
          <p:nvPr/>
        </p:nvPicPr>
        <p:blipFill>
          <a:blip r:embed="rId9" cstate="none"/>
          <a:stretch>
            <a:fillRect/>
          </a:stretch>
        </p:blipFill>
        <p:spPr>
          <a:xfrm>
            <a:off x="9345216" y="5175498"/>
            <a:ext cx="351830" cy="365373"/>
          </a:xfrm>
          <a:prstGeom prst="rect">
            <a:avLst/>
          </a:prstGeom>
        </p:spPr>
      </p:pic>
      <p:sp>
        <p:nvSpPr>
          <p:cNvPr id="75" name="Shape 75"/>
          <p:cNvSpPr/>
          <p:nvPr/>
        </p:nvSpPr>
        <p:spPr>
          <a:xfrm>
            <a:off x="9301460" y="5672882"/>
            <a:ext cx="510927" cy="222052"/>
          </a:xfrm>
          <a:prstGeom prst="rect">
            <a:avLst/>
          </a:prstGeom>
          <a:noFill/>
        </p:spPr>
        <p:txBody>
          <a:bodyPr anchor="t" wrap="square" tIns="0" bIns="0" lIns="0" rIns="0">
            <a:normAutofit/>
          </a:bodyPr>
          <a:lstStyle/>
          <a:p>
            <a:pPr algn="l">
              <a:lnSpc>
                <a:spcPts val="1748"/>
              </a:lnSpc>
              <a:buNone/>
            </a:pPr>
            <a:r>
              <a:rPr sz="1469" b="1" i="0" spc="22">
                <a:solidFill>
                  <a:srgbClr val="FFFFFF"/>
                </a:solidFill>
                <a:latin typeface="DM Sans"/>
                <a:ea typeface="DM Sans"/>
              </a:rPr>
              <a:t>04</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50" name="Presenton Native Image 51" descr=""/>
          <p:cNvPicPr/>
          <p:nvPr/>
        </p:nvPicPr>
        <p:blipFill>
          <a:blip r:embed="rId2" cstate="none"/>
          <a:stretch>
            <a:fillRect/>
          </a:stretch>
        </p:blipFill>
        <p:spPr>
          <a:xfrm>
            <a:off x="0" y="281797"/>
            <a:ext cx="9200306" cy="6576203"/>
          </a:xfrm>
          <a:prstGeom prst="rect">
            <a:avLst/>
          </a:prstGeom>
        </p:spPr>
      </p:pic>
      <p:sp>
        <p:nvSpPr>
          <p:cNvPr id="76" name="Shape 76"/>
          <p:cNvSpPr/>
          <p:nvPr/>
        </p:nvSpPr>
        <p:spPr>
          <a:xfrm>
            <a:off x="762000" y="2265164"/>
            <a:ext cx="3669953" cy="996851"/>
          </a:xfrm>
          <a:prstGeom prst="rect">
            <a:avLst/>
          </a:prstGeom>
          <a:noFill/>
        </p:spPr>
        <p:txBody>
          <a:bodyPr anchor="t" wrap="square" tIns="0" bIns="0" lIns="0" rIns="0">
            <a:normAutofit/>
          </a:bodyPr>
          <a:lstStyle/>
          <a:p>
            <a:pPr algn="l">
              <a:lnSpc>
                <a:spcPts val="3926"/>
              </a:lnSpc>
              <a:buNone/>
            </a:pPr>
            <a:r>
              <a:rPr sz="3537" b="1" i="1" spc="52">
                <a:solidFill>
                  <a:srgbClr val="FFFFFF"/>
                </a:solidFill>
                <a:latin typeface="Playfair Display Semi Bold Italics"/>
                <a:ea typeface="Playfair Display Semi Bold Italics"/>
              </a:rPr>
              <a:t>CS 5391: Course Plan and Stack</a:t>
            </a:r>
            <a:endParaRPr lang="en-US"/>
          </a:p>
        </p:txBody>
      </p:sp>
      <p:sp>
        <p:nvSpPr>
          <p:cNvPr id="77" name="Shape 77"/>
          <p:cNvSpPr/>
          <p:nvPr/>
        </p:nvSpPr>
        <p:spPr>
          <a:xfrm>
            <a:off x="762000" y="3413968"/>
            <a:ext cx="3666976" cy="1332309"/>
          </a:xfrm>
          <a:prstGeom prst="rect">
            <a:avLst/>
          </a:prstGeom>
          <a:noFill/>
        </p:spPr>
        <p:txBody>
          <a:bodyPr anchor="t" wrap="square" tIns="0" bIns="0" lIns="0" rIns="0">
            <a:normAutofit/>
          </a:bodyPr>
          <a:lstStyle/>
          <a:p>
            <a:pPr algn="l">
              <a:lnSpc>
                <a:spcPts val="1748"/>
              </a:lnSpc>
              <a:buNone/>
            </a:pPr>
            <a:r>
              <a:rPr sz="1469" b="0" i="0" spc="22">
                <a:solidFill>
                  <a:srgbClr val="FFFFFF"/>
                </a:solidFill>
                <a:latin typeface="DM Sans"/>
                <a:ea typeface="DM Sans"/>
              </a:rPr>
              <a:t xml:space="preserve">A </a:t>
            </a:r>
            <a:r>
              <a:rPr sz="1469" b="1" i="0" spc="22">
                <a:solidFill>
                  <a:srgbClr val="FFFFFF"/>
                </a:solidFill>
                <a:latin typeface="DM Sans"/>
                <a:ea typeface="DM Sans"/>
              </a:rPr>
              <a:t>two-member team</a:t>
            </a:r>
            <a:r>
              <a:rPr sz="1469" b="0" i="0" spc="22">
                <a:solidFill>
                  <a:srgbClr val="FFFFFF"/>
                </a:solidFill>
                <a:latin typeface="DM Sans"/>
                <a:ea typeface="DM Sans"/>
              </a:rPr>
              <a:t xml:space="preserve"> — M. Mahd Amjad and Arwa Arafeh — presents this CS 5391 plan (September 9, 2026). Milestones: proposal and presentation, then an SRS mapping requirements to tests, then build, demo, final.</a:t>
            </a:r>
            <a:endParaRPr lang="en-US"/>
          </a:p>
        </p:txBody>
      </p:sp>
      <p:sp>
        <p:nvSpPr>
          <p:cNvPr id="78" name="Shape 78"/>
          <p:cNvSpPr/>
          <p:nvPr/>
        </p:nvSpPr>
        <p:spPr>
          <a:xfrm>
            <a:off x="5406330" y="1315641"/>
            <a:ext cx="233363" cy="162223"/>
          </a:xfrm>
          <a:prstGeom prst="rect">
            <a:avLst/>
          </a:prstGeom>
          <a:noFill/>
        </p:spPr>
        <p:txBody>
          <a:bodyPr anchor="t" wrap="square" tIns="0" bIns="0" lIns="0" rIns="0">
            <a:normAutofit/>
          </a:bodyPr>
          <a:lstStyle/>
          <a:p>
            <a:pPr algn="ctr">
              <a:lnSpc>
                <a:spcPts val="1278"/>
              </a:lnSpc>
              <a:buNone/>
            </a:pPr>
            <a:r>
              <a:rPr sz="1229" b="1" i="0">
                <a:solidFill>
                  <a:srgbClr val="FFFFFF"/>
                </a:solidFill>
                <a:latin typeface="DM Sans"/>
                <a:ea typeface="DM Sans"/>
              </a:rPr>
              <a:t>01</a:t>
            </a:r>
            <a:endParaRPr lang="en-US"/>
          </a:p>
        </p:txBody>
      </p:sp>
      <p:sp>
        <p:nvSpPr>
          <p:cNvPr id="79" name="Shape 79"/>
          <p:cNvSpPr/>
          <p:nvPr/>
        </p:nvSpPr>
        <p:spPr>
          <a:xfrm>
            <a:off x="5924104" y="1178719"/>
            <a:ext cx="1546324" cy="222052"/>
          </a:xfrm>
          <a:prstGeom prst="rect">
            <a:avLst/>
          </a:prstGeom>
          <a:noFill/>
        </p:spPr>
        <p:txBody>
          <a:bodyPr anchor="t" wrap="square" tIns="0" bIns="0" lIns="0" rIns="0">
            <a:normAutofit/>
          </a:bodyPr>
          <a:lstStyle/>
          <a:p>
            <a:pPr algn="l">
              <a:lnSpc>
                <a:spcPts val="1748"/>
              </a:lnSpc>
              <a:buNone/>
            </a:pPr>
            <a:r>
              <a:rPr sz="1469" b="1" i="0" spc="22">
                <a:solidFill>
                  <a:srgbClr val="FFFFFF"/>
                </a:solidFill>
                <a:latin typeface="DM Sans"/>
                <a:ea typeface="DM Sans"/>
              </a:rPr>
              <a:t>Flask Web App</a:t>
            </a:r>
            <a:endParaRPr lang="en-US"/>
          </a:p>
        </p:txBody>
      </p:sp>
      <p:pic>
        <p:nvPicPr>
          <p:cNvPr id="151" name="Presenton Native SVG Image 52" descr=""/>
          <p:cNvPicPr/>
          <p:nvPr/>
        </p:nvPicPr>
        <p:blipFill>
          <a:blip>
            <a:extLst>
              <a:ext uri="{96DAC541-7B7A-43D3-8B79-37D633B846F1}">
                <asvg:svgBlip xmlns:asvg="http://schemas.microsoft.com/office/drawing/2016/SVG/main" r:embed="rId6"/>
              </a:ext>
            </a:extLst>
          </a:blip>
          <a:stretch>
            <a:fillRect/>
          </a:stretch>
        </p:blipFill>
        <p:spPr>
          <a:xfrm>
            <a:off x="7586514" y="964406"/>
            <a:ext cx="12650" cy="875109"/>
          </a:xfrm>
          <a:prstGeom prst="rect">
            <a:avLst/>
          </a:prstGeom>
        </p:spPr>
      </p:pic>
      <p:sp>
        <p:nvSpPr>
          <p:cNvPr id="80" name="Shape 80"/>
          <p:cNvSpPr/>
          <p:nvPr/>
        </p:nvSpPr>
        <p:spPr>
          <a:xfrm>
            <a:off x="7907387" y="1091803"/>
            <a:ext cx="3132832" cy="666155"/>
          </a:xfrm>
          <a:prstGeom prst="rect">
            <a:avLst/>
          </a:prstGeom>
          <a:noFill/>
        </p:spPr>
        <p:txBody>
          <a:bodyPr anchor="t" wrap="square" tIns="0" bIns="0" lIns="0" rIns="0">
            <a:normAutofit/>
          </a:bodyPr>
          <a:lstStyle/>
          <a:p>
            <a:pPr algn="l">
              <a:lnSpc>
                <a:spcPts val="1748"/>
              </a:lnSpc>
              <a:buNone/>
            </a:pPr>
            <a:r>
              <a:rPr sz="1469" b="1" i="0" spc="22">
                <a:solidFill>
                  <a:srgbClr val="FFFFFF"/>
                </a:solidFill>
                <a:latin typeface="DM Sans"/>
                <a:ea typeface="DM Sans"/>
              </a:rPr>
              <a:t>Python with Flask</a:t>
            </a:r>
            <a:r>
              <a:rPr sz="1469" b="0" i="0" spc="22">
                <a:solidFill>
                  <a:srgbClr val="FFFFFF"/>
                </a:solidFill>
                <a:latin typeface="DM Sans"/>
                <a:ea typeface="DM Sans"/>
              </a:rPr>
              <a:t xml:space="preserve"> powers the web application at the core of the project.</a:t>
            </a:r>
            <a:endParaRPr lang="en-US"/>
          </a:p>
        </p:txBody>
      </p:sp>
      <p:sp>
        <p:nvSpPr>
          <p:cNvPr id="81" name="Shape 81"/>
          <p:cNvSpPr/>
          <p:nvPr/>
        </p:nvSpPr>
        <p:spPr>
          <a:xfrm>
            <a:off x="5406330" y="2680246"/>
            <a:ext cx="233363" cy="162223"/>
          </a:xfrm>
          <a:prstGeom prst="rect">
            <a:avLst/>
          </a:prstGeom>
          <a:noFill/>
        </p:spPr>
        <p:txBody>
          <a:bodyPr anchor="t" wrap="square" tIns="0" bIns="0" lIns="0" rIns="0">
            <a:normAutofit/>
          </a:bodyPr>
          <a:lstStyle/>
          <a:p>
            <a:pPr algn="ctr">
              <a:lnSpc>
                <a:spcPts val="1278"/>
              </a:lnSpc>
              <a:buNone/>
            </a:pPr>
            <a:r>
              <a:rPr sz="1229" b="1" i="0">
                <a:solidFill>
                  <a:srgbClr val="FFFFFF"/>
                </a:solidFill>
                <a:latin typeface="DM Sans"/>
                <a:ea typeface="DM Sans"/>
              </a:rPr>
              <a:t>02</a:t>
            </a:r>
            <a:endParaRPr lang="en-US"/>
          </a:p>
        </p:txBody>
      </p:sp>
      <p:sp>
        <p:nvSpPr>
          <p:cNvPr id="82" name="Shape 82"/>
          <p:cNvSpPr/>
          <p:nvPr/>
        </p:nvSpPr>
        <p:spPr>
          <a:xfrm>
            <a:off x="5924104" y="2543324"/>
            <a:ext cx="1546324" cy="444103"/>
          </a:xfrm>
          <a:prstGeom prst="rect">
            <a:avLst/>
          </a:prstGeom>
          <a:noFill/>
        </p:spPr>
        <p:txBody>
          <a:bodyPr anchor="t" wrap="square" tIns="0" bIns="0" lIns="0" rIns="0">
            <a:normAutofit/>
          </a:bodyPr>
          <a:lstStyle/>
          <a:p>
            <a:pPr algn="l">
              <a:lnSpc>
                <a:spcPts val="1748"/>
              </a:lnSpc>
              <a:buNone/>
            </a:pPr>
            <a:r>
              <a:rPr sz="1469" b="1" i="0" spc="22">
                <a:solidFill>
                  <a:srgbClr val="FFFFFF"/>
                </a:solidFill>
                <a:latin typeface="DM Sans"/>
                <a:ea typeface="DM Sans"/>
              </a:rPr>
              <a:t>SQLite Demo Data</a:t>
            </a:r>
            <a:endParaRPr lang="en-US"/>
          </a:p>
        </p:txBody>
      </p:sp>
      <p:pic>
        <p:nvPicPr>
          <p:cNvPr id="152" name="Presenton Native SVG Image 53" descr=""/>
          <p:cNvPicPr/>
          <p:nvPr/>
        </p:nvPicPr>
        <p:blipFill>
          <a:blip>
            <a:extLst>
              <a:ext uri="{96DAC541-7B7A-43D3-8B79-37D633B846F1}">
                <asvg:svgBlip xmlns:asvg="http://schemas.microsoft.com/office/drawing/2016/SVG/main" r:embed="rId7"/>
              </a:ext>
            </a:extLst>
          </a:blip>
          <a:stretch>
            <a:fillRect/>
          </a:stretch>
        </p:blipFill>
        <p:spPr>
          <a:xfrm>
            <a:off x="7586514" y="2329011"/>
            <a:ext cx="12650" cy="875109"/>
          </a:xfrm>
          <a:prstGeom prst="rect">
            <a:avLst/>
          </a:prstGeom>
        </p:spPr>
      </p:pic>
      <p:sp>
        <p:nvSpPr>
          <p:cNvPr id="83" name="Shape 83"/>
          <p:cNvSpPr/>
          <p:nvPr/>
        </p:nvSpPr>
        <p:spPr>
          <a:xfrm>
            <a:off x="7907387" y="2456408"/>
            <a:ext cx="3132832" cy="666155"/>
          </a:xfrm>
          <a:prstGeom prst="rect">
            <a:avLst/>
          </a:prstGeom>
          <a:noFill/>
        </p:spPr>
        <p:txBody>
          <a:bodyPr anchor="t" wrap="square" tIns="0" bIns="0" lIns="0" rIns="0">
            <a:normAutofit/>
          </a:bodyPr>
          <a:lstStyle/>
          <a:p>
            <a:pPr algn="l">
              <a:lnSpc>
                <a:spcPts val="1748"/>
              </a:lnSpc>
              <a:buNone/>
            </a:pPr>
            <a:r>
              <a:rPr sz="1469" b="0" i="0" spc="22">
                <a:solidFill>
                  <a:srgbClr val="FFFFFF"/>
                </a:solidFill>
                <a:latin typeface="DM Sans"/>
                <a:ea typeface="DM Sans"/>
              </a:rPr>
              <a:t xml:space="preserve">An </a:t>
            </a:r>
            <a:r>
              <a:rPr sz="1469" b="1" i="0" spc="22">
                <a:solidFill>
                  <a:srgbClr val="FFFFFF"/>
                </a:solidFill>
                <a:latin typeface="DM Sans"/>
                <a:ea typeface="DM Sans"/>
              </a:rPr>
              <a:t>SQLite demo database</a:t>
            </a:r>
            <a:r>
              <a:rPr sz="1469" b="0" i="0" spc="22">
                <a:solidFill>
                  <a:srgbClr val="FFFFFF"/>
                </a:solidFill>
                <a:latin typeface="DM Sans"/>
                <a:ea typeface="DM Sans"/>
              </a:rPr>
              <a:t xml:space="preserve"> holds deliberately sensitive columns for the project.</a:t>
            </a:r>
            <a:endParaRPr lang="en-US"/>
          </a:p>
        </p:txBody>
      </p:sp>
      <p:sp>
        <p:nvSpPr>
          <p:cNvPr id="84" name="Shape 84"/>
          <p:cNvSpPr/>
          <p:nvPr/>
        </p:nvSpPr>
        <p:spPr>
          <a:xfrm>
            <a:off x="5406330" y="4044851"/>
            <a:ext cx="233363" cy="162223"/>
          </a:xfrm>
          <a:prstGeom prst="rect">
            <a:avLst/>
          </a:prstGeom>
          <a:noFill/>
        </p:spPr>
        <p:txBody>
          <a:bodyPr anchor="t" wrap="square" tIns="0" bIns="0" lIns="0" rIns="0">
            <a:normAutofit/>
          </a:bodyPr>
          <a:lstStyle/>
          <a:p>
            <a:pPr algn="ctr">
              <a:lnSpc>
                <a:spcPts val="1278"/>
              </a:lnSpc>
              <a:buNone/>
            </a:pPr>
            <a:r>
              <a:rPr sz="1229" b="1" i="0">
                <a:solidFill>
                  <a:srgbClr val="FFFFFF"/>
                </a:solidFill>
                <a:latin typeface="DM Sans"/>
                <a:ea typeface="DM Sans"/>
              </a:rPr>
              <a:t>03</a:t>
            </a:r>
            <a:endParaRPr lang="en-US"/>
          </a:p>
        </p:txBody>
      </p:sp>
      <p:sp>
        <p:nvSpPr>
          <p:cNvPr id="85" name="Shape 85"/>
          <p:cNvSpPr/>
          <p:nvPr/>
        </p:nvSpPr>
        <p:spPr>
          <a:xfrm>
            <a:off x="5924104" y="3907929"/>
            <a:ext cx="1546324" cy="222052"/>
          </a:xfrm>
          <a:prstGeom prst="rect">
            <a:avLst/>
          </a:prstGeom>
          <a:noFill/>
        </p:spPr>
        <p:txBody>
          <a:bodyPr anchor="t" wrap="square" tIns="0" bIns="0" lIns="0" rIns="0">
            <a:normAutofit/>
          </a:bodyPr>
          <a:lstStyle/>
          <a:p>
            <a:pPr algn="l">
              <a:lnSpc>
                <a:spcPts val="1748"/>
              </a:lnSpc>
              <a:buNone/>
            </a:pPr>
            <a:r>
              <a:rPr sz="1469" b="1" i="0" spc="22">
                <a:solidFill>
                  <a:srgbClr val="FFFFFF"/>
                </a:solidFill>
                <a:latin typeface="DM Sans"/>
                <a:ea typeface="DM Sans"/>
              </a:rPr>
              <a:t>Testing and CI</a:t>
            </a:r>
            <a:endParaRPr lang="en-US"/>
          </a:p>
        </p:txBody>
      </p:sp>
      <p:pic>
        <p:nvPicPr>
          <p:cNvPr id="153" name="Presenton Native SVG Image 54" descr=""/>
          <p:cNvPicPr/>
          <p:nvPr/>
        </p:nvPicPr>
        <p:blipFill>
          <a:blip>
            <a:extLst>
              <a:ext uri="{96DAC541-7B7A-43D3-8B79-37D633B846F1}">
                <asvg:svgBlip xmlns:asvg="http://schemas.microsoft.com/office/drawing/2016/SVG/main" r:embed="rId8"/>
              </a:ext>
            </a:extLst>
          </a:blip>
          <a:stretch>
            <a:fillRect/>
          </a:stretch>
        </p:blipFill>
        <p:spPr>
          <a:xfrm>
            <a:off x="7586514" y="3693616"/>
            <a:ext cx="12650" cy="875109"/>
          </a:xfrm>
          <a:prstGeom prst="rect">
            <a:avLst/>
          </a:prstGeom>
        </p:spPr>
      </p:pic>
      <p:sp>
        <p:nvSpPr>
          <p:cNvPr id="86" name="Shape 86"/>
          <p:cNvSpPr/>
          <p:nvPr/>
        </p:nvSpPr>
        <p:spPr>
          <a:xfrm>
            <a:off x="7907387" y="3821013"/>
            <a:ext cx="3132832" cy="666155"/>
          </a:xfrm>
          <a:prstGeom prst="rect">
            <a:avLst/>
          </a:prstGeom>
          <a:noFill/>
        </p:spPr>
        <p:txBody>
          <a:bodyPr anchor="t" wrap="square" tIns="0" bIns="0" lIns="0" rIns="0">
            <a:normAutofit/>
          </a:bodyPr>
          <a:lstStyle/>
          <a:p>
            <a:pPr algn="l">
              <a:lnSpc>
                <a:spcPts val="1748"/>
              </a:lnSpc>
              <a:buNone/>
            </a:pPr>
            <a:r>
              <a:rPr sz="1469" b="1" i="0" spc="22">
                <a:solidFill>
                  <a:srgbClr val="FFFFFF"/>
                </a:solidFill>
                <a:latin typeface="DM Sans"/>
                <a:ea typeface="DM Sans"/>
              </a:rPr>
              <a:t>pytest and GitHub Actions</a:t>
            </a:r>
            <a:r>
              <a:rPr sz="1469" b="0" i="0" spc="22">
                <a:solidFill>
                  <a:srgbClr val="FFFFFF"/>
                </a:solidFill>
                <a:latin typeface="DM Sans"/>
                <a:ea typeface="DM Sans"/>
              </a:rPr>
              <a:t xml:space="preserve"> provide continuous integration across the project.</a:t>
            </a:r>
            <a:endParaRPr lang="en-US"/>
          </a:p>
        </p:txBody>
      </p:sp>
      <p:sp>
        <p:nvSpPr>
          <p:cNvPr id="87" name="Shape 87"/>
          <p:cNvSpPr/>
          <p:nvPr/>
        </p:nvSpPr>
        <p:spPr>
          <a:xfrm>
            <a:off x="5406330" y="5409456"/>
            <a:ext cx="233363" cy="162223"/>
          </a:xfrm>
          <a:prstGeom prst="rect">
            <a:avLst/>
          </a:prstGeom>
          <a:noFill/>
        </p:spPr>
        <p:txBody>
          <a:bodyPr anchor="t" wrap="square" tIns="0" bIns="0" lIns="0" rIns="0">
            <a:normAutofit/>
          </a:bodyPr>
          <a:lstStyle/>
          <a:p>
            <a:pPr algn="ctr">
              <a:lnSpc>
                <a:spcPts val="1278"/>
              </a:lnSpc>
              <a:buNone/>
            </a:pPr>
            <a:r>
              <a:rPr sz="1229" b="1" i="0">
                <a:solidFill>
                  <a:srgbClr val="FFFFFF"/>
                </a:solidFill>
                <a:latin typeface="DM Sans"/>
                <a:ea typeface="DM Sans"/>
              </a:rPr>
              <a:t>04</a:t>
            </a:r>
            <a:endParaRPr lang="en-US"/>
          </a:p>
        </p:txBody>
      </p:sp>
      <p:sp>
        <p:nvSpPr>
          <p:cNvPr id="88" name="Shape 88"/>
          <p:cNvSpPr/>
          <p:nvPr/>
        </p:nvSpPr>
        <p:spPr>
          <a:xfrm>
            <a:off x="5924104" y="5272534"/>
            <a:ext cx="1546324" cy="444103"/>
          </a:xfrm>
          <a:prstGeom prst="rect">
            <a:avLst/>
          </a:prstGeom>
          <a:noFill/>
        </p:spPr>
        <p:txBody>
          <a:bodyPr anchor="t" wrap="square" tIns="0" bIns="0" lIns="0" rIns="0">
            <a:normAutofit/>
          </a:bodyPr>
          <a:lstStyle/>
          <a:p>
            <a:pPr algn="l">
              <a:lnSpc>
                <a:spcPts val="1748"/>
              </a:lnSpc>
              <a:buNone/>
            </a:pPr>
            <a:r>
              <a:rPr sz="1469" b="1" i="0" spc="22">
                <a:solidFill>
                  <a:srgbClr val="FFFFFF"/>
                </a:solidFill>
                <a:latin typeface="DM Sans"/>
                <a:ea typeface="DM Sans"/>
              </a:rPr>
              <a:t>Mock LLM Mode</a:t>
            </a:r>
            <a:endParaRPr lang="en-US"/>
          </a:p>
        </p:txBody>
      </p:sp>
      <p:pic>
        <p:nvPicPr>
          <p:cNvPr id="154" name="Presenton Native SVG Image 55" descr=""/>
          <p:cNvPicPr/>
          <p:nvPr/>
        </p:nvPicPr>
        <p:blipFill>
          <a:blip>
            <a:extLst>
              <a:ext uri="{96DAC541-7B7A-43D3-8B79-37D633B846F1}">
                <asvg:svgBlip xmlns:asvg="http://schemas.microsoft.com/office/drawing/2016/SVG/main" r:embed="rId9"/>
              </a:ext>
            </a:extLst>
          </a:blip>
          <a:stretch>
            <a:fillRect/>
          </a:stretch>
        </p:blipFill>
        <p:spPr>
          <a:xfrm>
            <a:off x="7586514" y="5058221"/>
            <a:ext cx="12650" cy="875109"/>
          </a:xfrm>
          <a:prstGeom prst="rect">
            <a:avLst/>
          </a:prstGeom>
        </p:spPr>
      </p:pic>
      <p:sp>
        <p:nvSpPr>
          <p:cNvPr id="89" name="Shape 89"/>
          <p:cNvSpPr/>
          <p:nvPr/>
        </p:nvSpPr>
        <p:spPr>
          <a:xfrm>
            <a:off x="7907387" y="5185618"/>
            <a:ext cx="3132832" cy="666155"/>
          </a:xfrm>
          <a:prstGeom prst="rect">
            <a:avLst/>
          </a:prstGeom>
          <a:noFill/>
        </p:spPr>
        <p:txBody>
          <a:bodyPr anchor="t" wrap="square" tIns="0" bIns="0" lIns="0" rIns="0">
            <a:normAutofit/>
          </a:bodyPr>
          <a:lstStyle/>
          <a:p>
            <a:pPr algn="l">
              <a:lnSpc>
                <a:spcPts val="1748"/>
              </a:lnSpc>
              <a:buNone/>
            </a:pPr>
            <a:r>
              <a:rPr sz="1469" b="1" i="0" spc="22">
                <a:solidFill>
                  <a:srgbClr val="FFFFFF"/>
                </a:solidFill>
                <a:latin typeface="DM Sans"/>
                <a:ea typeface="DM Sans"/>
              </a:rPr>
              <a:t>Mock LLM mode</a:t>
            </a:r>
            <a:r>
              <a:rPr sz="1469" b="0" i="0" spc="22">
                <a:solidFill>
                  <a:srgbClr val="FFFFFF"/>
                </a:solidFill>
                <a:latin typeface="DM Sans"/>
                <a:ea typeface="DM Sans"/>
              </a:rPr>
              <a:t xml:space="preserve"> keeps demos deterministic; a live LLM remains optional.</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QueryGuard a safety gate for LLM-generated SQL  Presented by M. Mahd Amjad and Arwa Arafeh  Sept</dc:title>
  <dc:subject>Generated by Presenton export-core</dc:subject>
  <dc:creator>Presenton</dc:creator>
  <cp:lastModifiedBy>Presenton</cp:lastModifiedBy>
  <dcterms:created xsi:type="dcterms:W3CDTF">2026-09-05T14:53:04.394Z</dcterms:created>
  <dcterms:modified xsi:type="dcterms:W3CDTF">2026-09-05T14:53:04.394Z</dcterms:modified>
</cp:coreProperties>
</file>