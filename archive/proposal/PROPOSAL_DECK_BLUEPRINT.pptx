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smdcp" ContentType="application/vnd.openxmlformats-package.core-properti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22af1cc69d54e63" /><Relationship Type="http://schemas.openxmlformats.org/officeDocument/2006/relationships/custom-properties" Target="/docProps/custom.xml" Id="R2bb542903dbc4f74" /><Relationship Type="http://schemas.openxmlformats.org/package/2006/relationships/metadata/core-properties" Target="/package/services/metadata/core-properties/944de85f7781445daba6f15d55a91923.psmdcp" Id="Rfb422e89d4914ed4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10df2edd6a774ccc"/>
    <p:sldId id="257" r:id="Rdd20a8045611468f"/>
    <p:sldId id="258" r:id="Rd187d2dfc87e4a5d"/>
    <p:sldId id="259" r:id="Rb932ff1a2a5443c3"/>
    <p:sldId id="260" r:id="R447f6a6ccf5747b8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6.xml" Id="R10df2edd6a774ccc" /><Relationship Type="http://schemas.openxmlformats.org/officeDocument/2006/relationships/slide" Target="/ppt/slides/slide7.xml" Id="Rdd20a8045611468f" /><Relationship Type="http://schemas.openxmlformats.org/officeDocument/2006/relationships/slide" Target="/ppt/slides/slide8.xml" Id="Rd187d2dfc87e4a5d" /><Relationship Type="http://schemas.openxmlformats.org/officeDocument/2006/relationships/slide" Target="/ppt/slides/slide9.xml" Id="Rb932ff1a2a5443c3" /><Relationship Type="http://schemas.openxmlformats.org/officeDocument/2006/relationships/slide" Target="/ppt/slides/slide10.xml" Id="R447f6a6ccf5747b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a65405aa8f4f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83771e444647f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d302a3f2cd49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6823dc5f8e450b" /></Relationships>
</file>

<file path=ppt/slideLayouts/slideLayout1.xml><?xml version="1.0" encoding="utf-8"?>
<p:sldLayout xmlns:p="http://schemas.openxmlformats.org/presentationml/2006/main" type="blank">
  <p:cSld xmlns:p="http://schemas.openxmlformats.org/presentationml/2006/main"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type="title">
  <p:cSld xmlns:a="http://schemas.openxmlformats.org/drawingml/2006/main" xmlns:p="http://schemas.openxmlformats.org/presentationml/2006/main"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type="objTx">
  <p:cSld xmlns:a="http://schemas.openxmlformats.org/drawingml/2006/main" xmlns:p="http://schemas.openxmlformats.org/presentationml/2006/main"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type="twoColTx">
  <p:cSld xmlns:a="http://schemas.openxmlformats.org/drawingml/2006/main" xmlns:p="http://schemas.openxmlformats.org/presentationml/2006/main"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4498305e55a24c6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 xmlns:r="http://schemas.openxmlformats.org/officeDocument/2006/relationships" xmlns:p="http://schemas.openxmlformats.org/presentationml/2006/main">
    <p:spTree>
      <p:nvGrpSpPr>
        <p:cNvPr id="1" name=""/>
        <p:cNvGrpSpPr/>
        <p:nvPr/>
      </p:nvGrpSpPr>
      <p:grpSpPr/>
    </p:spTree>
  </p:cSld>
  <p:clrMap xmlns:r="http://schemas.openxmlformats.org/officeDocument/2006/relationships" xmlns:p="http://schemas.openxmlformats.org/presentationml/2006/main" bg1="lt1" tx1="dk1" bg2="lt2" tx2="dk2" accent1="accent1" accent2="accent2" accent3="accent3" accent4="accent4" accent5="accent5" accent6="accent6" hlink="hlink" folHlink="folHlink"/>
  <p:sldLayoutIdLst xmlns:r="http://schemas.openxmlformats.org/officeDocument/2006/relationships" xmlns:p="http://schemas.openxmlformats.org/presentationml/2006/main">
    <p:sldLayoutId id="2147483649" r:id="rId1"/>
    <p:sldLayoutId id="2147483650" r:id="rId2"/>
    <p:sldLayoutId id="2147483651" r:id="rId3"/>
    <p:sldLayoutId id="2147483652" r:id="rId4"/>
  </p:sldLayoutIdLst>
</p:sldMaster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a124054e94f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7a98e740042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4a858e66d40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040d6bf1c4d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31d32478f4af1" /></Relationships>
</file>

<file path=ppt/slides/slide6.xml><?xml version="1.0" encoding="utf-8"?>
<p:sld xmlns:p="http://schemas.openxmlformats.org/presentationml/2006/main">
  <p:cSld xmlns:p="http://schemas.openxmlformats.org/presentationml/2006/main">
    <p:bg>
      <p:bgPr>
        <a:solidFill xmlns:a="http://schemas.openxmlformats.org/drawingml/2006/main">
          <a:srgbClr val="1B3A5C"/>
        </a:solidFill>
      </p:bgPr>
    </p:bg>
    <p:spTree>
      <p:nvGrpSpPr>
        <p:cNvPr id="1" name=""/>
        <p:cNvGrpSpPr/>
        <p:nvPr/>
      </p:nvGrpSpPr>
      <p:grpSpPr/>
      <p:sp>
        <p:nvSpPr>
          <p:cNvPr id="2" name="!!grid-h1"/>
          <p:cNvSpPr/>
          <p:nvPr/>
        </p:nvSpPr>
        <p:spPr>
          <a:xfrm xmlns:a="http://schemas.openxmlformats.org/drawingml/2006/main">
            <a:off x="0" y="1440000"/>
            <a:ext cx="122400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!!grid-h2"/>
          <p:cNvSpPr/>
          <p:nvPr/>
        </p:nvSpPr>
        <p:spPr>
          <a:xfrm xmlns:a="http://schemas.openxmlformats.org/drawingml/2006/main">
            <a:off x="0" y="3060000"/>
            <a:ext cx="122400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!!grid-h3"/>
          <p:cNvSpPr/>
          <p:nvPr/>
        </p:nvSpPr>
        <p:spPr>
          <a:xfrm xmlns:a="http://schemas.openxmlformats.org/drawingml/2006/main">
            <a:off x="0" y="4680000"/>
            <a:ext cx="122400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!!grid-h4"/>
          <p:cNvSpPr/>
          <p:nvPr/>
        </p:nvSpPr>
        <p:spPr>
          <a:xfrm xmlns:a="http://schemas.openxmlformats.org/drawingml/2006/main">
            <a:off x="0" y="6300000"/>
            <a:ext cx="122400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6" name="!!grid-v1"/>
          <p:cNvSpPr/>
          <p:nvPr/>
        </p:nvSpPr>
        <p:spPr>
          <a:xfrm xmlns:a="http://schemas.openxmlformats.org/drawingml/2006/main">
            <a:off x="2160000" y="0"/>
            <a:ext cx="7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7" name="!!grid-v2"/>
          <p:cNvSpPr/>
          <p:nvPr/>
        </p:nvSpPr>
        <p:spPr>
          <a:xfrm xmlns:a="http://schemas.openxmlformats.org/drawingml/2006/main">
            <a:off x="4320000" y="0"/>
            <a:ext cx="7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8" name="!!grid-v3"/>
          <p:cNvSpPr/>
          <p:nvPr/>
        </p:nvSpPr>
        <p:spPr>
          <a:xfrm xmlns:a="http://schemas.openxmlformats.org/drawingml/2006/main">
            <a:off x="7920000" y="0"/>
            <a:ext cx="7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9" name="!!grid-v4"/>
          <p:cNvSpPr/>
          <p:nvPr/>
        </p:nvSpPr>
        <p:spPr>
          <a:xfrm xmlns:a="http://schemas.openxmlformats.org/drawingml/2006/main">
            <a:off x="10080000" y="0"/>
            <a:ext cx="7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" name="!!major-h"/>
          <p:cNvSpPr/>
          <p:nvPr/>
        </p:nvSpPr>
        <p:spPr>
          <a:xfrm xmlns:a="http://schemas.openxmlformats.org/drawingml/2006/main">
            <a:off x="0" y="3780000"/>
            <a:ext cx="12240000" cy="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1" name="!!major-v"/>
          <p:cNvSpPr/>
          <p:nvPr/>
        </p:nvSpPr>
        <p:spPr>
          <a:xfrm xmlns:a="http://schemas.openxmlformats.org/drawingml/2006/main">
            <a:off x="6120000" y="0"/>
            <a:ext cx="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2" name="!!dot1"/>
          <p:cNvSpPr/>
          <p:nvPr/>
        </p:nvSpPr>
        <p:spPr>
          <a:xfrm xmlns:a="http://schemas.openxmlformats.org/drawingml/2006/main">
            <a:off x="2070000" y="1350000"/>
            <a:ext cx="180000" cy="1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3" name="!!dot2"/>
          <p:cNvSpPr/>
          <p:nvPr/>
        </p:nvSpPr>
        <p:spPr>
          <a:xfrm xmlns:a="http://schemas.openxmlformats.org/drawingml/2006/main">
            <a:off x="7830000" y="4590000"/>
            <a:ext cx="180000" cy="1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4" name="!!dot3"/>
          <p:cNvSpPr/>
          <p:nvPr/>
        </p:nvSpPr>
        <p:spPr>
          <a:xfrm xmlns:a="http://schemas.openxmlformats.org/drawingml/2006/main">
            <a:off x="9990000" y="2970000"/>
            <a:ext cx="180000" cy="1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5" name="!!ring1"/>
          <p:cNvSpPr/>
          <p:nvPr/>
        </p:nvSpPr>
        <p:spPr>
          <a:xfrm xmlns:a="http://schemas.openxmlformats.org/drawingml/2006/main">
            <a:off x="4104000" y="4464000"/>
            <a:ext cx="432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5C">
              <a:alpha val="60000"/>
            </a:srgbClr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6" name="!!ring2"/>
          <p:cNvSpPr/>
          <p:nvPr/>
        </p:nvSpPr>
        <p:spPr>
          <a:xfrm xmlns:a="http://schemas.openxmlformats.org/drawingml/2006/main">
            <a:off x="9720000" y="5940000"/>
            <a:ext cx="432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5C">
              <a:alpha val="60000"/>
            </a:srgbClr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7" name="!!#s1-title"/>
          <p:cNvSpPr/>
          <p:nvPr/>
        </p:nvSpPr>
        <p:spPr>
          <a:xfrm xmlns:a="http://schemas.openxmlformats.org/drawingml/2006/main">
            <a:off x="864000" y="1728000"/>
            <a:ext cx="864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5600" b="1">
                <a:solidFill>
                  <a:srgbClr val="FFFFFF"/>
                </a:solidFill>
                <a:latin typeface="Courier New"/>
                <a:ea typeface="Courier New"/>
              </a:rPr>
              <a:t>QueryGuard</a:t>
            </a:r>
          </a:p>
        </p:txBody>
      </p:sp>
      <p:sp>
        <p:nvSpPr>
          <p:cNvPr id="18" name="!!#s1-subtitle"/>
          <p:cNvSpPr/>
          <p:nvPr/>
        </p:nvSpPr>
        <p:spPr>
          <a:xfrm xmlns:a="http://schemas.openxmlformats.org/drawingml/2006/main">
            <a:off x="864000" y="2880000"/>
            <a:ext cx="648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>
                <a:solidFill>
                  <a:srgbClr val="4A90D9"/>
                </a:solidFill>
                <a:latin typeface="Courier New"/>
                <a:ea typeface="Courier New"/>
              </a:rPr>
              <a:t>Proposal</a:t>
            </a:r>
          </a:p>
        </p:txBody>
      </p:sp>
      <p:sp>
        <p:nvSpPr>
          <p:cNvPr id="19" name="!!#s1-tag"/>
          <p:cNvSpPr/>
          <p:nvPr/>
        </p:nvSpPr>
        <p:spPr>
          <a:xfrm xmlns:a="http://schemas.openxmlformats.org/drawingml/2006/main">
            <a:off x="864000" y="3888000"/>
            <a:ext cx="648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B8D0E8"/>
                </a:solidFill>
                <a:latin typeface="Inter"/>
                <a:ea typeface="Inter"/>
              </a:rPr>
              <a:t>CHECK · EXPLAIN · MEASURE · BLOCK</a:t>
            </a:r>
          </a:p>
        </p:txBody>
      </p:sp>
    </p:spTree>
  </p:cSld>
</p:sld>
</file>

<file path=ppt/slides/slide7.xml><?xml version="1.0" encoding="utf-8"?>
<p:sld xmlns:p="http://schemas.openxmlformats.org/presentationml/2006/main" xmlns:mc="http://schemas.openxmlformats.org/markup-compatibility/2006" xmlns:a="http://schemas.openxmlformats.org/drawingml/2006/main" xmlns:p159="http://schemas.microsoft.com/office/powerpoint/2015/09/main" mc:Ignorable="p159">
  <p:cSld xmlns:p="http://schemas.openxmlformats.org/presentationml/2006/main" xmlns:p159="http://schemas.microsoft.com/office/powerpoint/2015/09/main" xmlns:mc="http://schemas.openxmlformats.org/markup-compatibility/2006">
    <p:bg>
      <p:bgPr>
        <a:solidFill xmlns:a="http://schemas.openxmlformats.org/drawingml/2006/main">
          <a:srgbClr val="1B3A5C"/>
        </a:solidFill>
      </p:bgPr>
    </p:bg>
    <p:spTree>
      <p:nvGrpSpPr>
        <p:cNvPr id="1" name=""/>
        <p:cNvGrpSpPr/>
        <p:nvPr/>
      </p:nvGrpSpPr>
      <p:grpSpPr/>
      <p:sp>
        <p:nvSpPr>
          <p:cNvPr id="2" name="!!grid-h1"/>
          <p:cNvSpPr/>
          <p:nvPr/>
        </p:nvSpPr>
        <p:spPr>
          <a:xfrm xmlns:a="http://schemas.openxmlformats.org/drawingml/2006/main">
            <a:off x="0" y="720000"/>
            <a:ext cx="122400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!!grid-h2"/>
          <p:cNvSpPr/>
          <p:nvPr/>
        </p:nvSpPr>
        <p:spPr>
          <a:xfrm xmlns:a="http://schemas.openxmlformats.org/drawingml/2006/main">
            <a:off x="0" y="2340000"/>
            <a:ext cx="122400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!!grid-h3"/>
          <p:cNvSpPr/>
          <p:nvPr/>
        </p:nvSpPr>
        <p:spPr>
          <a:xfrm xmlns:a="http://schemas.openxmlformats.org/drawingml/2006/main">
            <a:off x="0" y="3960000"/>
            <a:ext cx="122400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!!grid-h4"/>
          <p:cNvSpPr/>
          <p:nvPr/>
        </p:nvSpPr>
        <p:spPr>
          <a:xfrm xmlns:a="http://schemas.openxmlformats.org/drawingml/2006/main">
            <a:off x="0" y="5580000"/>
            <a:ext cx="122400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6" name="!!grid-v1"/>
          <p:cNvSpPr/>
          <p:nvPr/>
        </p:nvSpPr>
        <p:spPr>
          <a:xfrm xmlns:a="http://schemas.openxmlformats.org/drawingml/2006/main">
            <a:off x="1440000" y="0"/>
            <a:ext cx="7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7" name="!!grid-v2"/>
          <p:cNvSpPr/>
          <p:nvPr/>
        </p:nvSpPr>
        <p:spPr>
          <a:xfrm xmlns:a="http://schemas.openxmlformats.org/drawingml/2006/main">
            <a:off x="3600000" y="0"/>
            <a:ext cx="7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8" name="!!grid-v3"/>
          <p:cNvSpPr/>
          <p:nvPr/>
        </p:nvSpPr>
        <p:spPr>
          <a:xfrm xmlns:a="http://schemas.openxmlformats.org/drawingml/2006/main">
            <a:off x="7200000" y="0"/>
            <a:ext cx="7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9" name="!!grid-v4"/>
          <p:cNvSpPr/>
          <p:nvPr/>
        </p:nvSpPr>
        <p:spPr>
          <a:xfrm xmlns:a="http://schemas.openxmlformats.org/drawingml/2006/main">
            <a:off x="10800000" y="0"/>
            <a:ext cx="7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" name="!!major-h"/>
          <p:cNvSpPr/>
          <p:nvPr/>
        </p:nvSpPr>
        <p:spPr>
          <a:xfrm xmlns:a="http://schemas.openxmlformats.org/drawingml/2006/main">
            <a:off x="0" y="3240000"/>
            <a:ext cx="12240000" cy="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1" name="!!major-v"/>
          <p:cNvSpPr/>
          <p:nvPr/>
        </p:nvSpPr>
        <p:spPr>
          <a:xfrm xmlns:a="http://schemas.openxmlformats.org/drawingml/2006/main">
            <a:off x="9000000" y="0"/>
            <a:ext cx="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2" name="!!dot1"/>
          <p:cNvSpPr/>
          <p:nvPr/>
        </p:nvSpPr>
        <p:spPr>
          <a:xfrm xmlns:a="http://schemas.openxmlformats.org/drawingml/2006/main">
            <a:off x="3510000" y="2250000"/>
            <a:ext cx="180000" cy="1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3" name="!!dot2"/>
          <p:cNvSpPr/>
          <p:nvPr/>
        </p:nvSpPr>
        <p:spPr>
          <a:xfrm xmlns:a="http://schemas.openxmlformats.org/drawingml/2006/main">
            <a:off x="10710000" y="5490000"/>
            <a:ext cx="180000" cy="1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4" name="!!dot3"/>
          <p:cNvSpPr/>
          <p:nvPr/>
        </p:nvSpPr>
        <p:spPr>
          <a:xfrm xmlns:a="http://schemas.openxmlformats.org/drawingml/2006/main">
            <a:off x="7110000" y="630000"/>
            <a:ext cx="180000" cy="1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5" name="!!ring1"/>
          <p:cNvSpPr/>
          <p:nvPr/>
        </p:nvSpPr>
        <p:spPr>
          <a:xfrm xmlns:a="http://schemas.openxmlformats.org/drawingml/2006/main">
            <a:off x="1224000" y="5364000"/>
            <a:ext cx="432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5C">
              <a:alpha val="60000"/>
            </a:srgbClr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6" name="!!ring2"/>
          <p:cNvSpPr/>
          <p:nvPr/>
        </p:nvSpPr>
        <p:spPr>
          <a:xfrm xmlns:a="http://schemas.openxmlformats.org/drawingml/2006/main">
            <a:off x="8784000" y="720000"/>
            <a:ext cx="432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5C">
              <a:alpha val="60000"/>
            </a:srgbClr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7" name="!!#s2-statement"/>
          <p:cNvSpPr/>
          <p:nvPr/>
        </p:nvSpPr>
        <p:spPr>
          <a:xfrm xmlns:a="http://schemas.openxmlformats.org/drawingml/2006/main">
            <a:off x="1080000" y="1800000"/>
            <a:ext cx="1008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</a:pPr>
            <a:r>
              <a:rPr lang="en-US" sz="4800" b="1">
                <a:solidFill>
                  <a:srgbClr val="FFFFFF"/>
                </a:solidFill>
                <a:latin typeface="Courier New"/>
                <a:ea typeface="Courier New"/>
              </a:rPr>
              <a:t>Every LLM-to-DB app</a:t>
            </a:r>
          </a:p>
          <a:p xmlns:a="http://schemas.openxmlformats.org/drawingml/2006/main">
            <a:pPr algn="ctr">
              <a:lnSpc>
                <a:spcPct val="140000"/>
              </a:lnSpc>
            </a:pPr>
            <a:r>
              <a:rPr lang="en-US" sz="4800" b="1">
                <a:solidFill>
                  <a:srgbClr val="FFFFFF"/>
                </a:solidFill>
                <a:latin typeface="Courier New"/>
                <a:ea typeface="Courier New"/>
              </a:rPr>
              <a:t>own rule factory</a:t>
            </a:r>
          </a:p>
        </p:txBody>
      </p:sp>
      <p:sp>
        <p:nvSpPr>
          <p:cNvPr id="18" name="!!#s2-desc"/>
          <p:cNvSpPr/>
          <p:nvPr/>
        </p:nvSpPr>
        <p:spPr>
          <a:xfrm xmlns:a="http://schemas.openxmlformats.org/drawingml/2006/main">
            <a:off x="1800000" y="4320000"/>
            <a:ext cx="86400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B8D0E8"/>
                </a:solidFill>
                <a:latin typeface="Inter"/>
                <a:ea typeface="Inter"/>
              </a:rPr>
              <a:t>Three CVEs since 2024 prove the risk.</a:t>
            </a:r>
          </a:p>
        </p:txBody>
      </p:sp>
    </p:spTree>
  </p:cSld>
  <mc:AlternateContent xmlns:p159="http://schemas.microsoft.com/office/powerpoint/2015/09/main" xmlns:p="http://schemas.openxmlformats.org/presentationml/2006/main" xmlns:mc="http://schemas.openxmlformats.org/markup-compatibility/2006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p="http://schemas.openxmlformats.org/presentationml/2006/main" xmlns:mc="http://schemas.openxmlformats.org/markup-compatibility/2006" xmlns:a="http://schemas.openxmlformats.org/drawingml/2006/main" xmlns:p159="http://schemas.microsoft.com/office/powerpoint/2015/09/main" mc:Ignorable="p159">
  <p:cSld xmlns:p="http://schemas.openxmlformats.org/presentationml/2006/main" xmlns:p159="http://schemas.microsoft.com/office/powerpoint/2015/09/main" xmlns:mc="http://schemas.openxmlformats.org/markup-compatibility/2006">
    <p:bg>
      <p:bgPr>
        <a:solidFill xmlns:a="http://schemas.openxmlformats.org/drawingml/2006/main">
          <a:srgbClr val="1B3A5C"/>
        </a:solidFill>
      </p:bgPr>
    </p:bg>
    <p:spTree>
      <p:nvGrpSpPr>
        <p:cNvPr id="1" name=""/>
        <p:cNvGrpSpPr/>
        <p:nvPr/>
      </p:nvGrpSpPr>
      <p:grpSpPr/>
      <p:sp>
        <p:nvSpPr>
          <p:cNvPr id="2" name="!!grid-h1"/>
          <p:cNvSpPr/>
          <p:nvPr/>
        </p:nvSpPr>
        <p:spPr>
          <a:xfrm xmlns:a="http://schemas.openxmlformats.org/drawingml/2006/main">
            <a:off x="0" y="1224000"/>
            <a:ext cx="122400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!!grid-h2"/>
          <p:cNvSpPr/>
          <p:nvPr/>
        </p:nvSpPr>
        <p:spPr>
          <a:xfrm xmlns:a="http://schemas.openxmlformats.org/drawingml/2006/main">
            <a:off x="0" y="3240000"/>
            <a:ext cx="122400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!!grid-h3"/>
          <p:cNvSpPr/>
          <p:nvPr/>
        </p:nvSpPr>
        <p:spPr>
          <a:xfrm xmlns:a="http://schemas.openxmlformats.org/drawingml/2006/main">
            <a:off x="0" y="5220000"/>
            <a:ext cx="122400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!!grid-h4"/>
          <p:cNvSpPr/>
          <p:nvPr/>
        </p:nvSpPr>
        <p:spPr>
          <a:xfrm xmlns:a="http://schemas.openxmlformats.org/drawingml/2006/main">
            <a:off x="0" y="6480000"/>
            <a:ext cx="122400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6" name="!!grid-v1"/>
          <p:cNvSpPr/>
          <p:nvPr/>
        </p:nvSpPr>
        <p:spPr>
          <a:xfrm xmlns:a="http://schemas.openxmlformats.org/drawingml/2006/main">
            <a:off x="3960000" y="0"/>
            <a:ext cx="7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7" name="!!grid-v2"/>
          <p:cNvSpPr/>
          <p:nvPr/>
        </p:nvSpPr>
        <p:spPr>
          <a:xfrm xmlns:a="http://schemas.openxmlformats.org/drawingml/2006/main">
            <a:off x="8136000" y="0"/>
            <a:ext cx="7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8" name="!!grid-v3"/>
          <p:cNvSpPr/>
          <p:nvPr/>
        </p:nvSpPr>
        <p:spPr>
          <a:xfrm xmlns:a="http://schemas.openxmlformats.org/drawingml/2006/main">
            <a:off x="2880000" y="0"/>
            <a:ext cx="7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9" name="!!grid-v4"/>
          <p:cNvSpPr/>
          <p:nvPr/>
        </p:nvSpPr>
        <p:spPr>
          <a:xfrm xmlns:a="http://schemas.openxmlformats.org/drawingml/2006/main">
            <a:off x="11880000" y="0"/>
            <a:ext cx="7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" name="!!major-h"/>
          <p:cNvSpPr/>
          <p:nvPr/>
        </p:nvSpPr>
        <p:spPr>
          <a:xfrm xmlns:a="http://schemas.openxmlformats.org/drawingml/2006/main">
            <a:off x="0" y="1224000"/>
            <a:ext cx="12240000" cy="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>
              <a:alpha val="4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1" name="!!major-v"/>
          <p:cNvSpPr/>
          <p:nvPr/>
        </p:nvSpPr>
        <p:spPr>
          <a:xfrm xmlns:a="http://schemas.openxmlformats.org/drawingml/2006/main">
            <a:off x="216000" y="0"/>
            <a:ext cx="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>
              <a:alpha val="4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2" name="!!dot1"/>
          <p:cNvSpPr/>
          <p:nvPr/>
        </p:nvSpPr>
        <p:spPr>
          <a:xfrm xmlns:a="http://schemas.openxmlformats.org/drawingml/2006/main">
            <a:off x="3870000" y="3150000"/>
            <a:ext cx="180000" cy="1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3" name="!!dot2"/>
          <p:cNvSpPr/>
          <p:nvPr/>
        </p:nvSpPr>
        <p:spPr>
          <a:xfrm xmlns:a="http://schemas.openxmlformats.org/drawingml/2006/main">
            <a:off x="8046000" y="5130000"/>
            <a:ext cx="180000" cy="1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4" name="!!dot3"/>
          <p:cNvSpPr/>
          <p:nvPr/>
        </p:nvSpPr>
        <p:spPr>
          <a:xfrm xmlns:a="http://schemas.openxmlformats.org/drawingml/2006/main">
            <a:off x="11790000" y="1134000"/>
            <a:ext cx="180000" cy="1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5" name="!!ring1"/>
          <p:cNvSpPr/>
          <p:nvPr/>
        </p:nvSpPr>
        <p:spPr>
          <a:xfrm xmlns:a="http://schemas.openxmlformats.org/drawingml/2006/main">
            <a:off x="2664000" y="6120000"/>
            <a:ext cx="432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5C">
              <a:alpha val="60000"/>
            </a:srgbClr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6" name="!!ring2"/>
          <p:cNvSpPr/>
          <p:nvPr/>
        </p:nvSpPr>
        <p:spPr>
          <a:xfrm xmlns:a="http://schemas.openxmlformats.org/drawingml/2006/main">
            <a:off x="11664000" y="2880000"/>
            <a:ext cx="432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5C">
              <a:alpha val="60000"/>
            </a:srgbClr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7" name="!!#s3-title"/>
          <p:cNvSpPr/>
          <p:nvPr/>
        </p:nvSpPr>
        <p:spPr>
          <a:xfrm xmlns:a="http://schemas.openxmlformats.org/drawingml/2006/main">
            <a:off x="432000" y="288000"/>
            <a:ext cx="72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ourier New"/>
                <a:ea typeface="Courier New"/>
              </a:rPr>
              <a:t>Three pillars</a:t>
            </a:r>
          </a:p>
        </p:txBody>
      </p:sp>
      <p:sp>
        <p:nvSpPr>
          <p:cNvPr id="18" name="!!#s3-box1-bg"/>
          <p:cNvSpPr/>
          <p:nvPr/>
        </p:nvSpPr>
        <p:spPr>
          <a:xfrm xmlns:a="http://schemas.openxmlformats.org/drawingml/2006/main">
            <a:off x="432000" y="1512000"/>
            <a:ext cx="3528000" cy="45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F8A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9" name="!!#s3-box1-title"/>
          <p:cNvSpPr/>
          <p:nvPr/>
        </p:nvSpPr>
        <p:spPr>
          <a:xfrm xmlns:a="http://schemas.openxmlformats.org/drawingml/2006/main">
            <a:off x="648000" y="1728000"/>
            <a:ext cx="30960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4A90D9"/>
                </a:solidFill>
                <a:latin typeface="Courier New"/>
                <a:ea typeface="Courier New"/>
              </a:rPr>
              <a:t>BLOCK</a:t>
            </a:r>
          </a:p>
        </p:txBody>
      </p:sp>
      <p:sp>
        <p:nvSpPr>
          <p:cNvPr id="20" name="!!#s3-box1-desc"/>
          <p:cNvSpPr/>
          <p:nvPr/>
        </p:nvSpPr>
        <p:spPr>
          <a:xfrm xmlns:a="http://schemas.openxmlformats.org/drawingml/2006/main">
            <a:off x="648000" y="2448000"/>
            <a:ext cx="3096000" cy="32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</a:pPr>
            <a:r>
              <a:rPr lang="en-US" sz="1600">
                <a:solidFill>
                  <a:srgbClr val="B8D0E8"/>
                </a:solidFill>
                <a:latin typeface="Inter"/>
                <a:ea typeface="Inter"/>
              </a:rPr>
              <a:t>· Destructive statements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600">
                <a:solidFill>
                  <a:srgbClr val="B8D0E8"/>
                </a:solidFill>
                <a:latin typeface="Inter"/>
                <a:ea typeface="Inter"/>
              </a:rPr>
              <a:t>· Deterministic rule engine on parsed SQL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600">
                <a:solidFill>
                  <a:srgbClr val="B8D0E8"/>
                </a:solidFill>
                <a:latin typeface="Inter"/>
                <a:ea typeface="Inter"/>
              </a:rPr>
              <a:t>· Sensitive-column masking by schema labels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600">
                <a:solidFill>
                  <a:srgbClr val="B8D0E8"/>
                </a:solidFill>
                <a:latin typeface="Inter"/>
                <a:ea typeface="Inter"/>
              </a:rPr>
              <a:t>· One-click safe rewrites</a:t>
            </a:r>
          </a:p>
        </p:txBody>
      </p:sp>
      <p:sp>
        <p:nvSpPr>
          <p:cNvPr id="21" name="!!#s3-box2-bg"/>
          <p:cNvSpPr/>
          <p:nvPr/>
        </p:nvSpPr>
        <p:spPr>
          <a:xfrm xmlns:a="http://schemas.openxmlformats.org/drawingml/2006/main">
            <a:off x="4392000" y="1512000"/>
            <a:ext cx="3528000" cy="45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F8A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2" name="!!#s3-box2-title"/>
          <p:cNvSpPr/>
          <p:nvPr/>
        </p:nvSpPr>
        <p:spPr>
          <a:xfrm xmlns:a="http://schemas.openxmlformats.org/drawingml/2006/main">
            <a:off x="4608000" y="1728000"/>
            <a:ext cx="30960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4A90D9"/>
                </a:solidFill>
                <a:latin typeface="Courier New"/>
                <a:ea typeface="Courier New"/>
              </a:rPr>
              <a:t>MASK</a:t>
            </a:r>
          </a:p>
        </p:txBody>
      </p:sp>
      <p:sp>
        <p:nvSpPr>
          <p:cNvPr id="23" name="!!#s3-box2-desc"/>
          <p:cNvSpPr/>
          <p:nvPr/>
        </p:nvSpPr>
        <p:spPr>
          <a:xfrm xmlns:a="http://schemas.openxmlformats.org/drawingml/2006/main">
            <a:off x="4608000" y="2448000"/>
            <a:ext cx="3096000" cy="32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</a:pPr>
            <a:r>
              <a:rPr lang="en-US" sz="1600">
                <a:solidFill>
                  <a:srgbClr val="B8D0E8"/>
                </a:solidFill>
                <a:latin typeface="Inter"/>
                <a:ea typeface="Inter"/>
              </a:rPr>
              <a:t>· Sensitive PII columns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600">
                <a:solidFill>
                  <a:srgbClr val="B8D0E8"/>
                </a:solidFill>
                <a:latin typeface="Inter"/>
                <a:ea typeface="Inter"/>
              </a:rPr>
              <a:t>· Web UI + REST API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600">
                <a:solidFill>
                  <a:srgbClr val="B8D0E8"/>
                </a:solidFill>
                <a:latin typeface="Inter"/>
                <a:ea typeface="Inter"/>
              </a:rPr>
              <a:t>· Sandboxed read-only execution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600">
                <a:solidFill>
                  <a:srgbClr val="B8D0E8"/>
                </a:solidFill>
                <a:latin typeface="Inter"/>
                <a:ea typeface="Inter"/>
              </a:rPr>
              <a:t>· Session-scoped permissions</a:t>
            </a:r>
          </a:p>
        </p:txBody>
      </p:sp>
      <p:sp>
        <p:nvSpPr>
          <p:cNvPr id="24" name="!!#s3-box3-bg"/>
          <p:cNvSpPr/>
          <p:nvPr/>
        </p:nvSpPr>
        <p:spPr>
          <a:xfrm xmlns:a="http://schemas.openxmlformats.org/drawingml/2006/main">
            <a:off x="8352000" y="1512000"/>
            <a:ext cx="3528000" cy="45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F8A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5" name="!!#s3-box3-title"/>
          <p:cNvSpPr/>
          <p:nvPr/>
        </p:nvSpPr>
        <p:spPr>
          <a:xfrm xmlns:a="http://schemas.openxmlformats.org/drawingml/2006/main">
            <a:off x="8568000" y="1728000"/>
            <a:ext cx="30960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4A90D9"/>
                </a:solidFill>
                <a:latin typeface="Courier New"/>
                <a:ea typeface="Courier New"/>
              </a:rPr>
              <a:t>SUGGEST</a:t>
            </a:r>
          </a:p>
        </p:txBody>
      </p:sp>
      <p:sp>
        <p:nvSpPr>
          <p:cNvPr id="26" name="!!#s3-box3-desc"/>
          <p:cNvSpPr/>
          <p:nvPr/>
        </p:nvSpPr>
        <p:spPr>
          <a:xfrm xmlns:a="http://schemas.openxmlformats.org/drawingml/2006/main">
            <a:off x="8568000" y="2448000"/>
            <a:ext cx="3096000" cy="32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</a:pPr>
            <a:r>
              <a:rPr lang="en-US" sz="1600">
                <a:solidFill>
                  <a:srgbClr val="B8D0E8"/>
                </a:solidFill>
                <a:latin typeface="Inter"/>
                <a:ea typeface="Inter"/>
              </a:rPr>
              <a:t>· One-click safe rewrite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600">
                <a:solidFill>
                  <a:srgbClr val="B8D0E8"/>
                </a:solidFill>
                <a:latin typeface="Inter"/>
                <a:ea typeface="Inter"/>
              </a:rPr>
              <a:t>· Live block-rate and FPR metrics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600">
                <a:solidFill>
                  <a:srgbClr val="B8D0E8"/>
                </a:solidFill>
                <a:latin typeface="Inter"/>
                <a:ea typeface="Inter"/>
              </a:rPr>
              <a:t>· Every decision explained in plain English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600">
                <a:solidFill>
                  <a:srgbClr val="B8D0E8"/>
                </a:solidFill>
                <a:latin typeface="Inter"/>
                <a:ea typeface="Inter"/>
              </a:rPr>
              <a:t>· Append-only compliance audit log</a:t>
            </a:r>
          </a:p>
        </p:txBody>
      </p:sp>
    </p:spTree>
  </p:cSld>
  <mc:AlternateContent xmlns:p159="http://schemas.microsoft.com/office/powerpoint/2015/09/main" xmlns:p="http://schemas.openxmlformats.org/presentationml/2006/main" xmlns:mc="http://schemas.openxmlformats.org/markup-compatibility/2006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p="http://schemas.openxmlformats.org/presentationml/2006/main" xmlns:mc="http://schemas.openxmlformats.org/markup-compatibility/2006" xmlns:a="http://schemas.openxmlformats.org/drawingml/2006/main" xmlns:p159="http://schemas.microsoft.com/office/powerpoint/2015/09/main" mc:Ignorable="p159">
  <p:cSld xmlns:p="http://schemas.openxmlformats.org/presentationml/2006/main" xmlns:p159="http://schemas.microsoft.com/office/powerpoint/2015/09/main" xmlns:mc="http://schemas.openxmlformats.org/markup-compatibility/2006">
    <p:bg>
      <p:bgPr>
        <a:solidFill xmlns:a="http://schemas.openxmlformats.org/drawingml/2006/main">
          <a:srgbClr val="1B3A5C"/>
        </a:solidFill>
      </p:bgPr>
    </p:bg>
    <p:spTree>
      <p:nvGrpSpPr>
        <p:cNvPr id="1" name=""/>
        <p:cNvGrpSpPr/>
        <p:nvPr/>
      </p:nvGrpSpPr>
      <p:grpSpPr/>
      <p:sp>
        <p:nvSpPr>
          <p:cNvPr id="2" name="!!grid-h1"/>
          <p:cNvSpPr/>
          <p:nvPr/>
        </p:nvSpPr>
        <p:spPr>
          <a:xfrm xmlns:a="http://schemas.openxmlformats.org/drawingml/2006/main">
            <a:off x="0" y="1800000"/>
            <a:ext cx="122400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!!grid-h2"/>
          <p:cNvSpPr/>
          <p:nvPr/>
        </p:nvSpPr>
        <p:spPr>
          <a:xfrm xmlns:a="http://schemas.openxmlformats.org/drawingml/2006/main">
            <a:off x="0" y="3600000"/>
            <a:ext cx="122400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!!grid-h3"/>
          <p:cNvSpPr/>
          <p:nvPr/>
        </p:nvSpPr>
        <p:spPr>
          <a:xfrm xmlns:a="http://schemas.openxmlformats.org/drawingml/2006/main">
            <a:off x="0" y="5400000"/>
            <a:ext cx="122400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!!grid-h4"/>
          <p:cNvSpPr/>
          <p:nvPr/>
        </p:nvSpPr>
        <p:spPr>
          <a:xfrm xmlns:a="http://schemas.openxmlformats.org/drawingml/2006/main">
            <a:off x="0" y="360000"/>
            <a:ext cx="122400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6" name="!!grid-v1"/>
          <p:cNvSpPr/>
          <p:nvPr/>
        </p:nvSpPr>
        <p:spPr>
          <a:xfrm xmlns:a="http://schemas.openxmlformats.org/drawingml/2006/main">
            <a:off x="5760000" y="0"/>
            <a:ext cx="7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7" name="!!grid-v2"/>
          <p:cNvSpPr/>
          <p:nvPr/>
        </p:nvSpPr>
        <p:spPr>
          <a:xfrm xmlns:a="http://schemas.openxmlformats.org/drawingml/2006/main">
            <a:off x="9360000" y="0"/>
            <a:ext cx="7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8" name="!!grid-v3"/>
          <p:cNvSpPr/>
          <p:nvPr/>
        </p:nvSpPr>
        <p:spPr>
          <a:xfrm xmlns:a="http://schemas.openxmlformats.org/drawingml/2006/main">
            <a:off x="1800000" y="0"/>
            <a:ext cx="7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9" name="!!grid-v4"/>
          <p:cNvSpPr/>
          <p:nvPr/>
        </p:nvSpPr>
        <p:spPr>
          <a:xfrm xmlns:a="http://schemas.openxmlformats.org/drawingml/2006/main">
            <a:off x="11520000" y="0"/>
            <a:ext cx="7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" name="!!major-h"/>
          <p:cNvSpPr/>
          <p:nvPr/>
        </p:nvSpPr>
        <p:spPr>
          <a:xfrm xmlns:a="http://schemas.openxmlformats.org/drawingml/2006/main">
            <a:off x="0" y="2700000"/>
            <a:ext cx="12240000" cy="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1" name="!!major-v"/>
          <p:cNvSpPr/>
          <p:nvPr/>
        </p:nvSpPr>
        <p:spPr>
          <a:xfrm xmlns:a="http://schemas.openxmlformats.org/drawingml/2006/main">
            <a:off x="5760000" y="0"/>
            <a:ext cx="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2" name="!!dot1"/>
          <p:cNvSpPr/>
          <p:nvPr/>
        </p:nvSpPr>
        <p:spPr>
          <a:xfrm xmlns:a="http://schemas.openxmlformats.org/drawingml/2006/main">
            <a:off x="5670000" y="1710000"/>
            <a:ext cx="180000" cy="1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3" name="!!dot2"/>
          <p:cNvSpPr/>
          <p:nvPr/>
        </p:nvSpPr>
        <p:spPr>
          <a:xfrm xmlns:a="http://schemas.openxmlformats.org/drawingml/2006/main">
            <a:off x="9270000" y="5310000"/>
            <a:ext cx="180000" cy="1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4" name="!!dot3"/>
          <p:cNvSpPr/>
          <p:nvPr/>
        </p:nvSpPr>
        <p:spPr>
          <a:xfrm xmlns:a="http://schemas.openxmlformats.org/drawingml/2006/main">
            <a:off x="1710000" y="270000"/>
            <a:ext cx="180000" cy="1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5" name="!!ring1"/>
          <p:cNvSpPr/>
          <p:nvPr/>
        </p:nvSpPr>
        <p:spPr>
          <a:xfrm xmlns:a="http://schemas.openxmlformats.org/drawingml/2006/main">
            <a:off x="11304000" y="3384000"/>
            <a:ext cx="432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5C">
              <a:alpha val="60000"/>
            </a:srgbClr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6" name="!!ring2"/>
          <p:cNvSpPr/>
          <p:nvPr/>
        </p:nvSpPr>
        <p:spPr>
          <a:xfrm xmlns:a="http://schemas.openxmlformats.org/drawingml/2006/main">
            <a:off x="5544000" y="5184000"/>
            <a:ext cx="540000" cy="5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5C">
              <a:alpha val="60000"/>
            </a:srgbClr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7" name="!!#s4-bg1"/>
          <p:cNvSpPr/>
          <p:nvPr/>
        </p:nvSpPr>
        <p:spPr>
          <a:xfrm xmlns:a="http://schemas.openxmlformats.org/drawingml/2006/main">
            <a:off x="432000" y="720000"/>
            <a:ext cx="4680000" cy="52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F8A">
              <a:alpha val="4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8" name="!!#s4-bg2"/>
          <p:cNvSpPr/>
          <p:nvPr/>
        </p:nvSpPr>
        <p:spPr>
          <a:xfrm xmlns:a="http://schemas.openxmlformats.org/drawingml/2006/main">
            <a:off x="6480000" y="1080000"/>
            <a:ext cx="504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F8A">
              <a:alpha val="3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9" name="!!#s4-num1"/>
          <p:cNvSpPr/>
          <p:nvPr/>
        </p:nvSpPr>
        <p:spPr>
          <a:xfrm xmlns:a="http://schemas.openxmlformats.org/drawingml/2006/main">
            <a:off x="720000" y="1080000"/>
            <a:ext cx="3960000" cy="12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7200" b="1">
                <a:solidFill>
                  <a:srgbClr val="FFFFFF"/>
                </a:solidFill>
                <a:latin typeface="Courier New"/>
                <a:ea typeface="Courier New"/>
              </a:rPr>
              <a:t>10</a:t>
            </a:r>
          </a:p>
        </p:txBody>
      </p:sp>
      <p:sp>
        <p:nvSpPr>
          <p:cNvPr id="20" name="!!#s4-label1"/>
          <p:cNvSpPr/>
          <p:nvPr/>
        </p:nvSpPr>
        <p:spPr>
          <a:xfrm xmlns:a="http://schemas.openxmlformats.org/drawingml/2006/main">
            <a:off x="720000" y="2376000"/>
            <a:ext cx="396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B8D0E8"/>
                </a:solidFill>
                <a:latin typeface="Inter"/>
                <a:ea typeface="Inter"/>
              </a:rPr>
              <a:t>gate rules</a:t>
            </a:r>
          </a:p>
        </p:txBody>
      </p:sp>
      <p:sp>
        <p:nvSpPr>
          <p:cNvPr id="21" name="!!#s4-num2"/>
          <p:cNvSpPr/>
          <p:nvPr/>
        </p:nvSpPr>
        <p:spPr>
          <a:xfrm xmlns:a="http://schemas.openxmlformats.org/drawingml/2006/main">
            <a:off x="720000" y="3420000"/>
            <a:ext cx="396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5200" b="1">
                <a:solidFill>
                  <a:srgbClr val="4A90D9"/>
                </a:solidFill>
                <a:latin typeface="Courier New"/>
                <a:ea typeface="Courier New"/>
              </a:rPr>
              <a:t>60</a:t>
            </a:r>
          </a:p>
        </p:txBody>
      </p:sp>
      <p:sp>
        <p:nvSpPr>
          <p:cNvPr id="22" name="!!#s4-label2"/>
          <p:cNvSpPr/>
          <p:nvPr/>
        </p:nvSpPr>
        <p:spPr>
          <a:xfrm xmlns:a="http://schemas.openxmlformats.org/drawingml/2006/main">
            <a:off x="720000" y="4500000"/>
            <a:ext cx="396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600">
                <a:solidFill>
                  <a:srgbClr val="B8D0E8"/>
                </a:solidFill>
                <a:latin typeface="Inter"/>
                <a:ea typeface="Inter"/>
              </a:rPr>
              <a:t>labeled prompts</a:t>
            </a:r>
          </a:p>
        </p:txBody>
      </p:sp>
      <p:sp>
        <p:nvSpPr>
          <p:cNvPr id="23" name="!!#s4-num3"/>
          <p:cNvSpPr/>
          <p:nvPr/>
        </p:nvSpPr>
        <p:spPr>
          <a:xfrm xmlns:a="http://schemas.openxmlformats.org/drawingml/2006/main">
            <a:off x="6840000" y="1440000"/>
            <a:ext cx="4320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4800" b="1">
                <a:solidFill>
                  <a:srgbClr val="FFFFFF"/>
                </a:solidFill>
                <a:latin typeface="Courier New"/>
                <a:ea typeface="Courier New"/>
              </a:rPr>
              <a:t>&lt;10%</a:t>
            </a:r>
          </a:p>
        </p:txBody>
      </p:sp>
      <p:sp>
        <p:nvSpPr>
          <p:cNvPr id="24" name="!!#s4-label3"/>
          <p:cNvSpPr/>
          <p:nvPr/>
        </p:nvSpPr>
        <p:spPr>
          <a:xfrm xmlns:a="http://schemas.openxmlformats.org/drawingml/2006/main">
            <a:off x="6840000" y="2448000"/>
            <a:ext cx="43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600">
                <a:solidFill>
                  <a:srgbClr val="B8D0E8"/>
                </a:solidFill>
                <a:latin typeface="Inter"/>
                <a:ea typeface="Inter"/>
              </a:rPr>
              <a:t>FPR target</a:t>
            </a:r>
          </a:p>
        </p:txBody>
      </p:sp>
      <p:sp>
        <p:nvSpPr>
          <p:cNvPr id="25" name="!!#s4-num4"/>
          <p:cNvSpPr/>
          <p:nvPr/>
        </p:nvSpPr>
        <p:spPr>
          <a:xfrm xmlns:a="http://schemas.openxmlformats.org/drawingml/2006/main">
            <a:off x="6840000" y="3960000"/>
            <a:ext cx="4320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4400" b="1">
                <a:solidFill>
                  <a:srgbClr val="4A90D9"/>
                </a:solidFill>
                <a:latin typeface="Courier New"/>
                <a:ea typeface="Courier New"/>
              </a:rPr>
              <a:t>&lt;50ms</a:t>
            </a:r>
          </a:p>
        </p:txBody>
      </p:sp>
      <p:sp>
        <p:nvSpPr>
          <p:cNvPr id="26" name="!!#s4-label4"/>
          <p:cNvSpPr/>
          <p:nvPr/>
        </p:nvSpPr>
        <p:spPr>
          <a:xfrm xmlns:a="http://schemas.openxmlformats.org/drawingml/2006/main">
            <a:off x="6840000" y="4968000"/>
            <a:ext cx="43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600">
                <a:solidFill>
                  <a:srgbClr val="B8D0E8"/>
                </a:solidFill>
                <a:latin typeface="Inter"/>
                <a:ea typeface="Inter"/>
              </a:rPr>
              <a:t>p95 latency</a:t>
            </a:r>
          </a:p>
        </p:txBody>
      </p:sp>
    </p:spTree>
  </p:cSld>
  <mc:AlternateContent xmlns:p159="http://schemas.microsoft.com/office/powerpoint/2015/09/main" xmlns:p="http://schemas.openxmlformats.org/presentationml/2006/main" xmlns:mc="http://schemas.openxmlformats.org/markup-compatibility/2006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p="http://schemas.openxmlformats.org/presentationml/2006/main" xmlns:mc="http://schemas.openxmlformats.org/markup-compatibility/2006" xmlns:a="http://schemas.openxmlformats.org/drawingml/2006/main" xmlns:p159="http://schemas.microsoft.com/office/powerpoint/2015/09/main" mc:Ignorable="p159">
  <p:cSld xmlns:p="http://schemas.openxmlformats.org/presentationml/2006/main" xmlns:p159="http://schemas.microsoft.com/office/powerpoint/2015/09/main" xmlns:mc="http://schemas.openxmlformats.org/markup-compatibility/2006">
    <p:bg>
      <p:bgPr>
        <a:solidFill xmlns:a="http://schemas.openxmlformats.org/drawingml/2006/main">
          <a:srgbClr val="1B3A5C"/>
        </a:solidFill>
      </p:bgPr>
    </p:bg>
    <p:spTree>
      <p:nvGrpSpPr>
        <p:cNvPr id="1" name=""/>
        <p:cNvGrpSpPr/>
        <p:nvPr/>
      </p:nvGrpSpPr>
      <p:grpSpPr/>
      <p:sp>
        <p:nvSpPr>
          <p:cNvPr id="2" name="!!grid-h1"/>
          <p:cNvSpPr/>
          <p:nvPr/>
        </p:nvSpPr>
        <p:spPr>
          <a:xfrm xmlns:a="http://schemas.openxmlformats.org/drawingml/2006/main">
            <a:off x="0" y="1080000"/>
            <a:ext cx="122400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!!grid-h2"/>
          <p:cNvSpPr/>
          <p:nvPr/>
        </p:nvSpPr>
        <p:spPr>
          <a:xfrm xmlns:a="http://schemas.openxmlformats.org/drawingml/2006/main">
            <a:off x="0" y="2700000"/>
            <a:ext cx="122400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!!grid-h3"/>
          <p:cNvSpPr/>
          <p:nvPr/>
        </p:nvSpPr>
        <p:spPr>
          <a:xfrm xmlns:a="http://schemas.openxmlformats.org/drawingml/2006/main">
            <a:off x="0" y="4320000"/>
            <a:ext cx="122400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!!grid-h4"/>
          <p:cNvSpPr/>
          <p:nvPr/>
        </p:nvSpPr>
        <p:spPr>
          <a:xfrm xmlns:a="http://schemas.openxmlformats.org/drawingml/2006/main">
            <a:off x="0" y="5940000"/>
            <a:ext cx="122400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6" name="!!grid-v1"/>
          <p:cNvSpPr/>
          <p:nvPr/>
        </p:nvSpPr>
        <p:spPr>
          <a:xfrm xmlns:a="http://schemas.openxmlformats.org/drawingml/2006/main">
            <a:off x="2520000" y="0"/>
            <a:ext cx="7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7" name="!!grid-v2"/>
          <p:cNvSpPr/>
          <p:nvPr/>
        </p:nvSpPr>
        <p:spPr>
          <a:xfrm xmlns:a="http://schemas.openxmlformats.org/drawingml/2006/main">
            <a:off x="5040000" y="0"/>
            <a:ext cx="7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8" name="!!grid-v3"/>
          <p:cNvSpPr/>
          <p:nvPr/>
        </p:nvSpPr>
        <p:spPr>
          <a:xfrm xmlns:a="http://schemas.openxmlformats.org/drawingml/2006/main">
            <a:off x="7200000" y="0"/>
            <a:ext cx="7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9" name="!!grid-v4"/>
          <p:cNvSpPr/>
          <p:nvPr/>
        </p:nvSpPr>
        <p:spPr>
          <a:xfrm xmlns:a="http://schemas.openxmlformats.org/drawingml/2006/main">
            <a:off x="9720000" y="0"/>
            <a:ext cx="7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" name="!!major-h"/>
          <p:cNvSpPr/>
          <p:nvPr/>
        </p:nvSpPr>
        <p:spPr>
          <a:xfrm xmlns:a="http://schemas.openxmlformats.org/drawingml/2006/main">
            <a:off x="0" y="4320000"/>
            <a:ext cx="12240000" cy="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1" name="!!major-v"/>
          <p:cNvSpPr/>
          <p:nvPr/>
        </p:nvSpPr>
        <p:spPr>
          <a:xfrm xmlns:a="http://schemas.openxmlformats.org/drawingml/2006/main">
            <a:off x="5040000" y="0"/>
            <a:ext cx="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D9">
              <a:alpha val="5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2" name="!!dot1"/>
          <p:cNvSpPr/>
          <p:nvPr/>
        </p:nvSpPr>
        <p:spPr>
          <a:xfrm xmlns:a="http://schemas.openxmlformats.org/drawingml/2006/main">
            <a:off x="2430000" y="990000"/>
            <a:ext cx="180000" cy="1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3" name="!!dot2"/>
          <p:cNvSpPr/>
          <p:nvPr/>
        </p:nvSpPr>
        <p:spPr>
          <a:xfrm xmlns:a="http://schemas.openxmlformats.org/drawingml/2006/main">
            <a:off x="9630000" y="4230000"/>
            <a:ext cx="180000" cy="1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4" name="!!dot3"/>
          <p:cNvSpPr/>
          <p:nvPr/>
        </p:nvSpPr>
        <p:spPr>
          <a:xfrm xmlns:a="http://schemas.openxmlformats.org/drawingml/2006/main">
            <a:off x="4950000" y="5850000"/>
            <a:ext cx="180000" cy="1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5" name="!!ring1"/>
          <p:cNvSpPr/>
          <p:nvPr/>
        </p:nvSpPr>
        <p:spPr>
          <a:xfrm xmlns:a="http://schemas.openxmlformats.org/drawingml/2006/main">
            <a:off x="6984000" y="864000"/>
            <a:ext cx="432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5C">
              <a:alpha val="60000"/>
            </a:srgbClr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6" name="!!ring2"/>
          <p:cNvSpPr/>
          <p:nvPr/>
        </p:nvSpPr>
        <p:spPr>
          <a:xfrm xmlns:a="http://schemas.openxmlformats.org/drawingml/2006/main">
            <a:off x="2304000" y="5544000"/>
            <a:ext cx="432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5C">
              <a:alpha val="60000"/>
            </a:srgbClr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7" name="!!#s5-title"/>
          <p:cNvSpPr/>
          <p:nvPr/>
        </p:nvSpPr>
        <p:spPr>
          <a:xfrm xmlns:a="http://schemas.openxmlformats.org/drawingml/2006/main">
            <a:off x="1080000" y="1620000"/>
            <a:ext cx="1008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5200" b="1">
                <a:solidFill>
                  <a:srgbClr val="FFFFFF"/>
                </a:solidFill>
                <a:latin typeface="Courier New"/>
                <a:ea typeface="Courier New"/>
              </a:rPr>
              <a:t>Thank you</a:t>
            </a:r>
          </a:p>
        </p:txBody>
      </p:sp>
      <p:sp>
        <p:nvSpPr>
          <p:cNvPr id="18" name="!!#s5-actions"/>
          <p:cNvSpPr/>
          <p:nvPr/>
        </p:nvSpPr>
        <p:spPr>
          <a:xfrm xmlns:a="http://schemas.openxmlformats.org/drawingml/2006/main">
            <a:off x="1800000" y="3240000"/>
            <a:ext cx="86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200">
                <a:solidFill>
                  <a:srgbClr val="4A90D9"/>
                </a:solidFill>
                <a:latin typeface="Courier New"/>
                <a:ea typeface="Courier New"/>
              </a:rPr>
              <a:t>Questions · feedback · ideas</a:t>
            </a:r>
          </a:p>
        </p:txBody>
      </p:sp>
      <p:sp>
        <p:nvSpPr>
          <p:cNvPr id="19" name="!!#s5-url"/>
          <p:cNvSpPr/>
          <p:nvPr/>
        </p:nvSpPr>
        <p:spPr>
          <a:xfrm xmlns:a="http://schemas.openxmlformats.org/drawingml/2006/main">
            <a:off x="2880000" y="4860000"/>
            <a:ext cx="648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B8D0E8"/>
                </a:solidFill>
                <a:latin typeface="Inter"/>
                <a:ea typeface="Inter"/>
              </a:rPr>
              <a:t>CS 5391 · Fall 2026</a:t>
            </a:r>
          </a:p>
        </p:txBody>
      </p:sp>
    </p:spTree>
  </p:cSld>
  <mc:AlternateContent xmlns:p159="http://schemas.microsoft.com/office/powerpoint/2015/09/main" xmlns:p="http://schemas.openxmlformats.org/presentationml/2006/main" xmlns:mc="http://schemas.openxmlformats.org/markup-compatibility/2006">
    <mc:Choice Requires="p159">
      <p:transition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 xmlns:a="http://schemas.openxmlformats.org/drawingml/2006/main"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1.0.146</vt:lpwstr>
  </op:property>
  <op:property fmtid="{D5CDD505-2E9C-101B-9397-08002B2CF9AE}" pid="3" name="OfficeCLI.LastModified">
    <vt:lpwstr xmlns:vt="http://schemas.openxmlformats.org/officeDocument/2006/docPropsVTypes">2026-09-02T16:02:28Z</vt:lpwstr>
  </op:property>
</op:Properties>
</file>