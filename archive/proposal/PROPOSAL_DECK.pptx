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Default Extension="psmdcp" ContentType="application/vnd.openxmlformats-package.core-propertie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s/slide16.xml" ContentType="application/vnd.openxmlformats-officedocument.presentationml.slide+xml"/>
  <Override PartName="/ppt/slides/slide15.xml" ContentType="application/vnd.openxmlformats-officedocument.presentationml.slide+xml"/>
  <Override PartName="/ppt/slides/charts/chart4.xml" ContentType="application/vnd.openxmlformats-officedocument.drawingml.chart+xml"/>
  <Override PartName="/ppt/slides/slide14.xml" ContentType="application/vnd.openxmlformats-officedocument.presentationml.slide+xml"/>
  <Override PartName="/ppt/slides/slide13.xml" ContentType="application/vnd.openxmlformats-officedocument.presentationml.slide+xml"/>
  <Override PartName="/ppt/slides/charts/chart3.xml" ContentType="application/vnd.openxmlformats-officedocument.drawingml.chart+xml"/>
  <Override PartName="/ppt/slides/slide11.xml" ContentType="application/vnd.openxmlformats-officedocument.presentationml.slide+xml"/>
  <Override PartName="/ppt/slides/slide12.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docProps/custom.xml" ContentType="application/vnd.openxmlformats-officedocument.custom-properties+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notesMasters/theme/theme2.xml" ContentType="application/vnd.openxmlformats-officedocument.them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officeDocument/2006/relationships/officeDocument" Target="/ppt/presentation.xml" Id="Re698316d6fe0403b" /><Relationship Type="http://schemas.openxmlformats.org/package/2006/relationships/metadata/core-properties" Target="/package/services/metadata/core-properties/d4551f70d519470a89f680280a605150.psmdcp" Id="Rcfb3f7c48bf844db" /><Relationship Type="http://schemas.openxmlformats.org/officeDocument/2006/relationships/custom-properties" Target="/docProps/custom.xml" Id="R32447b1e9d7947ae" /></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Id1"/>
  </p:sldMasterIdLst>
  <p:notesMasterIdLst>
    <p:notesMasterId r:id="Rdb68fff5ee524662"/>
  </p:notesMasterIdLst>
  <p:sldIdLst>
    <p:sldId id="256" r:id="R6b4e5ab04e78425d"/>
    <p:sldId id="257" r:id="Rdf7c83fbcac24eb7"/>
    <p:sldId id="258" r:id="R67b901f43d074ecd"/>
    <p:sldId id="259" r:id="R2037174588364d10"/>
    <p:sldId id="260" r:id="Rdb449cd75a274cd2"/>
    <p:sldId id="261" r:id="R71d7226581d042da"/>
    <p:sldId id="262" r:id="R25936c2447f64b8d"/>
    <p:sldId id="263" r:id="R81ea4e5f19c3491c"/>
  </p:sldIdLst>
  <p:sldSz cx="12192000" cy="6858000" type="screen16x9"/>
  <p:notesSz cx="6858000" cy="9144000"/>
</p:presentation>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theme" Target="/ppt/theme/theme1.xml" Id="rId2" /><Relationship Type="http://schemas.openxmlformats.org/officeDocument/2006/relationships/slide" Target="/ppt/slides/slide9.xml" Id="R6b4e5ab04e78425d" /><Relationship Type="http://schemas.openxmlformats.org/officeDocument/2006/relationships/slide" Target="/ppt/slides/slide10.xml" Id="Rdf7c83fbcac24eb7" /><Relationship Type="http://schemas.openxmlformats.org/officeDocument/2006/relationships/slide" Target="/ppt/slides/slide11.xml" Id="R67b901f43d074ecd" /><Relationship Type="http://schemas.openxmlformats.org/officeDocument/2006/relationships/slide" Target="/ppt/slides/slide12.xml" Id="R2037174588364d10" /><Relationship Type="http://schemas.openxmlformats.org/officeDocument/2006/relationships/slide" Target="/ppt/slides/slide13.xml" Id="Rdb449cd75a274cd2" /><Relationship Type="http://schemas.openxmlformats.org/officeDocument/2006/relationships/slide" Target="/ppt/slides/slide14.xml" Id="R71d7226581d042da" /><Relationship Type="http://schemas.openxmlformats.org/officeDocument/2006/relationships/slide" Target="/ppt/slides/slide15.xml" Id="R25936c2447f64b8d" /><Relationship Type="http://schemas.openxmlformats.org/officeDocument/2006/relationships/slide" Target="/ppt/slides/slide16.xml" Id="R81ea4e5f19c3491c" /><Relationship Type="http://schemas.openxmlformats.org/officeDocument/2006/relationships/notesMaster" Target="/ppt/notesMasters/notesMaster1.xml" Id="Rdb68fff5ee52466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aeb07cc07280480b"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Theme">
  <a:themeElements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notesMaster" Target="/ppt/notesMasters/notesMaster1.xml" Id="R81f5c47fa17048be" /><Relationship Type="http://schemas.openxmlformats.org/officeDocument/2006/relationships/slide" Target="/ppt/slides/slide16.xml" Id="Rbbbdab2dc7f74b24" /></Relationships>
</file>

<file path=ppt/notesSlides/_rels/notesSlide2.xml.rels>&#65279;<?xml version="1.0" encoding="utf-8"?><Relationships xmlns="http://schemas.openxmlformats.org/package/2006/relationships"><Relationship Type="http://schemas.openxmlformats.org/officeDocument/2006/relationships/notesMaster" Target="/ppt/notesMasters/notesMaster1.xml" Id="Rc82f3a010ef84482" /><Relationship Type="http://schemas.openxmlformats.org/officeDocument/2006/relationships/slide" Target="/ppt/slides/slide9.xml" Id="R8d0661923b644bb4" /></Relationships>
</file>

<file path=ppt/notesSlides/_rels/notesSlide3.xml.rels>&#65279;<?xml version="1.0" encoding="utf-8"?><Relationships xmlns="http://schemas.openxmlformats.org/package/2006/relationships"><Relationship Type="http://schemas.openxmlformats.org/officeDocument/2006/relationships/notesMaster" Target="/ppt/notesMasters/notesMaster1.xml" Id="R72d3c91dd71a428d" /><Relationship Type="http://schemas.openxmlformats.org/officeDocument/2006/relationships/slide" Target="/ppt/slides/slide10.xml" Id="R9abbc83f59bf4e3b" /></Relationships>
</file>

<file path=ppt/notesSlides/_rels/notesSlide4.xml.rels>&#65279;<?xml version="1.0" encoding="utf-8"?><Relationships xmlns="http://schemas.openxmlformats.org/package/2006/relationships"><Relationship Type="http://schemas.openxmlformats.org/officeDocument/2006/relationships/notesMaster" Target="/ppt/notesMasters/notesMaster1.xml" Id="Rb3fdc5aa420a4a50" /><Relationship Type="http://schemas.openxmlformats.org/officeDocument/2006/relationships/slide" Target="/ppt/slides/slide11.xml" Id="Rf370d35aa9994632" /></Relationships>
</file>

<file path=ppt/notesSlides/_rels/notesSlide5.xml.rels>&#65279;<?xml version="1.0" encoding="utf-8"?><Relationships xmlns="http://schemas.openxmlformats.org/package/2006/relationships"><Relationship Type="http://schemas.openxmlformats.org/officeDocument/2006/relationships/notesMaster" Target="/ppt/notesMasters/notesMaster1.xml" Id="R6f79701d701642ea" /><Relationship Type="http://schemas.openxmlformats.org/officeDocument/2006/relationships/slide" Target="/ppt/slides/slide12.xml" Id="R30e133b175a242ec" /></Relationships>
</file>

<file path=ppt/notesSlides/_rels/notesSlide6.xml.rels>&#65279;<?xml version="1.0" encoding="utf-8"?><Relationships xmlns="http://schemas.openxmlformats.org/package/2006/relationships"><Relationship Type="http://schemas.openxmlformats.org/officeDocument/2006/relationships/notesMaster" Target="/ppt/notesMasters/notesMaster1.xml" Id="R27d590d572e64273" /><Relationship Type="http://schemas.openxmlformats.org/officeDocument/2006/relationships/slide" Target="/ppt/slides/slide13.xml" Id="R869b314c9f5d4173" /></Relationships>
</file>

<file path=ppt/notesSlides/_rels/notesSlide7.xml.rels>&#65279;<?xml version="1.0" encoding="utf-8"?><Relationships xmlns="http://schemas.openxmlformats.org/package/2006/relationships"><Relationship Type="http://schemas.openxmlformats.org/officeDocument/2006/relationships/notesMaster" Target="/ppt/notesMasters/notesMaster1.xml" Id="Rf2e5fb9df3cd4a6d" /><Relationship Type="http://schemas.openxmlformats.org/officeDocument/2006/relationships/slide" Target="/ppt/slides/slide14.xml" Id="Rf59745341800455e" /></Relationships>
</file>

<file path=ppt/notesSlides/_rels/notesSlide8.xml.rels>&#65279;<?xml version="1.0" encoding="utf-8"?><Relationships xmlns="http://schemas.openxmlformats.org/package/2006/relationships"><Relationship Type="http://schemas.openxmlformats.org/officeDocument/2006/relationships/notesMaster" Target="/ppt/notesMasters/notesMaster1.xml" Id="R99e8152e43c34936" /><Relationship Type="http://schemas.openxmlformats.org/officeDocument/2006/relationships/slide" Target="/ppt/slides/slide15.xml" Id="R381c4fa723d74c99"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a:r>
              <a:rPr lang="en-US"/>
              <a:t>[45s] Three items unblock everything else. The group confirms topic, stack, and lanes this week. We capture the Canvas project page and the exact midterm date in September. The corpus grows to thirty attacks plus thirty benign by October. Close: a measured gate that explains itself turns AI-generated SQL from a risk into a demo. Thank you; questions.</a:t>
            </a:r>
          </a:p>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[30s] Good afternoon. We are proposing QueryGuard, a safety gate for SQL generated by large language models. The flow on the slide is the whole idea: a question goes in, the LLM drafts SQL, our gate checks it against ten rules, and only then does it reach the database. I will cover the problem, why existing defenses leave a gap, our design, how we measure it, and the plan.</a:t>
            </a:r>
          </a:p>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[30s] The thesis in one sentence: every generated query should be checked before it touches the database. The CVEs since 2024 show what happens when nobody checks. Our contribution is making the check visible and measured.</a:t>
            </a:r>
          </a:p>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[60s] Frameworks like LangChain, LlamaIndex, and Vanna wire an unvetted code generator straight into the database. The numbers: three CVEs in major frameworks since 2024, one at CVSS 9.8; published attacks reach roughly 50 percent success with no defenses; and victims get no explanation. Transition: people have tried to fix this.</a:t>
            </a:r>
          </a:p>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[60s] Three families. Model-side fixes like StruQ and SecAlign need retraining, so a deployment cannot adopt them without swapping models. Generic guardrails like NeMo and Guardrails AI are opaque and not SQL-aware. Domain tools exist but are not SQL-specific and not reproducible side-by-side. The gap: a transparent, SQL-specific gate at the application layer with measured false positives. Measured is the word to stress. If asked about HeimdaLLM: it reports evaluations, but on its own setup; our point is comparability, not that no numbers exist anywhere.</a:t>
            </a:r>
          </a:p>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[60s] QueryGuard is a pipeline with a hard trust boundary: the executor accepts queries only from the gate, so no code path bypasses it. Ten rules cover the published attack classes; a rule returns PASS, BLOCK, or MASK. Each component becomes a numbered SRS requirement and a team lane. Effort split: 40 percent gate, 20 evaluation, 20 application, 20 documentation.</a:t>
            </a:r>
          </a:p>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[60s] We measure, we do not assert. The corpus comes from the six published attack classes: the starter ships two prompts per class, the target is five per class, thirty attacks plus thirty benign overall. Block rate per class and false positives on benign prompts come from one command, and the same corpus runs in CI so a rule that stops working breaks the build. False positives get the same visibility as block rates; v1 target under 10 percent. If asked about small n: it is a first course-scale checkpoint and we state confidence honestly. If asked about dialects: rules run on a normalized AST; dialect-specific behavior is rule-scoped and tested per dialect.</a:t>
            </a:r>
          </a:p>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[45s] Three checkpoints, each with a receipt. Proposal and SRS before midterm, with review comments recorded. A working path plus a green CI corpus gate after midterm. A final demo rehearsed twice with live metrics on screen. The rule we hold ourselves to: if a checkpoint cannot show its receipt, it is not done.</a:t>
            </a:r>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0f6077ee2374ed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4cbf67b434a40f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a3c217f3257442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19d20a0fce64239" /></Relationships>
</file>

<file path=ppt/slideLayouts/slideLayout1.xml><?xml version="1.0" encoding="utf-8"?>
<p:sldLayout xmlns:p="http://schemas.openxmlformats.org/presentationml/2006/main" type="blank">
  <p:cSld xmlns:p="http://schemas.openxmlformats.org/presentationml/2006/main" name="Blank">
    <p:spTree>
      <p:nvGrpSpPr>
        <p:cNvPr id="1" name=""/>
        <p:cNvGrpSpPr/>
        <p:nvPr/>
      </p:nvGrpSpPr>
      <p:grpSpPr/>
    </p:spTree>
  </p:cSld>
</p:sldLayout>
</file>

<file path=ppt/slideLayouts/slideLayout2.xml><?xml version="1.0" encoding="utf-8"?>
<p:sldLayout xmlns:a="http://schemas.openxmlformats.org/drawingml/2006/main" xmlns:p="http://schemas.openxmlformats.org/presentationml/2006/main" type="title">
  <p:cSld xmlns:a="http://schemas.openxmlformats.org/drawingml/2006/main" xmlns:p="http://schemas.openxmlformats.org/presentationml/2006/main" name="Title Slide">
    <p:spTree>
      <p:nvGrpSpPr>
        <p:cNvPr id="1" name=""/>
        <p:cNvGrpSpPr/>
        <p:nvPr/>
      </p:nvGrpSpPr>
      <p:grpSpPr/>
      <p:sp>
        <p:nvSpPr>
          <p:cNvPr id="2" name="Title"/>
          <p:cNvSpPr>
            <a:spLocks noGrp="1"/>
          </p:cNvSpPr>
          <p:nvPr>
            <p:ph type="ctrTitle"/>
          </p:nvPr>
        </p:nvSpPr>
        <p:spPr>
          <a:xfrm>
            <a:off x="685800" y="2130425"/>
            <a:ext cx="7772400" cy="1470025"/>
          </a:xfrm>
        </p:spPr>
        <p:txBody>
          <a:bodyPr/>
          <a:lstStyle/>
          <a:p>
            <a:endParaRPr lang="en-US"/>
          </a:p>
        </p:txBody>
      </p:sp>
      <p:sp>
        <p:nvSpPr>
          <p:cNvPr id="3" name="Subtitle"/>
          <p:cNvSpPr>
            <a:spLocks noGrp="1"/>
          </p:cNvSpPr>
          <p:nvPr>
            <p:ph type="subTitle"/>
          </p:nvPr>
        </p:nvSpPr>
        <p:spPr>
          <a:xfrm>
            <a:off x="1371600" y="3886200"/>
            <a:ext cx="6400800" cy="1752600"/>
          </a:xfrm>
        </p:spPr>
        <p:txBody>
          <a:bodyPr/>
          <a:lstStyle/>
          <a:p>
            <a:endParaRPr lang="en-US"/>
          </a:p>
        </p:txBody>
      </p:sp>
    </p:spTree>
  </p:cSld>
</p:sldLayout>
</file>

<file path=ppt/slideLayouts/slideLayout3.xml><?xml version="1.0" encoding="utf-8"?>
<p:sldLayout xmlns:a="http://schemas.openxmlformats.org/drawingml/2006/main" xmlns:p="http://schemas.openxmlformats.org/presentationml/2006/main" type="objTx">
  <p:cSld xmlns:a="http://schemas.openxmlformats.org/drawingml/2006/main" xmlns:p="http://schemas.openxmlformats.org/presentationml/2006/main" name="Title and Content">
    <p:spTree>
      <p:nvGrpSpPr>
        <p:cNvPr id="1" name=""/>
        <p:cNvGrpSpPr/>
        <p:nvPr/>
      </p:nvGrpSpPr>
      <p:grpSpPr/>
      <p:sp>
        <p:nvSpPr>
          <p:cNvPr id="2" name="Title"/>
          <p:cNvSpPr>
            <a:spLocks noGrp="1"/>
          </p:cNvSpPr>
          <p:nvPr>
            <p:ph type="title"/>
          </p:nvPr>
        </p:nvSpPr>
        <p:spPr>
          <a:xfrm>
            <a:off x="838200" y="365125"/>
            <a:ext cx="10515600" cy="1325563"/>
          </a:xfrm>
        </p:spPr>
        <p:txBody>
          <a:bodyPr/>
          <a:lstStyle/>
          <a:p>
            <a:endParaRPr lang="en-US"/>
          </a:p>
        </p:txBody>
      </p:sp>
      <p:sp>
        <p:nvSpPr>
          <p:cNvPr id="3" name="Content"/>
          <p:cNvSpPr>
            <a:spLocks noGrp="1"/>
          </p:cNvSpPr>
          <p:nvPr>
            <p:ph type="body"/>
          </p:nvPr>
        </p:nvSpPr>
        <p:spPr>
          <a:xfrm>
            <a:off x="838200" y="1825625"/>
            <a:ext cx="10515600" cy="4351338"/>
          </a:xfrm>
        </p:spPr>
        <p:txBody>
          <a:bodyPr/>
          <a:lstStyle/>
          <a:p>
            <a:endParaRPr lang="en-US"/>
          </a:p>
        </p:txBody>
      </p:sp>
    </p:spTree>
  </p:cSld>
</p:sldLayout>
</file>

<file path=ppt/slideLayouts/slideLayout4.xml><?xml version="1.0" encoding="utf-8"?>
<p:sldLayout xmlns:a="http://schemas.openxmlformats.org/drawingml/2006/main" xmlns:p="http://schemas.openxmlformats.org/presentationml/2006/main" type="twoColTx">
  <p:cSld xmlns:a="http://schemas.openxmlformats.org/drawingml/2006/main" xmlns:p="http://schemas.openxmlformats.org/presentationml/2006/main" name="Two Content">
    <p:spTree>
      <p:nvGrpSpPr>
        <p:cNvPr id="1" name=""/>
        <p:cNvGrpSpPr/>
        <p:nvPr/>
      </p:nvGrpSpPr>
      <p:grpSpPr/>
      <p:sp>
        <p:nvSpPr>
          <p:cNvPr id="2" name="Title"/>
          <p:cNvSpPr>
            <a:spLocks noGrp="1"/>
          </p:cNvSpPr>
          <p:nvPr>
            <p:ph type="title"/>
          </p:nvPr>
        </p:nvSpPr>
        <p:spPr>
          <a:xfrm>
            <a:off x="838200" y="365125"/>
            <a:ext cx="10515600" cy="1325563"/>
          </a:xfrm>
        </p:spPr>
        <p:txBody>
          <a:bodyPr/>
          <a:lstStyle/>
          <a:p>
            <a:endParaRPr lang="en-US"/>
          </a:p>
        </p:txBody>
      </p:sp>
      <p:sp>
        <p:nvSpPr>
          <p:cNvPr id="3" name="Content Left"/>
          <p:cNvSpPr>
            <a:spLocks noGrp="1"/>
          </p:cNvSpPr>
          <p:nvPr>
            <p:ph type="body"/>
          </p:nvPr>
        </p:nvSpPr>
        <p:spPr>
          <a:xfrm>
            <a:off x="838200" y="1825625"/>
            <a:ext cx="5181600" cy="4351338"/>
          </a:xfrm>
        </p:spPr>
        <p:txBody>
          <a:bodyPr/>
          <a:lstStyle/>
          <a:p>
            <a:endParaRPr lang="en-US"/>
          </a:p>
        </p:txBody>
      </p:sp>
      <p:sp>
        <p:nvSpPr>
          <p:cNvPr id="4" name="Content Right"/>
          <p:cNvSpPr>
            <a:spLocks noGrp="1"/>
          </p:cNvSpPr>
          <p:nvPr>
            <p:ph type="body"/>
          </p:nvPr>
        </p:nvSpPr>
        <p:spPr>
          <a:xfrm>
            <a:off x="6172200" y="1825625"/>
            <a:ext cx="5181600" cy="4351338"/>
          </a:xfrm>
        </p:spPr>
        <p:txBody>
          <a:bodyPr/>
          <a:lstStyle/>
          <a:p>
            <a:endParaRPr lang="en-US"/>
          </a:p>
        </p:txBody>
      </p:sp>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theme" Target="/ppt/theme/theme1.xml" Id="R45da48ac046741c8"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4.xml" Id="rId4" /></Relationships>
</file>

<file path=ppt/slideMasters/slideMaster1.xml><?xml version="1.0" encoding="utf-8"?>
<p:sldMaster xmlns:r="http://schemas.openxmlformats.org/officeDocument/2006/relationships" xmlns:p="http://schemas.openxmlformats.org/presentationml/2006/main">
  <p:cSld xmlns:r="http://schemas.openxmlformats.org/officeDocument/2006/relationships" xmlns:p="http://schemas.openxmlformats.org/presentationml/2006/main">
    <p:spTree>
      <p:nvGrpSpPr>
        <p:cNvPr id="1" name=""/>
        <p:cNvGrpSpPr/>
        <p:nvPr/>
      </p:nvGrpSpPr>
      <p:grpSpPr/>
    </p:spTree>
  </p:cSld>
  <p:clrMap xmlns:r="http://schemas.openxmlformats.org/officeDocument/2006/relationships" xmlns:p="http://schemas.openxmlformats.org/presentationml/2006/main" bg1="lt1" tx1="dk1" bg2="lt2" tx2="dk2" accent1="accent1" accent2="accent2" accent3="accent3" accent4="accent4" accent5="accent5" accent6="accent6" hlink="hlink" folHlink="folHlink"/>
  <p:sldLayoutIdLst xmlns:r="http://schemas.openxmlformats.org/officeDocument/2006/relationships" xmlns:p="http://schemas.openxmlformats.org/presentationml/2006/main">
    <p:sldLayoutId id="2147483649" r:id="rId1"/>
    <p:sldLayoutId id="2147483650" r:id="rId2"/>
    <p:sldLayoutId id="2147483651" r:id="rId3"/>
    <p:sldLayoutId id="2147483652" r:id="rId4"/>
  </p:sldLayoutIdLst>
</p:sldMaster>
</file>

<file path=ppt/slides/_rels/slide9.xml.rels>&#65279;<?xml version="1.0" encoding="utf-8"?><Relationships xmlns="http://schemas.openxmlformats.org/package/2006/relationships"><Relationship Type="http://schemas.openxmlformats.org/officeDocument/2006/relationships/slideLayout" Target="/ppt/slideLayouts/slideLayout1.xml" Id="Ra8ee441ba845412f" /><Relationship Type="http://schemas.openxmlformats.org/officeDocument/2006/relationships/notesSlide" Target="/ppt/notesSlides/notesSlide2.xml" Id="R28e1d6c0d40b41c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f2ee4b3c1684bb1" /><Relationship Type="http://schemas.openxmlformats.org/officeDocument/2006/relationships/notesSlide" Target="/ppt/notesSlides/notesSlide3.xml" Id="R67240ebf07f7438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1e5ed97a93e4f27" /><Relationship Type="http://schemas.openxmlformats.org/officeDocument/2006/relationships/notesSlide" Target="/ppt/notesSlides/notesSlide4.xml" Id="Re08256d3048d437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9dfcb4a7cf8488b" /><Relationship Type="http://schemas.openxmlformats.org/officeDocument/2006/relationships/notesSlide" Target="/ppt/notesSlides/notesSlide5.xml" Id="Raf2087e77c434db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ec8d3d96ead4114" /><Relationship Type="http://schemas.openxmlformats.org/officeDocument/2006/relationships/chart" Target="/ppt/slides/charts/chart3.xml" Id="Rbcd8302e3f9847c8" /><Relationship Type="http://schemas.openxmlformats.org/officeDocument/2006/relationships/notesSlide" Target="/ppt/notesSlides/notesSlide6.xml" Id="R2497e7122698408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dfb7658d08c4269" /><Relationship Type="http://schemas.openxmlformats.org/officeDocument/2006/relationships/chart" Target="/ppt/slides/charts/chart4.xml" Id="R3ab6cbb235074eed" /><Relationship Type="http://schemas.openxmlformats.org/officeDocument/2006/relationships/notesSlide" Target="/ppt/notesSlides/notesSlide7.xml" Id="R844f52dfe01943e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2b9ba176d334766" /><Relationship Type="http://schemas.openxmlformats.org/officeDocument/2006/relationships/notesSlide" Target="/ppt/notesSlides/notesSlide8.xml" Id="R95d2557a64d04e8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0bca7b3efda46ec" /><Relationship Type="http://schemas.openxmlformats.org/officeDocument/2006/relationships/notesSlide" Target="/ppt/notesSlides/notesSlide1.xml" Id="Raee8cd6a8d464c32" /></Relationships>
</file>

<file path=ppt/slides/charts/chart3.xml><?xml version="1.0" encoding="utf-8"?>
<c:chartSpace xmlns:c="http://schemas.openxmlformats.org/drawingml/2006/chart">
  <c:date1904 val="0"/>
  <c:chart>
    <c:plotArea>
      <c:layout/>
      <c:pieChart>
        <c:varyColors val="1"/>
        <c:ser>
          <c:idx val="0"/>
          <c:order val="0"/>
          <c:tx>
            <c:v>Planned effort</c:v>
          </c:tx>
          <c:cat>
            <c:strLit>
              <c:ptCount val="4"/>
              <c:pt idx="0">
                <c:v>Gate engine</c:v>
              </c:pt>
              <c:pt idx="1">
                <c:v>Evaluation</c:v>
              </c:pt>
              <c:pt idx="2">
                <c:v>App</c:v>
              </c:pt>
              <c:pt idx="3">
                <c:v>Docs</c:v>
              </c:pt>
            </c:strLit>
          </c:cat>
          <c:val>
            <c:numLit>
              <c:formatCode>General</c:formatCode>
              <c:ptCount val="4"/>
              <c:pt idx="0">
                <c:v>40</c:v>
              </c:pt>
              <c:pt idx="1">
                <c:v>20</c:v>
              </c:pt>
              <c:pt idx="2">
                <c:v>20</c:v>
              </c:pt>
              <c:pt idx="3">
                <c:v>20</c:v>
              </c:pt>
            </c:numLit>
          </c:val>
        </c:ser>
        <c:dLbls>
          <c:showLegendKey val="0"/>
          <c:showVal val="1"/>
          <c:showCatName val="0"/>
          <c:showSerName val="0"/>
          <c:showPercent val="0"/>
        </c:dLbls>
      </c:pieChart>
    </c:plotArea>
    <c:legend>
      <c:legendPos val="b"/>
      <c:overlay val="0"/>
    </c:legend>
    <c:plotVisOnly val="1"/>
    <c:dispBlanksAs val="gap"/>
  </c:chart>
</c:chartSpace>
</file>

<file path=ppt/slides/charts/chart4.xml><?xml version="1.0" encoding="utf-8"?>
<c:chartSpace xmlns:a="http://schemas.openxmlformats.org/drawingml/2006/main" xmlns:c="http://schemas.openxmlformats.org/drawingml/2006/chart">
  <c:date1904 val="0"/>
  <c:chart>
    <c:title>
      <c:tx>
        <c:rich>
          <a:bodyPr xmlns:a="http://schemas.openxmlformats.org/drawingml/2006/main"/>
          <a:lstStyle xmlns:a="http://schemas.openxmlformats.org/drawingml/2006/main"/>
          <a:p xmlns:a="http://schemas.openxmlformats.org/drawingml/2006/main">
            <a:pPr>
              <a:defRPr sz="1400" b="1"/>
            </a:pPr>
            <a:r>
              <a:rPr lang="en-US" sz="1400" b="1"/>
              <a:t>Evaluation corpus: prompts per class</a:t>
            </a:r>
          </a:p>
        </c:rich>
      </c:tx>
      <c:overlay val="0"/>
    </c:title>
    <c:plotArea>
      <c:layout/>
      <c:barChart>
        <c:barDir val="bar"/>
        <c:grouping val="clustered"/>
        <c:varyColors val="0"/>
        <c:ser>
          <c:idx val="0"/>
          <c:order val="0"/>
          <c:tx>
            <c:v>Starter</c:v>
          </c:tx>
          <c:spPr>
            <a:solidFill xmlns:a="http://schemas.openxmlformats.org/drawingml/2006/main">
              <a:srgbClr val="C9A84C"/>
            </a:solidFill>
          </c:spPr>
          <c:invertIfNegative val="0"/>
          <c:cat>
            <c:strLit>
              <c:ptCount val="6"/>
              <c:pt idx="0">
                <c:v>Direct DML</c:v>
              </c:pt>
              <c:pt idx="1">
                <c:v>Write bypass</c:v>
              </c:pt>
              <c:pt idx="2">
                <c:v>Multi-query</c:v>
              </c:pt>
              <c:pt idx="3">
                <c:v>Read exfil</c:v>
              </c:pt>
              <c:pt idx="4">
                <c:v>Schema recon</c:v>
              </c:pt>
              <c:pt idx="5">
                <c:v>Semantic</c:v>
              </c:pt>
            </c:strLit>
          </c:cat>
          <c:val>
            <c:numLit>
              <c:formatCode>General</c:formatCode>
              <c:ptCount val="6"/>
              <c:pt idx="0">
                <c:v>2</c:v>
              </c:pt>
              <c:pt idx="1">
                <c:v>2</c:v>
              </c:pt>
              <c:pt idx="2">
                <c:v>2</c:v>
              </c:pt>
              <c:pt idx="3">
                <c:v>2</c:v>
              </c:pt>
              <c:pt idx="4">
                <c:v>2</c:v>
              </c:pt>
              <c:pt idx="5">
                <c:v>2</c:v>
              </c:pt>
            </c:numLit>
          </c:val>
        </c:ser>
        <c:gapWidth val="150"/>
        <c:axId val="1"/>
        <c:axId val="2"/>
      </c:barChart>
      <c:catAx>
        <c:axId val="1"/>
        <c:scaling>
          <c:orientation val="minMax"/>
        </c:scaling>
        <c:delete val="0"/>
        <c:axPos val="b"/>
        <c:majorTickMark val="out"/>
        <c:minorTickMark val="none"/>
        <c:tickLblPos val="nextTo"/>
        <c:crossAx val="2"/>
        <c:crosses val="autoZero"/>
        <c:auto val="1"/>
        <c:lblAlgn val="ctr"/>
        <c:lblOffset val="100"/>
      </c:catAx>
      <c:valAx>
        <c:axId val="2"/>
        <c:scaling>
          <c:orientation val="minMax"/>
        </c:scaling>
        <c:delete val="0"/>
        <c:axPos val="l"/>
        <c:majorGridlines/>
        <c:numFmt formatCode="General" sourceLinked="1"/>
        <c:majorTickMark val="out"/>
        <c:minorTickMark val="none"/>
        <c:tickLblPos val="nextTo"/>
        <c:crossAx val="1"/>
        <c:crosses val="autoZero"/>
        <c:crossBetween val="between"/>
      </c:valAx>
    </c:plotArea>
    <c:legend>
      <c:legendPos val="b"/>
      <c:overlay val="0"/>
    </c:legend>
    <c:plotVisOnly val="1"/>
    <c:dispBlanksAs val="gap"/>
  </c:chart>
</c:chartSpace>
</file>

<file path=ppt/slides/slide9.xml><?xml version="1.0" encoding="utf-8"?>
<p:sld xmlns:a="http://schemas.openxmlformats.org/drawingml/2006/main" xmlns:p="http://schemas.openxmlformats.org/presentationml/2006/main">
  <p:cSld xmlns:p="http://schemas.openxmlformats.org/presentationml/2006/main">
    <p:bg>
      <p:bgPr>
        <a:solidFill xmlns:a="http://schemas.openxmlformats.org/drawingml/2006/main">
          <a:srgbClr val="080A0E"/>
        </a:solidFill>
      </p:bgPr>
    </p:bg>
    <p:spTree>
      <p:nvGrpSpPr>
        <p:cNvPr id="1" name=""/>
        <p:cNvGrpSpPr/>
        <p:nvPr/>
      </p:nvGrpSpPr>
      <p:grpSpPr/>
      <p:sp>
        <p:nvSpPr>
          <p:cNvPr id="2" name="!!sa1"/>
          <p:cNvSpPr/>
          <p:nvPr/>
        </p:nvSpPr>
        <p:spPr>
          <a:xfrm xmlns:a="http://schemas.openxmlformats.org/drawingml/2006/main">
            <a:off x="7560000" y="0"/>
            <a:ext cx="7200000" cy="7200000"/>
          </a:xfrm>
          <a:prstGeom xmlns:a="http://schemas.openxmlformats.org/drawingml/2006/main" prst="ellipse">
            <a:avLst/>
          </a:prstGeom>
          <a:solidFill xmlns:a="http://schemas.openxmlformats.org/drawingml/2006/main">
            <a:srgbClr val="C9A84C">
              <a:alpha val="12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3" name="!!sa2"/>
          <p:cNvSpPr/>
          <p:nvPr/>
        </p:nvSpPr>
        <p:spPr>
          <a:xfrm xmlns:a="http://schemas.openxmlformats.org/drawingml/2006/main">
            <a:off x="9360000" y="3600000"/>
            <a:ext cx="4320000" cy="4320000"/>
          </a:xfrm>
          <a:prstGeom xmlns:a="http://schemas.openxmlformats.org/drawingml/2006/main" prst="ellipse">
            <a:avLst/>
          </a:prstGeom>
          <a:solidFill xmlns:a="http://schemas.openxmlformats.org/drawingml/2006/main">
            <a:srgbClr val="5A9E48">
              <a:alpha val="15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4" name="!!sa3"/>
          <p:cNvSpPr/>
          <p:nvPr/>
        </p:nvSpPr>
        <p:spPr>
          <a:xfrm xmlns:a="http://schemas.openxmlformats.org/drawingml/2006/main">
            <a:off x="0" y="0"/>
            <a:ext cx="2160000" cy="2160000"/>
          </a:xfrm>
          <a:prstGeom xmlns:a="http://schemas.openxmlformats.org/drawingml/2006/main" prst="rect">
            <a:avLst/>
          </a:prstGeom>
          <a:solidFill xmlns:a="http://schemas.openxmlformats.org/drawingml/2006/main">
            <a:srgbClr val="C9A84C">
              <a:alpha val="7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5" name="!!sa4"/>
          <p:cNvSpPr/>
          <p:nvPr/>
        </p:nvSpPr>
        <p:spPr>
          <a:xfrm xmlns:a="http://schemas.openxmlformats.org/drawingml/2006/main">
            <a:off x="360000" y="4680000"/>
            <a:ext cx="1440000" cy="1440000"/>
          </a:xfrm>
          <a:custGeom xmlns:a="http://schemas.openxmlformats.org/drawingml/2006/main">
            <a:avLst/>
            <a:gdLst/>
            <a:ahLst/>
            <a:cxnLst/>
            <a:rect l="0" t="0" r="r" b="b"/>
            <a:pathLst>
              <a:path w="92" h="92">
                <a:moveTo>
                  <a:pt x="50" y="8"/>
                </a:moveTo>
                <a:lnTo>
                  <a:pt x="92" y="50"/>
                </a:lnTo>
                <a:lnTo>
                  <a:pt x="50" y="92"/>
                </a:lnTo>
                <a:lnTo>
                  <a:pt x="8" y="50"/>
                </a:lnTo>
                <a:close/>
              </a:path>
            </a:pathLst>
          </a:custGeom>
          <a:solidFill xmlns:a="http://schemas.openxmlformats.org/drawingml/2006/main">
            <a:srgbClr val="8BC94A">
              <a:alpha val="18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6" name="!!sa5"/>
          <p:cNvSpPr/>
          <p:nvPr/>
        </p:nvSpPr>
        <p:spPr>
          <a:xfrm xmlns:a="http://schemas.openxmlformats.org/drawingml/2006/main">
            <a:off x="6192000" y="2016000"/>
            <a:ext cx="360000" cy="360000"/>
          </a:xfrm>
          <a:prstGeom xmlns:a="http://schemas.openxmlformats.org/drawingml/2006/main" prst="ellipse">
            <a:avLst/>
          </a:prstGeom>
          <a:solidFill xmlns:a="http://schemas.openxmlformats.org/drawingml/2006/main">
            <a:srgbClr val="C9A84C">
              <a:alpha val="60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7" name="!!sa6"/>
          <p:cNvSpPr/>
          <p:nvPr/>
        </p:nvSpPr>
        <p:spPr>
          <a:xfrm xmlns:a="http://schemas.openxmlformats.org/drawingml/2006/main">
            <a:off x="0" y="0"/>
            <a:ext cx="12192000" cy="108000"/>
          </a:xfrm>
          <a:prstGeom xmlns:a="http://schemas.openxmlformats.org/drawingml/2006/main" prst="rect">
            <a:avLst/>
          </a:prstGeom>
          <a:solidFill xmlns:a="http://schemas.openxmlformats.org/drawingml/2006/main">
            <a:srgbClr val="C9A84C"/>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8" name="!!hl_tag"/>
          <p:cNvSpPr/>
          <p:nvPr/>
        </p:nvSpPr>
        <p:spPr>
          <a:xfrm xmlns:a="http://schemas.openxmlformats.org/drawingml/2006/main">
            <a:off x="432000" y="792000"/>
            <a:ext cx="2520000" cy="108000"/>
          </a:xfrm>
          <a:prstGeom xmlns:a="http://schemas.openxmlformats.org/drawingml/2006/main" prst="rect">
            <a:avLst/>
          </a:prstGeom>
          <a:solidFill xmlns:a="http://schemas.openxmlformats.org/drawingml/2006/main">
            <a:srgbClr val="C9A84C"/>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9" name="!!hl_tag_txt"/>
          <p:cNvSpPr/>
          <p:nvPr/>
        </p:nvSpPr>
        <p:spPr>
          <a:xfrm xmlns:a="http://schemas.openxmlformats.org/drawingml/2006/main">
            <a:off x="432000" y="792000"/>
            <a:ext cx="252000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1100" b="1">
                <a:solidFill>
                  <a:srgbClr val="080A0E"/>
                </a:solidFill>
                <a:latin typeface="Calibri"/>
                <a:ea typeface="Calibri"/>
              </a:rPr>
              <a:t>CS 5391 · GROUP PROJECT PROPOSAL</a:t>
            </a:r>
          </a:p>
        </p:txBody>
      </p:sp>
      <p:sp>
        <p:nvSpPr>
          <p:cNvPr id="10" name="!!hl_title"/>
          <p:cNvSpPr/>
          <p:nvPr/>
        </p:nvSpPr>
        <p:spPr>
          <a:xfrm xmlns:a="http://schemas.openxmlformats.org/drawingml/2006/main">
            <a:off x="432000" y="1188000"/>
            <a:ext cx="5400000" cy="21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6800" b="0">
                <a:solidFill>
                  <a:srgbClr val="C9A84C"/>
                </a:solidFill>
                <a:latin typeface="Aptos Display"/>
                <a:ea typeface="Aptos Display"/>
              </a:rPr>
              <a:t>QueryGuard</a:t>
            </a:r>
          </a:p>
        </p:txBody>
      </p:sp>
      <p:sp>
        <p:nvSpPr>
          <p:cNvPr id="11" name="!!hl_sub"/>
          <p:cNvSpPr/>
          <p:nvPr/>
        </p:nvSpPr>
        <p:spPr>
          <a:xfrm xmlns:a="http://schemas.openxmlformats.org/drawingml/2006/main">
            <a:off x="432000" y="3492000"/>
            <a:ext cx="5400000" cy="77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2200" b="0">
                <a:solidFill>
                  <a:srgbClr val="A8A090"/>
                </a:solidFill>
                <a:latin typeface="Aptos"/>
                <a:ea typeface="Aptos"/>
              </a:rPr>
              <a:t>A safety gate for LLM-generated SQL</a:t>
            </a:r>
          </a:p>
        </p:txBody>
      </p:sp>
      <p:sp>
        <p:nvSpPr>
          <p:cNvPr id="12" name="!!co_line"/>
          <p:cNvSpPr/>
          <p:nvPr/>
        </p:nvSpPr>
        <p:spPr>
          <a:xfrm xmlns:a="http://schemas.openxmlformats.org/drawingml/2006/main">
            <a:off x="432000" y="4320000"/>
            <a:ext cx="1800000" cy="72000"/>
          </a:xfrm>
          <a:prstGeom xmlns:a="http://schemas.openxmlformats.org/drawingml/2006/main" prst="rect">
            <a:avLst/>
          </a:prstGeom>
          <a:solidFill xmlns:a="http://schemas.openxmlformats.org/drawingml/2006/main">
            <a:srgbClr val="C9A84C"/>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13" name="!!co_org"/>
          <p:cNvSpPr/>
          <p:nvPr/>
        </p:nvSpPr>
        <p:spPr>
          <a:xfrm xmlns:a="http://schemas.openxmlformats.org/drawingml/2006/main">
            <a:off x="432000" y="4500000"/>
            <a:ext cx="3600000" cy="55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1600">
                <a:solidFill>
                  <a:srgbClr val="6A6458"/>
                </a:solidFill>
                <a:latin typeface="Aptos"/>
                <a:ea typeface="Aptos"/>
              </a:rPr>
              <a:t>Muhammad Mahd Amjad · Arwa Arafeh</a:t>
            </a:r>
          </a:p>
        </p:txBody>
      </p:sp>
      <p:sp>
        <p:nvSpPr>
          <p:cNvPr id="14" name="!!co_imgph"/>
          <p:cNvSpPr/>
          <p:nvPr/>
        </p:nvSpPr>
        <p:spPr>
          <a:xfrm xmlns:a="http://schemas.openxmlformats.org/drawingml/2006/main">
            <a:off x="6480000" y="360000"/>
            <a:ext cx="5520000" cy="6120000"/>
          </a:xfrm>
          <a:prstGeom xmlns:a="http://schemas.openxmlformats.org/drawingml/2006/main" prst="roundRect">
            <a:avLst/>
          </a:prstGeom>
          <a:solidFill xmlns:a="http://schemas.openxmlformats.org/drawingml/2006/main">
            <a:srgbClr val="141A20"/>
          </a:solidFill>
          <a:ln xmlns:a="http://schemas.openxmlformats.org/drawingml/2006/main" w="2">
            <a:solidFill>
              <a:srgbClr val="252820"/>
            </a:solidFill>
          </a:ln>
        </p:spPr>
        <p:txBody>
          <a:bodyPr xmlns:a="http://schemas.openxmlformats.org/drawingml/2006/main"/>
          <a:lstStyle xmlns:a="http://schemas.openxmlformats.org/drawingml/2006/main"/>
          <a:p xmlns:a="http://schemas.openxmlformats.org/drawingml/2006/main">
            <a:r>
              <a:rPr lang="en-US"/>
              <a:t/>
            </a:r>
          </a:p>
        </p:txBody>
      </p:sp>
      <p:sp>
        <p:nvSpPr>
          <p:cNvPr id="100000" name="!!CoverFlow0"/>
          <p:cNvSpPr/>
          <p:nvPr/>
        </p:nvSpPr>
        <p:spPr>
          <a:xfrm>
            <a:off x="822960" y="5080000"/>
            <a:ext cx="1905000" cy="508000"/>
          </a:xfrm>
          <a:prstGeom prst="roundRect">
            <a:avLst/>
          </a:prstGeom>
          <a:solidFill>
            <a:srgbClr val="111C28"/>
          </a:solidFill>
          <a:ln>
            <a:noFill/>
          </a:ln>
        </p:spPr>
        <p:txBody>
          <a:bodyPr anchor="ctr"/>
          <a:lstStyle/>
          <a:p>
            <a:pPr algn="ctr"/>
            <a:r>
              <a:rPr lang="en-US" sz="1300" b="1">
                <a:solidFill>
                  <a:srgbClr val="FFFFFF"/>
                </a:solidFill>
                <a:latin typeface="Calibri"/>
                <a:ea typeface="Calibri"/>
              </a:rPr>
              <a:t>QUESTION</a:t>
            </a:r>
          </a:p>
        </p:txBody>
      </p:sp>
      <p:sp>
        <p:nvSpPr>
          <p:cNvPr id="100001" name="!!CoverArrow0"/>
          <p:cNvSpPr/>
          <p:nvPr/>
        </p:nvSpPr>
        <p:spPr>
          <a:xfrm>
            <a:off x="2753360" y="5257800"/>
            <a:ext cx="304800" cy="152400"/>
          </a:xfrm>
          <a:prstGeom prst="rect">
            <a:avLst/>
          </a:prstGeom>
          <a:solidFill>
            <a:srgbClr val="38BDF8"/>
          </a:solidFill>
          <a:ln>
            <a:noFill/>
          </a:ln>
        </p:spPr>
        <p:txBody>
          <a:bodyPr/>
          <a:lstStyle/>
          <a:p/>
        </p:txBody>
      </p:sp>
      <p:sp>
        <p:nvSpPr>
          <p:cNvPr id="100002" name="!!CoverFlow1"/>
          <p:cNvSpPr/>
          <p:nvPr/>
        </p:nvSpPr>
        <p:spPr>
          <a:xfrm>
            <a:off x="3058160" y="5080000"/>
            <a:ext cx="1905000" cy="508000"/>
          </a:xfrm>
          <a:prstGeom prst="roundRect">
            <a:avLst/>
          </a:prstGeom>
          <a:solidFill>
            <a:srgbClr val="111C28"/>
          </a:solidFill>
          <a:ln>
            <a:noFill/>
          </a:ln>
        </p:spPr>
        <p:txBody>
          <a:bodyPr anchor="ctr"/>
          <a:lstStyle/>
          <a:p>
            <a:pPr algn="ctr"/>
            <a:r>
              <a:rPr lang="en-US" sz="1300" b="1">
                <a:solidFill>
                  <a:srgbClr val="FFFFFF"/>
                </a:solidFill>
                <a:latin typeface="Calibri"/>
                <a:ea typeface="Calibri"/>
              </a:rPr>
              <a:t>LLM DRAFTS SQL</a:t>
            </a:r>
          </a:p>
        </p:txBody>
      </p:sp>
      <p:sp>
        <p:nvSpPr>
          <p:cNvPr id="100003" name="!!CoverArrow1"/>
          <p:cNvSpPr/>
          <p:nvPr/>
        </p:nvSpPr>
        <p:spPr>
          <a:xfrm>
            <a:off x="4988560" y="5257800"/>
            <a:ext cx="304800" cy="152400"/>
          </a:xfrm>
          <a:prstGeom prst="rect">
            <a:avLst/>
          </a:prstGeom>
          <a:solidFill>
            <a:srgbClr val="38BDF8"/>
          </a:solidFill>
          <a:ln>
            <a:noFill/>
          </a:ln>
        </p:spPr>
        <p:txBody>
          <a:bodyPr/>
          <a:lstStyle/>
          <a:p/>
        </p:txBody>
      </p:sp>
      <p:sp>
        <p:nvSpPr>
          <p:cNvPr id="100004" name="!!CoverFlow2"/>
          <p:cNvSpPr/>
          <p:nvPr/>
        </p:nvSpPr>
        <p:spPr>
          <a:xfrm>
            <a:off x="5293360" y="5080000"/>
            <a:ext cx="1905000" cy="508000"/>
          </a:xfrm>
          <a:prstGeom prst="roundRect">
            <a:avLst/>
          </a:prstGeom>
          <a:solidFill>
            <a:srgbClr val="38BDF8"/>
          </a:solidFill>
          <a:ln>
            <a:noFill/>
          </a:ln>
        </p:spPr>
        <p:txBody>
          <a:bodyPr anchor="ctr"/>
          <a:lstStyle/>
          <a:p>
            <a:pPr algn="ctr"/>
            <a:r>
              <a:rPr lang="en-US" sz="1300" b="1">
                <a:solidFill>
                  <a:srgbClr val="FFFFFF"/>
                </a:solidFill>
                <a:latin typeface="Calibri"/>
                <a:ea typeface="Calibri"/>
              </a:rPr>
              <a:t>GATE: 10 RULES</a:t>
            </a:r>
          </a:p>
        </p:txBody>
      </p:sp>
      <p:sp>
        <p:nvSpPr>
          <p:cNvPr id="100005" name="!!CoverArrow2"/>
          <p:cNvSpPr/>
          <p:nvPr/>
        </p:nvSpPr>
        <p:spPr>
          <a:xfrm>
            <a:off x="7223760" y="5257800"/>
            <a:ext cx="304800" cy="152400"/>
          </a:xfrm>
          <a:prstGeom prst="rect">
            <a:avLst/>
          </a:prstGeom>
          <a:solidFill>
            <a:srgbClr val="38BDF8"/>
          </a:solidFill>
          <a:ln>
            <a:noFill/>
          </a:ln>
        </p:spPr>
        <p:txBody>
          <a:bodyPr/>
          <a:lstStyle/>
          <a:p/>
        </p:txBody>
      </p:sp>
      <p:sp>
        <p:nvSpPr>
          <p:cNvPr id="100006" name="!!CoverFlow3"/>
          <p:cNvSpPr/>
          <p:nvPr/>
        </p:nvSpPr>
        <p:spPr>
          <a:xfrm>
            <a:off x="7528560" y="5080000"/>
            <a:ext cx="1905000" cy="508000"/>
          </a:xfrm>
          <a:prstGeom prst="roundRect">
            <a:avLst/>
          </a:prstGeom>
          <a:solidFill>
            <a:srgbClr val="111C28"/>
          </a:solidFill>
          <a:ln>
            <a:noFill/>
          </a:ln>
        </p:spPr>
        <p:txBody>
          <a:bodyPr anchor="ctr"/>
          <a:lstStyle/>
          <a:p>
            <a:pPr algn="ctr"/>
            <a:r>
              <a:rPr lang="en-US" sz="1300" b="1">
                <a:solidFill>
                  <a:srgbClr val="FFFFFF"/>
                </a:solidFill>
                <a:latin typeface="Calibri"/>
                <a:ea typeface="Calibri"/>
              </a:rPr>
              <a:t>DATABASE</a:t>
            </a:r>
          </a:p>
        </p:txBody>
      </p:sp>
    </p:spTree>
  </p:cSld>
</p:sld>
</file>

<file path=ppt/slides/slide10.xml><?xml version="1.0" encoding="utf-8"?>
<p:sld xmlns:p="http://schemas.openxmlformats.org/presentationml/2006/main" xmlns:mc="http://schemas.openxmlformats.org/markup-compatibility/2006" xmlns:a="http://schemas.openxmlformats.org/drawingml/2006/main" xmlns:p159="http://schemas.microsoft.com/office/powerpoint/2015/09/main" mc:Ignorable="p159">
  <p:cSld xmlns:p="http://schemas.openxmlformats.org/presentationml/2006/main" xmlns:p159="http://schemas.microsoft.com/office/powerpoint/2015/09/main" xmlns:mc="http://schemas.openxmlformats.org/markup-compatibility/2006">
    <p:bg>
      <p:bgPr>
        <a:solidFill xmlns:a="http://schemas.openxmlformats.org/drawingml/2006/main">
          <a:srgbClr val="080A0E"/>
        </a:solidFill>
      </p:bgPr>
    </p:bg>
    <p:spTree>
      <p:nvGrpSpPr>
        <p:cNvPr id="1" name=""/>
        <p:cNvGrpSpPr/>
        <p:nvPr/>
      </p:nvGrpSpPr>
      <p:grpSpPr/>
      <p:sp>
        <p:nvSpPr>
          <p:cNvPr id="2" name="!!sa1"/>
          <p:cNvSpPr/>
          <p:nvPr/>
        </p:nvSpPr>
        <p:spPr>
          <a:xfrm xmlns:a="http://schemas.openxmlformats.org/drawingml/2006/main">
            <a:off x="0" y="0"/>
            <a:ext cx="5400000" cy="5400000"/>
          </a:xfrm>
          <a:prstGeom xmlns:a="http://schemas.openxmlformats.org/drawingml/2006/main" prst="ellipse">
            <a:avLst/>
          </a:prstGeom>
          <a:solidFill xmlns:a="http://schemas.openxmlformats.org/drawingml/2006/main">
            <a:srgbClr val="5A9E48">
              <a:alpha val="10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3" name="!!sa2"/>
          <p:cNvSpPr/>
          <p:nvPr/>
        </p:nvSpPr>
        <p:spPr>
          <a:xfrm xmlns:a="http://schemas.openxmlformats.org/drawingml/2006/main">
            <a:off x="9720000" y="3960000"/>
            <a:ext cx="4320000" cy="4320000"/>
          </a:xfrm>
          <a:prstGeom xmlns:a="http://schemas.openxmlformats.org/drawingml/2006/main" prst="ellipse">
            <a:avLst/>
          </a:prstGeom>
          <a:solidFill xmlns:a="http://schemas.openxmlformats.org/drawingml/2006/main">
            <a:srgbClr val="C9A84C">
              <a:alpha val="10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4" name="!!sa3"/>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8BC94A">
              <a:alpha val="5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5" name="!!sa4"/>
          <p:cNvSpPr/>
          <p:nvPr/>
        </p:nvSpPr>
        <p:spPr>
          <a:xfrm xmlns:a="http://schemas.openxmlformats.org/drawingml/2006/main">
            <a:off x="9000000" y="1440000"/>
            <a:ext cx="1800000" cy="1800000"/>
          </a:xfrm>
          <a:custGeom xmlns:a="http://schemas.openxmlformats.org/drawingml/2006/main">
            <a:avLst/>
            <a:gdLst/>
            <a:ahLst/>
            <a:cxnLst/>
            <a:rect l="0" t="0" r="r" b="b"/>
            <a:pathLst>
              <a:path w="92" h="92">
                <a:moveTo>
                  <a:pt x="50" y="8"/>
                </a:moveTo>
                <a:lnTo>
                  <a:pt x="92" y="50"/>
                </a:lnTo>
                <a:lnTo>
                  <a:pt x="50" y="92"/>
                </a:lnTo>
                <a:lnTo>
                  <a:pt x="8" y="50"/>
                </a:lnTo>
                <a:close/>
              </a:path>
            </a:pathLst>
          </a:custGeom>
          <a:solidFill xmlns:a="http://schemas.openxmlformats.org/drawingml/2006/main">
            <a:srgbClr val="C9A84C">
              <a:alpha val="20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6" name="!!sa5"/>
          <p:cNvSpPr/>
          <p:nvPr/>
        </p:nvSpPr>
        <p:spPr>
          <a:xfrm xmlns:a="http://schemas.openxmlformats.org/drawingml/2006/main">
            <a:off x="1080000" y="5400000"/>
            <a:ext cx="504000" cy="504000"/>
          </a:xfrm>
          <a:prstGeom xmlns:a="http://schemas.openxmlformats.org/drawingml/2006/main" prst="ellipse">
            <a:avLst/>
          </a:prstGeom>
          <a:solidFill xmlns:a="http://schemas.openxmlformats.org/drawingml/2006/main">
            <a:srgbClr val="8BC94A">
              <a:alpha val="50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7" name="!!sa6"/>
          <p:cNvSpPr/>
          <p:nvPr/>
        </p:nvSpPr>
        <p:spPr>
          <a:xfrm xmlns:a="http://schemas.openxmlformats.org/drawingml/2006/main">
            <a:off x="0" y="0"/>
            <a:ext cx="12192000" cy="108000"/>
          </a:xfrm>
          <a:prstGeom xmlns:a="http://schemas.openxmlformats.org/drawingml/2006/main" prst="rect">
            <a:avLst/>
          </a:prstGeom>
          <a:solidFill xmlns:a="http://schemas.openxmlformats.org/drawingml/2006/main">
            <a:srgbClr val="5A9E48"/>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8" name="!!co_accent"/>
          <p:cNvSpPr/>
          <p:nvPr/>
        </p:nvSpPr>
        <p:spPr>
          <a:xfrm xmlns:a="http://schemas.openxmlformats.org/drawingml/2006/main">
            <a:off x="432000" y="2016000"/>
            <a:ext cx="1440000" cy="144000"/>
          </a:xfrm>
          <a:prstGeom xmlns:a="http://schemas.openxmlformats.org/drawingml/2006/main" prst="rect">
            <a:avLst/>
          </a:prstGeom>
          <a:solidFill xmlns:a="http://schemas.openxmlformats.org/drawingml/2006/main">
            <a:srgbClr val="C9A84C"/>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9" name="!!hl_title"/>
          <p:cNvSpPr/>
          <p:nvPr/>
        </p:nvSpPr>
        <p:spPr>
          <a:xfrm xmlns:a="http://schemas.openxmlformats.org/drawingml/2006/main">
            <a:off x="432000" y="2268000"/>
            <a:ext cx="9360000" cy="25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4000" b="0">
                <a:solidFill>
                  <a:srgbClr val="F2F0E8"/>
                </a:solidFill>
                <a:latin typeface="Aptos Display"/>
                <a:ea typeface="Aptos Display"/>
              </a:rPr>
              <a:t>Every generated query should be checked before it touches the database.</a:t>
            </a:r>
          </a:p>
        </p:txBody>
      </p:sp>
      <p:sp>
        <p:nvSpPr>
          <p:cNvPr id="10" name="!!hl_sub"/>
          <p:cNvSpPr/>
          <p:nvPr/>
        </p:nvSpPr>
        <p:spPr>
          <a:xfrm xmlns:a="http://schemas.openxmlformats.org/drawingml/2006/main">
            <a:off x="432000" y="4896000"/>
            <a:ext cx="900000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2000" i="1">
                <a:solidFill>
                  <a:srgbClr val="A8A090"/>
                </a:solidFill>
                <a:latin typeface="Aptos"/>
                <a:ea typeface="Aptos"/>
              </a:rPr>
              <a:t>Three CVEs since 2024 show what happens when they are not. We make the check visible and measured.</a:t>
            </a:r>
          </a:p>
        </p:txBody>
      </p:sp>
      <p:sp>
        <p:nvSpPr>
          <p:cNvPr id="100007" name="!!Footer2"/>
          <p:cNvSpPr txBox="1"/>
          <p:nvPr/>
        </p:nvSpPr>
        <p:spPr>
          <a:xfrm>
            <a:off x="822960" y="6502400"/>
            <a:ext cx="3810000" cy="252000"/>
          </a:xfrm>
          <a:prstGeom prst="rect">
            <a:avLst/>
          </a:prstGeom>
          <a:noFill/>
          <a:ln>
            <a:noFill/>
          </a:ln>
        </p:spPr>
        <p:txBody>
          <a:bodyPr/>
          <a:lstStyle/>
          <a:p>
            <a:pPr algn="l"/>
            <a:r>
              <a:rPr lang="en-US" sz="1000">
                <a:solidFill>
                  <a:srgbClr val="8899BB"/>
                </a:solidFill>
                <a:latin typeface="Calibri"/>
                <a:ea typeface="Calibri"/>
              </a:rPr>
              <a:t>QueryGuard · CS 5391 Group Project Proposal</a:t>
            </a:r>
          </a:p>
        </p:txBody>
      </p:sp>
      <p:sp>
        <p:nvSpPr>
          <p:cNvPr id="100014" name="!!QuoteGlyph"/>
          <p:cNvSpPr txBox="1"/>
          <p:nvPr/>
        </p:nvSpPr>
        <p:spPr>
          <a:xfrm>
            <a:off x="685800" y="762000"/>
            <a:ext cx="762000" cy="1206000"/>
          </a:xfrm>
          <a:prstGeom prst="rect">
            <a:avLst/>
          </a:prstGeom>
          <a:noFill/>
          <a:ln>
            <a:noFill/>
          </a:ln>
        </p:spPr>
        <p:txBody>
          <a:bodyPr/>
          <a:lstStyle/>
          <a:p>
            <a:pPr algn="l"/>
            <a:r>
              <a:rPr lang="en-US" sz="7200" b="1">
                <a:solidFill>
                  <a:srgbClr val="38BDF8"/>
                </a:solidFill>
                <a:latin typeface="Georgia"/>
                <a:ea typeface="Georgia"/>
              </a:rPr>
              <a:t>“</a:t>
            </a:r>
          </a:p>
        </p:txBody>
      </p:sp>
      <p:sp>
        <p:nvSpPr>
          <p:cNvPr id="100015" name="!!LeftBand"/>
          <p:cNvSpPr/>
          <p:nvPr/>
        </p:nvSpPr>
        <p:spPr>
          <a:xfrm>
            <a:off x="0" y="0"/>
            <a:ext cx="126000" cy="6858000"/>
          </a:xfrm>
          <a:prstGeom prst="rect">
            <a:avLst/>
          </a:prstGeom>
          <a:solidFill>
            <a:srgbClr val="38BDF8"/>
          </a:solidFill>
          <a:ln>
            <a:noFill/>
          </a:ln>
        </p:spPr>
        <p:txBody>
          <a:bodyPr/>
          <a:lstStyle/>
          <a:p/>
        </p:txBody>
      </p:sp>
    </p:spTree>
  </p:cSld>
  <mc:AlternateContent xmlns:p159="http://schemas.microsoft.com/office/powerpoint/2015/09/main" xmlns:p="http://schemas.openxmlformats.org/presentationml/2006/main" xmlns:mc="http://schemas.openxmlformats.org/markup-compatibility/2006">
    <mc:Choice Requires="p159">
      <p:transition>
        <p159:morph option="byObject"/>
      </p:transition>
    </mc:Choice>
    <mc:Fallback>
      <p:transition>
        <p:fade/>
      </p:transition>
    </mc:Fallback>
  </mc:AlternateContent>
</p:sld>
</file>

<file path=ppt/slides/slide11.xml><?xml version="1.0" encoding="utf-8"?>
<p:sld xmlns:p="http://schemas.openxmlformats.org/presentationml/2006/main" xmlns:mc="http://schemas.openxmlformats.org/markup-compatibility/2006" xmlns:a="http://schemas.openxmlformats.org/drawingml/2006/main" xmlns:p159="http://schemas.microsoft.com/office/powerpoint/2015/09/main" mc:Ignorable="p159">
  <p:cSld xmlns:p="http://schemas.openxmlformats.org/presentationml/2006/main" xmlns:p159="http://schemas.microsoft.com/office/powerpoint/2015/09/main" xmlns:mc="http://schemas.openxmlformats.org/markup-compatibility/2006">
    <p:bg>
      <p:bgPr>
        <a:solidFill xmlns:a="http://schemas.openxmlformats.org/drawingml/2006/main">
          <a:srgbClr val="080A0E"/>
        </a:solidFill>
      </p:bgPr>
    </p:bg>
    <p:spTree>
      <p:nvGrpSpPr>
        <p:cNvPr id="1" name=""/>
        <p:cNvGrpSpPr/>
        <p:nvPr/>
      </p:nvGrpSpPr>
      <p:grpSpPr/>
      <p:sp>
        <p:nvSpPr>
          <p:cNvPr id="2" name="!!sa1"/>
          <p:cNvSpPr/>
          <p:nvPr/>
        </p:nvSpPr>
        <p:spPr>
          <a:xfrm xmlns:a="http://schemas.openxmlformats.org/drawingml/2006/main">
            <a:off x="0" y="1800000"/>
            <a:ext cx="12192000" cy="5400000"/>
          </a:xfrm>
          <a:prstGeom xmlns:a="http://schemas.openxmlformats.org/drawingml/2006/main" prst="rect">
            <a:avLst/>
          </a:prstGeom>
          <a:solidFill xmlns:a="http://schemas.openxmlformats.org/drawingml/2006/main">
            <a:srgbClr val="C9A84C">
              <a:alpha val="5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3" name="!!sa2"/>
          <p:cNvSpPr/>
          <p:nvPr/>
        </p:nvSpPr>
        <p:spPr>
          <a:xfrm xmlns:a="http://schemas.openxmlformats.org/drawingml/2006/main">
            <a:off x="9000000" y="3600000"/>
            <a:ext cx="5400000" cy="5400000"/>
          </a:xfrm>
          <a:prstGeom xmlns:a="http://schemas.openxmlformats.org/drawingml/2006/main" prst="ellipse">
            <a:avLst/>
          </a:prstGeom>
          <a:solidFill xmlns:a="http://schemas.openxmlformats.org/drawingml/2006/main">
            <a:srgbClr val="5A9E48">
              <a:alpha val="8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4" name="!!sa3"/>
          <p:cNvSpPr/>
          <p:nvPr/>
        </p:nvSpPr>
        <p:spPr>
          <a:xfrm xmlns:a="http://schemas.openxmlformats.org/drawingml/2006/main">
            <a:off x="0" y="0"/>
            <a:ext cx="4680000" cy="1620000"/>
          </a:xfrm>
          <a:prstGeom xmlns:a="http://schemas.openxmlformats.org/drawingml/2006/main" prst="rect">
            <a:avLst/>
          </a:prstGeom>
          <a:solidFill xmlns:a="http://schemas.openxmlformats.org/drawingml/2006/main">
            <a:srgbClr val="C9A84C">
              <a:alpha val="5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5" name="!!sa4"/>
          <p:cNvSpPr/>
          <p:nvPr/>
        </p:nvSpPr>
        <p:spPr>
          <a:xfrm xmlns:a="http://schemas.openxmlformats.org/drawingml/2006/main">
            <a:off x="360000" y="5760000"/>
            <a:ext cx="1080000" cy="1080000"/>
          </a:xfrm>
          <a:custGeom xmlns:a="http://schemas.openxmlformats.org/drawingml/2006/main">
            <a:avLst/>
            <a:gdLst/>
            <a:ahLst/>
            <a:cxnLst/>
            <a:rect l="0" t="0" r="r" b="b"/>
            <a:pathLst>
              <a:path w="92" h="92">
                <a:moveTo>
                  <a:pt x="50" y="8"/>
                </a:moveTo>
                <a:lnTo>
                  <a:pt x="92" y="50"/>
                </a:lnTo>
                <a:lnTo>
                  <a:pt x="50" y="92"/>
                </a:lnTo>
                <a:lnTo>
                  <a:pt x="8" y="50"/>
                </a:lnTo>
                <a:close/>
              </a:path>
            </a:pathLst>
          </a:custGeom>
          <a:solidFill xmlns:a="http://schemas.openxmlformats.org/drawingml/2006/main">
            <a:srgbClr val="8BC94A">
              <a:alpha val="12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6" name="!!sa5"/>
          <p:cNvSpPr/>
          <p:nvPr/>
        </p:nvSpPr>
        <p:spPr>
          <a:xfrm xmlns:a="http://schemas.openxmlformats.org/drawingml/2006/main">
            <a:off x="11520000" y="720000"/>
            <a:ext cx="360000" cy="360000"/>
          </a:xfrm>
          <a:prstGeom xmlns:a="http://schemas.openxmlformats.org/drawingml/2006/main" prst="ellipse">
            <a:avLst/>
          </a:prstGeom>
          <a:solidFill xmlns:a="http://schemas.openxmlformats.org/drawingml/2006/main">
            <a:srgbClr val="C9A84C">
              <a:alpha val="40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7" name="!!sa6"/>
          <p:cNvSpPr/>
          <p:nvPr/>
        </p:nvSpPr>
        <p:spPr>
          <a:xfrm xmlns:a="http://schemas.openxmlformats.org/drawingml/2006/main">
            <a:off x="0" y="0"/>
            <a:ext cx="12192000" cy="108000"/>
          </a:xfrm>
          <a:prstGeom xmlns:a="http://schemas.openxmlformats.org/drawingml/2006/main" prst="rect">
            <a:avLst/>
          </a:prstGeom>
          <a:solidFill xmlns:a="http://schemas.openxmlformats.org/drawingml/2006/main">
            <a:srgbClr val="C9A84C"/>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8" name="!!hl_tag"/>
          <p:cNvSpPr/>
          <p:nvPr/>
        </p:nvSpPr>
        <p:spPr>
          <a:xfrm xmlns:a="http://schemas.openxmlformats.org/drawingml/2006/main">
            <a:off x="432000" y="360000"/>
            <a:ext cx="1800000" cy="108000"/>
          </a:xfrm>
          <a:prstGeom xmlns:a="http://schemas.openxmlformats.org/drawingml/2006/main" prst="rect">
            <a:avLst/>
          </a:prstGeom>
          <a:solidFill xmlns:a="http://schemas.openxmlformats.org/drawingml/2006/main">
            <a:srgbClr val="C9A84C"/>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9" name="!!hl_tag_txt"/>
          <p:cNvSpPr/>
          <p:nvPr/>
        </p:nvSpPr>
        <p:spPr>
          <a:xfrm xmlns:a="http://schemas.openxmlformats.org/drawingml/2006/main">
            <a:off x="432000" y="360000"/>
            <a:ext cx="1800000" cy="25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1000" b="1">
                <a:solidFill>
                  <a:srgbClr val="080A0E"/>
                </a:solidFill>
                <a:latin typeface="Aptos"/>
                <a:ea typeface="Aptos"/>
              </a:rPr>
              <a:t>PROBLEM</a:t>
            </a:r>
          </a:p>
        </p:txBody>
      </p:sp>
      <p:sp>
        <p:nvSpPr>
          <p:cNvPr id="10" name="!!hl_title"/>
          <p:cNvSpPr/>
          <p:nvPr/>
        </p:nvSpPr>
        <p:spPr>
          <a:xfrm xmlns:a="http://schemas.openxmlformats.org/drawingml/2006/main">
            <a:off x="432000" y="540000"/>
            <a:ext cx="11328000" cy="108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3600" b="0">
                <a:solidFill>
                  <a:srgbClr val="F2F0E8"/>
                </a:solidFill>
                <a:latin typeface="Aptos Display"/>
                <a:ea typeface="Aptos Display"/>
              </a:rPr>
              <a:t>LLM-to-database is unsafe by default</a:t>
            </a:r>
          </a:p>
        </p:txBody>
      </p:sp>
      <p:sp>
        <p:nvSpPr>
          <p:cNvPr id="11" name="!!hl_sub"/>
          <p:cNvSpPr/>
          <p:nvPr/>
        </p:nvSpPr>
        <p:spPr>
          <a:xfrm xmlns:a="http://schemas.openxmlformats.org/drawingml/2006/main">
            <a:off x="432000" y="1692000"/>
            <a:ext cx="11328000" cy="64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1800">
                <a:solidFill>
                  <a:srgbClr val="A8A090"/>
                </a:solidFill>
                <a:latin typeface="Aptos"/>
                <a:ea typeface="Aptos"/>
              </a:rPr>
              <a:t>Frameworks pass LLM-generated SQL straight to the database. Three CVEs since 2024 show the result.</a:t>
            </a:r>
          </a:p>
        </p:txBody>
      </p:sp>
      <p:sp>
        <p:nvSpPr>
          <p:cNvPr id="12" name="!!co_card0"/>
          <p:cNvSpPr/>
          <p:nvPr/>
        </p:nvSpPr>
        <p:spPr>
          <a:xfrm xmlns:a="http://schemas.openxmlformats.org/drawingml/2006/main">
            <a:off x="432000" y="2304000"/>
            <a:ext cx="2736000" cy="3060000"/>
          </a:xfrm>
          <a:prstGeom xmlns:a="http://schemas.openxmlformats.org/drawingml/2006/main" prst="roundRect">
            <a:avLst/>
          </a:prstGeom>
          <a:solidFill xmlns:a="http://schemas.openxmlformats.org/drawingml/2006/main">
            <a:srgbClr val="141A20"/>
          </a:solidFill>
          <a:ln xmlns:a="http://schemas.openxmlformats.org/drawingml/2006/main" w="1">
            <a:solidFill>
              <a:srgbClr val="252820"/>
            </a:solidFill>
          </a:ln>
        </p:spPr>
        <p:txBody>
          <a:bodyPr xmlns:a="http://schemas.openxmlformats.org/drawingml/2006/main"/>
          <a:lstStyle xmlns:a="http://schemas.openxmlformats.org/drawingml/2006/main"/>
          <a:p xmlns:a="http://schemas.openxmlformats.org/drawingml/2006/main">
            <a:r>
              <a:rPr lang="en-US"/>
              <a:t/>
            </a:r>
          </a:p>
        </p:txBody>
      </p:sp>
      <p:sp>
        <p:nvSpPr>
          <p:cNvPr id="13" name="!!co_strip0"/>
          <p:cNvSpPr/>
          <p:nvPr/>
        </p:nvSpPr>
        <p:spPr>
          <a:xfrm xmlns:a="http://schemas.openxmlformats.org/drawingml/2006/main">
            <a:off x="432000" y="2304000"/>
            <a:ext cx="2736000" cy="108000"/>
          </a:xfrm>
          <a:prstGeom xmlns:a="http://schemas.openxmlformats.org/drawingml/2006/main" prst="rect">
            <a:avLst/>
          </a:prstGeom>
          <a:solidFill xmlns:a="http://schemas.openxmlformats.org/drawingml/2006/main">
            <a:srgbClr val="C9A84C"/>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14" name="!!co_num_bg0"/>
          <p:cNvSpPr/>
          <p:nvPr/>
        </p:nvSpPr>
        <p:spPr>
          <a:xfrm xmlns:a="http://schemas.openxmlformats.org/drawingml/2006/main">
            <a:off x="576000" y="2520000"/>
            <a:ext cx="720000" cy="720000"/>
          </a:xfrm>
          <a:prstGeom xmlns:a="http://schemas.openxmlformats.org/drawingml/2006/main" prst="ellipse">
            <a:avLst/>
          </a:prstGeom>
          <a:solidFill xmlns:a="http://schemas.openxmlformats.org/drawingml/2006/main">
            <a:srgbClr val="C9A84C">
              <a:alpha val="15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15" name="!!co_num0"/>
          <p:cNvSpPr/>
          <p:nvPr/>
        </p:nvSpPr>
        <p:spPr>
          <a:xfrm xmlns:a="http://schemas.openxmlformats.org/drawingml/2006/main">
            <a:off x="576000" y="2520000"/>
            <a:ext cx="72000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2000" b="1">
                <a:solidFill>
                  <a:srgbClr val="C9A84C"/>
                </a:solidFill>
                <a:latin typeface="Aptos"/>
                <a:ea typeface="Aptos"/>
              </a:rPr>
              <a:t>1</a:t>
            </a:r>
          </a:p>
        </p:txBody>
      </p:sp>
      <p:sp>
        <p:nvSpPr>
          <p:cNvPr id="16" name="!!co_ctitle0"/>
          <p:cNvSpPr/>
          <p:nvPr/>
        </p:nvSpPr>
        <p:spPr>
          <a:xfrm xmlns:a="http://schemas.openxmlformats.org/drawingml/2006/main">
            <a:off x="576000" y="3348000"/>
            <a:ext cx="2448000" cy="54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1900" b="0">
                <a:solidFill>
                  <a:srgbClr val="F2F0E8"/>
                </a:solidFill>
                <a:latin typeface="Aptos Display"/>
                <a:ea typeface="Aptos Display"/>
              </a:rPr>
              <a:t>3 CVEs</a:t>
            </a:r>
          </a:p>
        </p:txBody>
      </p:sp>
      <p:sp>
        <p:nvSpPr>
          <p:cNvPr id="17" name="!!co_cb0_ico"/>
          <p:cNvSpPr/>
          <p:nvPr/>
        </p:nvSpPr>
        <p:spPr>
          <a:xfrm xmlns:a="http://schemas.openxmlformats.org/drawingml/2006/main">
            <a:off x="576000" y="4014000"/>
            <a:ext cx="540000" cy="540000"/>
          </a:xfrm>
          <a:custGeom xmlns:a="http://schemas.openxmlformats.org/drawingml/2006/main">
            <a:avLst/>
            <a:gdLst/>
            <a:ahLst/>
            <a:cxnLst/>
            <a:rect l="0" t="0" r="r" b="b"/>
            <a:pathLst>
              <a:path w="82" h="72">
                <a:moveTo>
                  <a:pt x="15" y="50"/>
                </a:moveTo>
                <a:lnTo>
                  <a:pt x="38" y="72"/>
                </a:lnTo>
                <a:lnTo>
                  <a:pt x="82" y="22"/>
                </a:lnTo>
              </a:path>
            </a:pathLst>
          </a:custGeom>
          <a:noFill xmlns:a="http://schemas.openxmlformats.org/drawingml/2006/main"/>
          <a:ln xmlns:a="http://schemas.openxmlformats.org/drawingml/2006/main" w="6">
            <a:solidFill>
              <a:srgbClr val="5A9E48"/>
            </a:solidFill>
          </a:ln>
        </p:spPr>
        <p:txBody>
          <a:bodyPr xmlns:a="http://schemas.openxmlformats.org/drawingml/2006/main"/>
          <a:lstStyle xmlns:a="http://schemas.openxmlformats.org/drawingml/2006/main"/>
          <a:p xmlns:a="http://schemas.openxmlformats.org/drawingml/2006/main">
            <a:r>
              <a:rPr lang="en-US"/>
              <a:t/>
            </a:r>
          </a:p>
        </p:txBody>
      </p:sp>
      <p:sp>
        <p:nvSpPr>
          <p:cNvPr id="18" name="!!co_cb0_txt"/>
          <p:cNvSpPr/>
          <p:nvPr/>
        </p:nvSpPr>
        <p:spPr>
          <a:xfrm xmlns:a="http://schemas.openxmlformats.org/drawingml/2006/main">
            <a:off x="1296000" y="3960000"/>
            <a:ext cx="1728000" cy="70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1300">
                <a:solidFill>
                  <a:srgbClr val="A8A090"/>
                </a:solidFill>
                <a:latin typeface="Calibri"/>
                <a:ea typeface="Calibri"/>
              </a:rPr>
              <a:t>Disclosed 2024-2026 in LLM-DB frameworks</a:t>
            </a:r>
          </a:p>
        </p:txBody>
      </p:sp>
      <p:sp>
        <p:nvSpPr>
          <p:cNvPr id="19" name="!!co_card1"/>
          <p:cNvSpPr/>
          <p:nvPr/>
        </p:nvSpPr>
        <p:spPr>
          <a:xfrm xmlns:a="http://schemas.openxmlformats.org/drawingml/2006/main">
            <a:off x="3276000" y="2304000"/>
            <a:ext cx="2736000" cy="3060000"/>
          </a:xfrm>
          <a:prstGeom xmlns:a="http://schemas.openxmlformats.org/drawingml/2006/main" prst="roundRect">
            <a:avLst/>
          </a:prstGeom>
          <a:solidFill xmlns:a="http://schemas.openxmlformats.org/drawingml/2006/main">
            <a:srgbClr val="141A20"/>
          </a:solidFill>
          <a:ln xmlns:a="http://schemas.openxmlformats.org/drawingml/2006/main" w="1">
            <a:solidFill>
              <a:srgbClr val="252820"/>
            </a:solidFill>
          </a:ln>
        </p:spPr>
        <p:txBody>
          <a:bodyPr xmlns:a="http://schemas.openxmlformats.org/drawingml/2006/main"/>
          <a:lstStyle xmlns:a="http://schemas.openxmlformats.org/drawingml/2006/main"/>
          <a:p xmlns:a="http://schemas.openxmlformats.org/drawingml/2006/main">
            <a:r>
              <a:rPr lang="en-US"/>
              <a:t/>
            </a:r>
          </a:p>
        </p:txBody>
      </p:sp>
      <p:sp>
        <p:nvSpPr>
          <p:cNvPr id="20" name="!!co_strip1"/>
          <p:cNvSpPr/>
          <p:nvPr/>
        </p:nvSpPr>
        <p:spPr>
          <a:xfrm xmlns:a="http://schemas.openxmlformats.org/drawingml/2006/main">
            <a:off x="3276000" y="2304000"/>
            <a:ext cx="2736000" cy="108000"/>
          </a:xfrm>
          <a:prstGeom xmlns:a="http://schemas.openxmlformats.org/drawingml/2006/main" prst="rect">
            <a:avLst/>
          </a:prstGeom>
          <a:solidFill xmlns:a="http://schemas.openxmlformats.org/drawingml/2006/main">
            <a:srgbClr val="C9A84C"/>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21" name="!!co_num_bg1"/>
          <p:cNvSpPr/>
          <p:nvPr/>
        </p:nvSpPr>
        <p:spPr>
          <a:xfrm xmlns:a="http://schemas.openxmlformats.org/drawingml/2006/main">
            <a:off x="3420000" y="2520000"/>
            <a:ext cx="720000" cy="720000"/>
          </a:xfrm>
          <a:prstGeom xmlns:a="http://schemas.openxmlformats.org/drawingml/2006/main" prst="ellipse">
            <a:avLst/>
          </a:prstGeom>
          <a:solidFill xmlns:a="http://schemas.openxmlformats.org/drawingml/2006/main">
            <a:srgbClr val="C9A84C">
              <a:alpha val="15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22" name="!!co_num1"/>
          <p:cNvSpPr/>
          <p:nvPr/>
        </p:nvSpPr>
        <p:spPr>
          <a:xfrm xmlns:a="http://schemas.openxmlformats.org/drawingml/2006/main">
            <a:off x="3420000" y="2520000"/>
            <a:ext cx="72000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2000" b="1">
                <a:solidFill>
                  <a:srgbClr val="C9A84C"/>
                </a:solidFill>
                <a:latin typeface="Aptos"/>
                <a:ea typeface="Aptos"/>
              </a:rPr>
              <a:t>2</a:t>
            </a:r>
          </a:p>
        </p:txBody>
      </p:sp>
      <p:sp>
        <p:nvSpPr>
          <p:cNvPr id="23" name="!!co_ctitle1"/>
          <p:cNvSpPr/>
          <p:nvPr/>
        </p:nvSpPr>
        <p:spPr>
          <a:xfrm xmlns:a="http://schemas.openxmlformats.org/drawingml/2006/main">
            <a:off x="3420000" y="3348000"/>
            <a:ext cx="2448000" cy="54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1900" b="0">
                <a:solidFill>
                  <a:srgbClr val="F2F0E8"/>
                </a:solidFill>
                <a:latin typeface="Aptos Display"/>
                <a:ea typeface="Aptos Display"/>
              </a:rPr>
              <a:t>CVSS 9.8</a:t>
            </a:r>
          </a:p>
        </p:txBody>
      </p:sp>
      <p:sp>
        <p:nvSpPr>
          <p:cNvPr id="24" name="!!co_cb1_ico"/>
          <p:cNvSpPr/>
          <p:nvPr/>
        </p:nvSpPr>
        <p:spPr>
          <a:xfrm xmlns:a="http://schemas.openxmlformats.org/drawingml/2006/main">
            <a:off x="3420000" y="4014000"/>
            <a:ext cx="540000" cy="540000"/>
          </a:xfrm>
          <a:custGeom xmlns:a="http://schemas.openxmlformats.org/drawingml/2006/main">
            <a:avLst/>
            <a:gdLst/>
            <a:ahLst/>
            <a:cxnLst/>
            <a:rect l="0" t="0" r="r" b="b"/>
            <a:pathLst>
              <a:path w="82" h="72">
                <a:moveTo>
                  <a:pt x="15" y="50"/>
                </a:moveTo>
                <a:lnTo>
                  <a:pt x="38" y="72"/>
                </a:lnTo>
                <a:lnTo>
                  <a:pt x="82" y="22"/>
                </a:lnTo>
              </a:path>
            </a:pathLst>
          </a:custGeom>
          <a:noFill xmlns:a="http://schemas.openxmlformats.org/drawingml/2006/main"/>
          <a:ln xmlns:a="http://schemas.openxmlformats.org/drawingml/2006/main" w="6">
            <a:solidFill>
              <a:srgbClr val="5A9E48"/>
            </a:solidFill>
          </a:ln>
        </p:spPr>
        <p:txBody>
          <a:bodyPr xmlns:a="http://schemas.openxmlformats.org/drawingml/2006/main"/>
          <a:lstStyle xmlns:a="http://schemas.openxmlformats.org/drawingml/2006/main"/>
          <a:p xmlns:a="http://schemas.openxmlformats.org/drawingml/2006/main">
            <a:r>
              <a:rPr lang="en-US"/>
              <a:t/>
            </a:r>
          </a:p>
        </p:txBody>
      </p:sp>
      <p:sp>
        <p:nvSpPr>
          <p:cNvPr id="25" name="!!co_cb1_txt"/>
          <p:cNvSpPr/>
          <p:nvPr/>
        </p:nvSpPr>
        <p:spPr>
          <a:xfrm xmlns:a="http://schemas.openxmlformats.org/drawingml/2006/main">
            <a:off x="4140000" y="3960000"/>
            <a:ext cx="1728000" cy="54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1300">
                <a:solidFill>
                  <a:srgbClr val="A8A090"/>
                </a:solidFill>
                <a:latin typeface="Calibri"/>
                <a:ea typeface="Calibri"/>
              </a:rPr>
              <a:t>PII extraction via AnythingLLM</a:t>
            </a:r>
          </a:p>
        </p:txBody>
      </p:sp>
      <p:sp>
        <p:nvSpPr>
          <p:cNvPr id="26" name="!!co_card2"/>
          <p:cNvSpPr/>
          <p:nvPr/>
        </p:nvSpPr>
        <p:spPr>
          <a:xfrm xmlns:a="http://schemas.openxmlformats.org/drawingml/2006/main">
            <a:off x="6120000" y="2304000"/>
            <a:ext cx="2736000" cy="3060000"/>
          </a:xfrm>
          <a:prstGeom xmlns:a="http://schemas.openxmlformats.org/drawingml/2006/main" prst="roundRect">
            <a:avLst/>
          </a:prstGeom>
          <a:solidFill xmlns:a="http://schemas.openxmlformats.org/drawingml/2006/main">
            <a:srgbClr val="141A20"/>
          </a:solidFill>
          <a:ln xmlns:a="http://schemas.openxmlformats.org/drawingml/2006/main" w="1">
            <a:solidFill>
              <a:srgbClr val="252820"/>
            </a:solidFill>
          </a:ln>
        </p:spPr>
        <p:txBody>
          <a:bodyPr xmlns:a="http://schemas.openxmlformats.org/drawingml/2006/main"/>
          <a:lstStyle xmlns:a="http://schemas.openxmlformats.org/drawingml/2006/main"/>
          <a:p xmlns:a="http://schemas.openxmlformats.org/drawingml/2006/main">
            <a:r>
              <a:rPr lang="en-US"/>
              <a:t/>
            </a:r>
          </a:p>
        </p:txBody>
      </p:sp>
      <p:sp>
        <p:nvSpPr>
          <p:cNvPr id="27" name="!!co_strip2"/>
          <p:cNvSpPr/>
          <p:nvPr/>
        </p:nvSpPr>
        <p:spPr>
          <a:xfrm xmlns:a="http://schemas.openxmlformats.org/drawingml/2006/main">
            <a:off x="6120000" y="2304000"/>
            <a:ext cx="2736000" cy="108000"/>
          </a:xfrm>
          <a:prstGeom xmlns:a="http://schemas.openxmlformats.org/drawingml/2006/main" prst="rect">
            <a:avLst/>
          </a:prstGeom>
          <a:solidFill xmlns:a="http://schemas.openxmlformats.org/drawingml/2006/main">
            <a:srgbClr val="C9A84C"/>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28" name="!!co_num_bg2"/>
          <p:cNvSpPr/>
          <p:nvPr/>
        </p:nvSpPr>
        <p:spPr>
          <a:xfrm xmlns:a="http://schemas.openxmlformats.org/drawingml/2006/main">
            <a:off x="6264000" y="2520000"/>
            <a:ext cx="720000" cy="720000"/>
          </a:xfrm>
          <a:prstGeom xmlns:a="http://schemas.openxmlformats.org/drawingml/2006/main" prst="ellipse">
            <a:avLst/>
          </a:prstGeom>
          <a:solidFill xmlns:a="http://schemas.openxmlformats.org/drawingml/2006/main">
            <a:srgbClr val="C9A84C">
              <a:alpha val="15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29" name="!!co_num2"/>
          <p:cNvSpPr/>
          <p:nvPr/>
        </p:nvSpPr>
        <p:spPr>
          <a:xfrm xmlns:a="http://schemas.openxmlformats.org/drawingml/2006/main">
            <a:off x="6264000" y="2520000"/>
            <a:ext cx="72000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2000" b="1">
                <a:solidFill>
                  <a:srgbClr val="C9A84C"/>
                </a:solidFill>
                <a:latin typeface="Aptos"/>
                <a:ea typeface="Aptos"/>
              </a:rPr>
              <a:t>3</a:t>
            </a:r>
          </a:p>
        </p:txBody>
      </p:sp>
      <p:sp>
        <p:nvSpPr>
          <p:cNvPr id="30" name="!!co_ctitle2"/>
          <p:cNvSpPr/>
          <p:nvPr/>
        </p:nvSpPr>
        <p:spPr>
          <a:xfrm xmlns:a="http://schemas.openxmlformats.org/drawingml/2006/main">
            <a:off x="6264000" y="3348000"/>
            <a:ext cx="2448000" cy="54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1900" b="0">
                <a:solidFill>
                  <a:srgbClr val="F2F0E8"/>
                </a:solidFill>
                <a:latin typeface="Aptos Display"/>
                <a:ea typeface="Aptos Display"/>
              </a:rPr>
              <a:t>50% ASR</a:t>
            </a:r>
          </a:p>
        </p:txBody>
      </p:sp>
      <p:sp>
        <p:nvSpPr>
          <p:cNvPr id="31" name="!!co_cb2_ico"/>
          <p:cNvSpPr/>
          <p:nvPr/>
        </p:nvSpPr>
        <p:spPr>
          <a:xfrm xmlns:a="http://schemas.openxmlformats.org/drawingml/2006/main">
            <a:off x="6264000" y="4014000"/>
            <a:ext cx="540000" cy="540000"/>
          </a:xfrm>
          <a:custGeom xmlns:a="http://schemas.openxmlformats.org/drawingml/2006/main">
            <a:avLst/>
            <a:gdLst/>
            <a:ahLst/>
            <a:cxnLst/>
            <a:rect l="0" t="0" r="r" b="b"/>
            <a:pathLst>
              <a:path w="82" h="72">
                <a:moveTo>
                  <a:pt x="15" y="50"/>
                </a:moveTo>
                <a:lnTo>
                  <a:pt x="38" y="72"/>
                </a:lnTo>
                <a:lnTo>
                  <a:pt x="82" y="22"/>
                </a:lnTo>
              </a:path>
            </a:pathLst>
          </a:custGeom>
          <a:noFill xmlns:a="http://schemas.openxmlformats.org/drawingml/2006/main"/>
          <a:ln xmlns:a="http://schemas.openxmlformats.org/drawingml/2006/main" w="6">
            <a:solidFill>
              <a:srgbClr val="5A9E48"/>
            </a:solidFill>
          </a:ln>
        </p:spPr>
        <p:txBody>
          <a:bodyPr xmlns:a="http://schemas.openxmlformats.org/drawingml/2006/main"/>
          <a:lstStyle xmlns:a="http://schemas.openxmlformats.org/drawingml/2006/main"/>
          <a:p xmlns:a="http://schemas.openxmlformats.org/drawingml/2006/main">
            <a:r>
              <a:rPr lang="en-US"/>
              <a:t/>
            </a:r>
          </a:p>
        </p:txBody>
      </p:sp>
      <p:sp>
        <p:nvSpPr>
          <p:cNvPr id="32" name="!!co_cb2_txt"/>
          <p:cNvSpPr/>
          <p:nvPr/>
        </p:nvSpPr>
        <p:spPr>
          <a:xfrm xmlns:a="http://schemas.openxmlformats.org/drawingml/2006/main">
            <a:off x="6984000" y="3960000"/>
            <a:ext cx="1728000" cy="70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1300">
                <a:solidFill>
                  <a:srgbClr val="A8A090"/>
                </a:solidFill>
                <a:latin typeface="Calibri"/>
                <a:ea typeface="Calibri"/>
              </a:rPr>
              <a:t>Attack success rate without defenses</a:t>
            </a:r>
          </a:p>
        </p:txBody>
      </p:sp>
      <p:sp>
        <p:nvSpPr>
          <p:cNvPr id="33" name="!!co_card3"/>
          <p:cNvSpPr/>
          <p:nvPr/>
        </p:nvSpPr>
        <p:spPr>
          <a:xfrm xmlns:a="http://schemas.openxmlformats.org/drawingml/2006/main">
            <a:off x="8964000" y="2304000"/>
            <a:ext cx="2736000" cy="3060000"/>
          </a:xfrm>
          <a:prstGeom xmlns:a="http://schemas.openxmlformats.org/drawingml/2006/main" prst="roundRect">
            <a:avLst/>
          </a:prstGeom>
          <a:solidFill xmlns:a="http://schemas.openxmlformats.org/drawingml/2006/main">
            <a:srgbClr val="141A20"/>
          </a:solidFill>
          <a:ln xmlns:a="http://schemas.openxmlformats.org/drawingml/2006/main" w="1">
            <a:solidFill>
              <a:srgbClr val="252820"/>
            </a:solidFill>
          </a:ln>
        </p:spPr>
        <p:txBody>
          <a:bodyPr xmlns:a="http://schemas.openxmlformats.org/drawingml/2006/main"/>
          <a:lstStyle xmlns:a="http://schemas.openxmlformats.org/drawingml/2006/main"/>
          <a:p xmlns:a="http://schemas.openxmlformats.org/drawingml/2006/main">
            <a:r>
              <a:rPr lang="en-US"/>
              <a:t/>
            </a:r>
          </a:p>
        </p:txBody>
      </p:sp>
      <p:sp>
        <p:nvSpPr>
          <p:cNvPr id="34" name="!!co_strip3"/>
          <p:cNvSpPr/>
          <p:nvPr/>
        </p:nvSpPr>
        <p:spPr>
          <a:xfrm xmlns:a="http://schemas.openxmlformats.org/drawingml/2006/main">
            <a:off x="8964000" y="2304000"/>
            <a:ext cx="2736000" cy="108000"/>
          </a:xfrm>
          <a:prstGeom xmlns:a="http://schemas.openxmlformats.org/drawingml/2006/main" prst="rect">
            <a:avLst/>
          </a:prstGeom>
          <a:solidFill xmlns:a="http://schemas.openxmlformats.org/drawingml/2006/main">
            <a:srgbClr val="C9A84C"/>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35" name="!!co_num_bg3"/>
          <p:cNvSpPr/>
          <p:nvPr/>
        </p:nvSpPr>
        <p:spPr>
          <a:xfrm xmlns:a="http://schemas.openxmlformats.org/drawingml/2006/main">
            <a:off x="9108000" y="2520000"/>
            <a:ext cx="720000" cy="720000"/>
          </a:xfrm>
          <a:prstGeom xmlns:a="http://schemas.openxmlformats.org/drawingml/2006/main" prst="ellipse">
            <a:avLst/>
          </a:prstGeom>
          <a:solidFill xmlns:a="http://schemas.openxmlformats.org/drawingml/2006/main">
            <a:srgbClr val="C9A84C">
              <a:alpha val="15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36" name="!!co_num3"/>
          <p:cNvSpPr/>
          <p:nvPr/>
        </p:nvSpPr>
        <p:spPr>
          <a:xfrm xmlns:a="http://schemas.openxmlformats.org/drawingml/2006/main">
            <a:off x="9108000" y="2520000"/>
            <a:ext cx="72000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2000" b="1">
                <a:solidFill>
                  <a:srgbClr val="C9A84C"/>
                </a:solidFill>
                <a:latin typeface="Aptos"/>
                <a:ea typeface="Aptos"/>
              </a:rPr>
              <a:t>4</a:t>
            </a:r>
          </a:p>
        </p:txBody>
      </p:sp>
      <p:sp>
        <p:nvSpPr>
          <p:cNvPr id="37" name="!!co_ctitle3"/>
          <p:cNvSpPr/>
          <p:nvPr/>
        </p:nvSpPr>
        <p:spPr>
          <a:xfrm xmlns:a="http://schemas.openxmlformats.org/drawingml/2006/main">
            <a:off x="9108000" y="3348000"/>
            <a:ext cx="2448000" cy="54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1900" b="0">
                <a:solidFill>
                  <a:srgbClr val="F2F0E8"/>
                </a:solidFill>
                <a:latin typeface="Aptos Display"/>
                <a:ea typeface="Aptos Display"/>
              </a:rPr>
              <a:t>0 explanations</a:t>
            </a:r>
          </a:p>
        </p:txBody>
      </p:sp>
      <p:sp>
        <p:nvSpPr>
          <p:cNvPr id="38" name="!!co_cb3_ico"/>
          <p:cNvSpPr/>
          <p:nvPr/>
        </p:nvSpPr>
        <p:spPr>
          <a:xfrm xmlns:a="http://schemas.openxmlformats.org/drawingml/2006/main">
            <a:off x="9108000" y="4014000"/>
            <a:ext cx="540000" cy="540000"/>
          </a:xfrm>
          <a:custGeom xmlns:a="http://schemas.openxmlformats.org/drawingml/2006/main">
            <a:avLst/>
            <a:gdLst/>
            <a:ahLst/>
            <a:cxnLst/>
            <a:rect l="0" t="0" r="r" b="b"/>
            <a:pathLst>
              <a:path w="82" h="72">
                <a:moveTo>
                  <a:pt x="15" y="50"/>
                </a:moveTo>
                <a:lnTo>
                  <a:pt x="38" y="72"/>
                </a:lnTo>
                <a:lnTo>
                  <a:pt x="82" y="22"/>
                </a:lnTo>
              </a:path>
            </a:pathLst>
          </a:custGeom>
          <a:noFill xmlns:a="http://schemas.openxmlformats.org/drawingml/2006/main"/>
          <a:ln xmlns:a="http://schemas.openxmlformats.org/drawingml/2006/main" w="6">
            <a:solidFill>
              <a:srgbClr val="5A9E48"/>
            </a:solidFill>
          </a:ln>
        </p:spPr>
        <p:txBody>
          <a:bodyPr xmlns:a="http://schemas.openxmlformats.org/drawingml/2006/main"/>
          <a:lstStyle xmlns:a="http://schemas.openxmlformats.org/drawingml/2006/main"/>
          <a:p xmlns:a="http://schemas.openxmlformats.org/drawingml/2006/main">
            <a:r>
              <a:rPr lang="en-US"/>
              <a:t/>
            </a:r>
          </a:p>
        </p:txBody>
      </p:sp>
      <p:sp>
        <p:nvSpPr>
          <p:cNvPr id="39" name="!!co_cb3_txt"/>
          <p:cNvSpPr/>
          <p:nvPr/>
        </p:nvSpPr>
        <p:spPr>
          <a:xfrm xmlns:a="http://schemas.openxmlformats.org/drawingml/2006/main">
            <a:off x="9828000" y="3960000"/>
            <a:ext cx="1728000" cy="54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1300">
                <a:solidFill>
                  <a:srgbClr val="A8A090"/>
                </a:solidFill>
                <a:latin typeface="Calibri"/>
                <a:ea typeface="Calibri"/>
              </a:rPr>
              <a:t>Tools never explain a block</a:t>
            </a:r>
          </a:p>
        </p:txBody>
      </p:sp>
      <p:sp>
        <p:nvSpPr>
          <p:cNvPr id="40" name="!!co_footer"/>
          <p:cNvSpPr/>
          <p:nvPr/>
        </p:nvSpPr>
        <p:spPr>
          <a:xfrm xmlns:a="http://schemas.openxmlformats.org/drawingml/2006/main">
            <a:off x="432000" y="5616000"/>
            <a:ext cx="1132800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1200">
                <a:solidFill>
                  <a:srgbClr val="6A6458"/>
                </a:solidFill>
                <a:latin typeface="Aptos"/>
                <a:ea typeface="Aptos"/>
              </a:rPr>
              <a:t>The problem is documented in public CVEs and academic studies; the project builds the missing layer between LLM and database.</a:t>
            </a:r>
          </a:p>
        </p:txBody>
      </p:sp>
      <p:sp>
        <p:nvSpPr>
          <p:cNvPr id="100008" name="!!Footer3"/>
          <p:cNvSpPr txBox="1"/>
          <p:nvPr/>
        </p:nvSpPr>
        <p:spPr>
          <a:xfrm>
            <a:off x="822960" y="6502400"/>
            <a:ext cx="3810000" cy="252000"/>
          </a:xfrm>
          <a:prstGeom prst="rect">
            <a:avLst/>
          </a:prstGeom>
          <a:noFill/>
          <a:ln>
            <a:noFill/>
          </a:ln>
        </p:spPr>
        <p:txBody>
          <a:bodyPr/>
          <a:lstStyle/>
          <a:p>
            <a:pPr algn="l"/>
            <a:r>
              <a:rPr lang="en-US" sz="1000">
                <a:solidFill>
                  <a:srgbClr val="8899BB"/>
                </a:solidFill>
                <a:latin typeface="Calibri"/>
                <a:ea typeface="Calibri"/>
              </a:rPr>
              <a:t>QueryGuard · CS 5391 Group Project Proposal</a:t>
            </a:r>
          </a:p>
        </p:txBody>
      </p:sp>
    </p:spTree>
  </p:cSld>
  <mc:AlternateContent xmlns:p159="http://schemas.microsoft.com/office/powerpoint/2015/09/main" xmlns:p="http://schemas.openxmlformats.org/presentationml/2006/main" xmlns:mc="http://schemas.openxmlformats.org/markup-compatibility/2006">
    <mc:Choice Requires="p159">
      <p:transition>
        <p159:morph option="byObject"/>
      </p:transition>
    </mc:Choice>
    <mc:Fallback>
      <p:transition>
        <p:fade/>
      </p:transition>
    </mc:Fallback>
  </mc:AlternateContent>
</p:sld>
</file>

<file path=ppt/slides/slide12.xml><?xml version="1.0" encoding="utf-8"?>
<p:sld xmlns:p="http://schemas.openxmlformats.org/presentationml/2006/main" xmlns:mc="http://schemas.openxmlformats.org/markup-compatibility/2006" xmlns:a="http://schemas.openxmlformats.org/drawingml/2006/main" xmlns:p159="http://schemas.microsoft.com/office/powerpoint/2015/09/main" mc:Ignorable="p159">
  <p:cSld xmlns:p="http://schemas.openxmlformats.org/presentationml/2006/main" xmlns:p159="http://schemas.microsoft.com/office/powerpoint/2015/09/main" xmlns:mc="http://schemas.openxmlformats.org/markup-compatibility/2006">
    <p:bg>
      <p:bgPr>
        <a:solidFill xmlns:a="http://schemas.openxmlformats.org/drawingml/2006/main">
          <a:srgbClr val="080A0E"/>
        </a:solidFill>
      </p:bgPr>
    </p:bg>
    <p:spTree>
      <p:nvGrpSpPr>
        <p:cNvPr id="1" name=""/>
        <p:cNvGrpSpPr/>
        <p:nvPr/>
      </p:nvGrpSpPr>
      <p:grpSpPr/>
      <p:sp>
        <p:nvSpPr>
          <p:cNvPr id="2" name="!!sa1"/>
          <p:cNvSpPr/>
          <p:nvPr/>
        </p:nvSpPr>
        <p:spPr>
          <a:xfrm xmlns:a="http://schemas.openxmlformats.org/drawingml/2006/main">
            <a:off x="360000" y="900000"/>
            <a:ext cx="5760000" cy="5760000"/>
          </a:xfrm>
          <a:prstGeom xmlns:a="http://schemas.openxmlformats.org/drawingml/2006/main" prst="ellipse">
            <a:avLst/>
          </a:prstGeom>
          <a:solidFill xmlns:a="http://schemas.openxmlformats.org/drawingml/2006/main">
            <a:srgbClr val="C9A84C">
              <a:alpha val="30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3" name="!!sa2"/>
          <p:cNvSpPr/>
          <p:nvPr/>
        </p:nvSpPr>
        <p:spPr>
          <a:xfrm xmlns:a="http://schemas.openxmlformats.org/drawingml/2006/main">
            <a:off x="5400000" y="2160000"/>
            <a:ext cx="3960000" cy="3960000"/>
          </a:xfrm>
          <a:prstGeom xmlns:a="http://schemas.openxmlformats.org/drawingml/2006/main" prst="ellipse">
            <a:avLst/>
          </a:prstGeom>
          <a:solidFill xmlns:a="http://schemas.openxmlformats.org/drawingml/2006/main">
            <a:srgbClr val="5A9E48">
              <a:alpha val="20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4" name="!!sa3"/>
          <p:cNvSpPr/>
          <p:nvPr/>
        </p:nvSpPr>
        <p:spPr>
          <a:xfrm xmlns:a="http://schemas.openxmlformats.org/drawingml/2006/main">
            <a:off x="0" y="0"/>
            <a:ext cx="12192000" cy="1800000"/>
          </a:xfrm>
          <a:prstGeom xmlns:a="http://schemas.openxmlformats.org/drawingml/2006/main" prst="rect">
            <a:avLst/>
          </a:prstGeom>
          <a:solidFill xmlns:a="http://schemas.openxmlformats.org/drawingml/2006/main">
            <a:srgbClr val="C9A84C">
              <a:alpha val="4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5" name="!!sa4"/>
          <p:cNvSpPr/>
          <p:nvPr/>
        </p:nvSpPr>
        <p:spPr>
          <a:xfrm xmlns:a="http://schemas.openxmlformats.org/drawingml/2006/main">
            <a:off x="11160000" y="5400000"/>
            <a:ext cx="1440000" cy="1440000"/>
          </a:xfrm>
          <a:custGeom xmlns:a="http://schemas.openxmlformats.org/drawingml/2006/main">
            <a:avLst/>
            <a:gdLst/>
            <a:ahLst/>
            <a:cxnLst/>
            <a:rect l="0" t="0" r="r" b="b"/>
            <a:pathLst>
              <a:path w="92" h="92">
                <a:moveTo>
                  <a:pt x="50" y="8"/>
                </a:moveTo>
                <a:lnTo>
                  <a:pt x="92" y="50"/>
                </a:lnTo>
                <a:lnTo>
                  <a:pt x="50" y="92"/>
                </a:lnTo>
                <a:lnTo>
                  <a:pt x="8" y="50"/>
                </a:lnTo>
                <a:close/>
              </a:path>
            </a:pathLst>
          </a:custGeom>
          <a:solidFill xmlns:a="http://schemas.openxmlformats.org/drawingml/2006/main">
            <a:srgbClr val="8BC94A">
              <a:alpha val="12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6" name="!!sa5"/>
          <p:cNvSpPr/>
          <p:nvPr/>
        </p:nvSpPr>
        <p:spPr>
          <a:xfrm xmlns:a="http://schemas.openxmlformats.org/drawingml/2006/main">
            <a:off x="360000" y="6120000"/>
            <a:ext cx="504000" cy="504000"/>
          </a:xfrm>
          <a:prstGeom xmlns:a="http://schemas.openxmlformats.org/drawingml/2006/main" prst="ellipse">
            <a:avLst/>
          </a:prstGeom>
          <a:solidFill xmlns:a="http://schemas.openxmlformats.org/drawingml/2006/main">
            <a:srgbClr val="C9A84C">
              <a:alpha val="50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7" name="!!sa6"/>
          <p:cNvSpPr/>
          <p:nvPr/>
        </p:nvSpPr>
        <p:spPr>
          <a:xfrm xmlns:a="http://schemas.openxmlformats.org/drawingml/2006/main">
            <a:off x="0" y="0"/>
            <a:ext cx="12192000" cy="108000"/>
          </a:xfrm>
          <a:prstGeom xmlns:a="http://schemas.openxmlformats.org/drawingml/2006/main" prst="rect">
            <a:avLst/>
          </a:prstGeom>
          <a:solidFill xmlns:a="http://schemas.openxmlformats.org/drawingml/2006/main">
            <a:srgbClr val="5A9E48"/>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8" name="!!hl_tag"/>
          <p:cNvSpPr/>
          <p:nvPr/>
        </p:nvSpPr>
        <p:spPr>
          <a:xfrm xmlns:a="http://schemas.openxmlformats.org/drawingml/2006/main">
            <a:off x="432000" y="360000"/>
            <a:ext cx="2880000" cy="108000"/>
          </a:xfrm>
          <a:prstGeom xmlns:a="http://schemas.openxmlformats.org/drawingml/2006/main" prst="rect">
            <a:avLst/>
          </a:prstGeom>
          <a:solidFill xmlns:a="http://schemas.openxmlformats.org/drawingml/2006/main">
            <a:srgbClr val="5A9E48"/>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9" name="!!hl_tag_txt"/>
          <p:cNvSpPr/>
          <p:nvPr/>
        </p:nvSpPr>
        <p:spPr>
          <a:xfrm xmlns:a="http://schemas.openxmlformats.org/drawingml/2006/main">
            <a:off x="432000" y="360000"/>
            <a:ext cx="2880000" cy="25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1000" b="1">
                <a:solidFill>
                  <a:srgbClr val="080A0E"/>
                </a:solidFill>
                <a:latin typeface="Aptos"/>
                <a:ea typeface="Aptos"/>
              </a:rPr>
              <a:t>EXISTING DEFENSES</a:t>
            </a:r>
          </a:p>
        </p:txBody>
      </p:sp>
      <p:sp>
        <p:nvSpPr>
          <p:cNvPr id="10" name="!!hl_title"/>
          <p:cNvSpPr/>
          <p:nvPr/>
        </p:nvSpPr>
        <p:spPr>
          <a:xfrm xmlns:a="http://schemas.openxmlformats.org/drawingml/2006/main">
            <a:off x="432000" y="540000"/>
            <a:ext cx="11328000" cy="108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3600" b="0">
                <a:solidFill>
                  <a:srgbClr val="F2F0E8"/>
                </a:solidFill>
                <a:latin typeface="Aptos Display"/>
                <a:ea typeface="Aptos Display"/>
              </a:rPr>
              <a:t>What exists today</a:t>
            </a:r>
          </a:p>
        </p:txBody>
      </p:sp>
      <p:sp>
        <p:nvSpPr>
          <p:cNvPr id="11" name="!!co_k1"/>
          <p:cNvSpPr/>
          <p:nvPr/>
        </p:nvSpPr>
        <p:spPr>
          <a:xfrm xmlns:a="http://schemas.openxmlformats.org/drawingml/2006/main">
            <a:off x="432000" y="1980000"/>
            <a:ext cx="3600000" cy="228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7200" b="0">
                <a:solidFill>
                  <a:srgbClr val="F2F0E8"/>
                </a:solidFill>
                <a:latin typeface="Aptos Display"/>
                <a:ea typeface="Aptos Display"/>
              </a:rPr>
              <a:t>Retrain</a:t>
            </a:r>
          </a:p>
        </p:txBody>
      </p:sp>
      <p:sp>
        <p:nvSpPr>
          <p:cNvPr id="12" name="!!co_k1_lbl"/>
          <p:cNvSpPr/>
          <p:nvPr/>
        </p:nvSpPr>
        <p:spPr>
          <a:xfrm xmlns:a="http://schemas.openxmlformats.org/drawingml/2006/main">
            <a:off x="432000" y="3816000"/>
            <a:ext cx="3600000" cy="50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1700">
                <a:solidFill>
                  <a:srgbClr val="A8A090"/>
                </a:solidFill>
                <a:latin typeface="Aptos"/>
                <a:ea typeface="Aptos"/>
              </a:rPr>
              <a:t>StruQ, SecAlign: model-side</a:t>
            </a:r>
          </a:p>
        </p:txBody>
      </p:sp>
      <p:sp>
        <p:nvSpPr>
          <p:cNvPr id="13" name="!!co_k1_note_ico"/>
          <p:cNvSpPr/>
          <p:nvPr/>
        </p:nvSpPr>
        <p:spPr>
          <a:xfrm xmlns:a="http://schemas.openxmlformats.org/drawingml/2006/main">
            <a:off x="432000" y="4446000"/>
            <a:ext cx="540000" cy="540000"/>
          </a:xfrm>
          <a:custGeom xmlns:a="http://schemas.openxmlformats.org/drawingml/2006/main">
            <a:avLst/>
            <a:gdLst/>
            <a:ahLst/>
            <a:cxnLst/>
            <a:rect l="0" t="0" r="r" b="b"/>
            <a:pathLst>
              <a:path w="88" h="80">
                <a:moveTo>
                  <a:pt x="10" y="80"/>
                </a:moveTo>
                <a:lnTo>
                  <a:pt x="10" y="50"/>
                </a:lnTo>
                <a:lnTo>
                  <a:pt x="28" y="50"/>
                </a:lnTo>
                <a:lnTo>
                  <a:pt x="28" y="80"/>
                </a:lnTo>
                <a:moveTo>
                  <a:pt x="40" y="80"/>
                </a:moveTo>
                <a:lnTo>
                  <a:pt x="40" y="25"/>
                </a:lnTo>
                <a:lnTo>
                  <a:pt x="58" y="25"/>
                </a:lnTo>
                <a:lnTo>
                  <a:pt x="58" y="80"/>
                </a:lnTo>
                <a:moveTo>
                  <a:pt x="70" y="80"/>
                </a:moveTo>
                <a:lnTo>
                  <a:pt x="70" y="55"/>
                </a:lnTo>
                <a:lnTo>
                  <a:pt x="88" y="55"/>
                </a:lnTo>
                <a:lnTo>
                  <a:pt x="88" y="80"/>
                </a:lnTo>
              </a:path>
            </a:pathLst>
          </a:custGeom>
          <a:noFill xmlns:a="http://schemas.openxmlformats.org/drawingml/2006/main"/>
          <a:ln xmlns:a="http://schemas.openxmlformats.org/drawingml/2006/main" w="6">
            <a:solidFill>
              <a:srgbClr val="C9A84C"/>
            </a:solidFill>
          </a:ln>
        </p:spPr>
        <p:txBody>
          <a:bodyPr xmlns:a="http://schemas.openxmlformats.org/drawingml/2006/main"/>
          <a:lstStyle xmlns:a="http://schemas.openxmlformats.org/drawingml/2006/main"/>
          <a:p xmlns:a="http://schemas.openxmlformats.org/drawingml/2006/main">
            <a:r>
              <a:rPr lang="en-US"/>
              <a:t/>
            </a:r>
          </a:p>
        </p:txBody>
      </p:sp>
      <p:sp>
        <p:nvSpPr>
          <p:cNvPr id="14" name="!!co_k1_note_txt"/>
          <p:cNvSpPr/>
          <p:nvPr/>
        </p:nvSpPr>
        <p:spPr>
          <a:xfrm xmlns:a="http://schemas.openxmlformats.org/drawingml/2006/main">
            <a:off x="1152000" y="4392000"/>
            <a:ext cx="2880000" cy="54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1500">
                <a:solidFill>
                  <a:srgbClr val="6A6458"/>
                </a:solidFill>
                <a:latin typeface="Calibri"/>
                <a:ea typeface="Calibri"/>
              </a:rPr>
              <a:t>Requires swapping or tuning the model</a:t>
            </a:r>
          </a:p>
        </p:txBody>
      </p:sp>
      <p:sp>
        <p:nvSpPr>
          <p:cNvPr id="15" name="!!co_k2"/>
          <p:cNvSpPr/>
          <p:nvPr/>
        </p:nvSpPr>
        <p:spPr>
          <a:xfrm xmlns:a="http://schemas.openxmlformats.org/drawingml/2006/main">
            <a:off x="4320000" y="2340000"/>
            <a:ext cx="3240000" cy="144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5400" b="0">
                <a:solidFill>
                  <a:srgbClr val="8BC94A"/>
                </a:solidFill>
                <a:latin typeface="Aptos Display"/>
                <a:ea typeface="Aptos Display"/>
              </a:rPr>
              <a:t>Generic</a:t>
            </a:r>
          </a:p>
        </p:txBody>
      </p:sp>
      <p:sp>
        <p:nvSpPr>
          <p:cNvPr id="16" name="!!co_k2_lbl"/>
          <p:cNvSpPr/>
          <p:nvPr/>
        </p:nvSpPr>
        <p:spPr>
          <a:xfrm xmlns:a="http://schemas.openxmlformats.org/drawingml/2006/main">
            <a:off x="4320000" y="3816000"/>
            <a:ext cx="3240000" cy="50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1700">
                <a:solidFill>
                  <a:srgbClr val="A8A090"/>
                </a:solidFill>
                <a:latin typeface="Aptos"/>
                <a:ea typeface="Aptos"/>
              </a:rPr>
              <a:t>NeMo, Guardrails AI</a:t>
            </a:r>
          </a:p>
        </p:txBody>
      </p:sp>
      <p:sp>
        <p:nvSpPr>
          <p:cNvPr id="17" name="!!co_k2_note_ico"/>
          <p:cNvSpPr/>
          <p:nvPr/>
        </p:nvSpPr>
        <p:spPr>
          <a:xfrm xmlns:a="http://schemas.openxmlformats.org/drawingml/2006/main">
            <a:off x="4320000" y="4446000"/>
            <a:ext cx="540000" cy="540000"/>
          </a:xfrm>
          <a:custGeom xmlns:a="http://schemas.openxmlformats.org/drawingml/2006/main">
            <a:avLst/>
            <a:gdLst/>
            <a:ahLst/>
            <a:cxnLst/>
            <a:rect l="0" t="0" r="r" b="b"/>
            <a:pathLst>
              <a:path w="75" h="70">
                <a:moveTo>
                  <a:pt x="20" y="50"/>
                </a:moveTo>
                <a:lnTo>
                  <a:pt x="70" y="50"/>
                </a:lnTo>
                <a:moveTo>
                  <a:pt x="52" y="30"/>
                </a:moveTo>
                <a:lnTo>
                  <a:pt x="75" y="50"/>
                </a:lnTo>
                <a:lnTo>
                  <a:pt x="52" y="70"/>
                </a:lnTo>
              </a:path>
            </a:pathLst>
          </a:custGeom>
          <a:noFill xmlns:a="http://schemas.openxmlformats.org/drawingml/2006/main"/>
          <a:ln xmlns:a="http://schemas.openxmlformats.org/drawingml/2006/main" w="6">
            <a:solidFill>
              <a:srgbClr val="8BC94A"/>
            </a:solidFill>
          </a:ln>
        </p:spPr>
        <p:txBody>
          <a:bodyPr xmlns:a="http://schemas.openxmlformats.org/drawingml/2006/main"/>
          <a:lstStyle xmlns:a="http://schemas.openxmlformats.org/drawingml/2006/main"/>
          <a:p xmlns:a="http://schemas.openxmlformats.org/drawingml/2006/main">
            <a:r>
              <a:rPr lang="en-US"/>
              <a:t/>
            </a:r>
          </a:p>
        </p:txBody>
      </p:sp>
      <p:sp>
        <p:nvSpPr>
          <p:cNvPr id="18" name="!!co_k2_note_txt"/>
          <p:cNvSpPr/>
          <p:nvPr/>
        </p:nvSpPr>
        <p:spPr>
          <a:xfrm xmlns:a="http://schemas.openxmlformats.org/drawingml/2006/main">
            <a:off x="5040000" y="4392000"/>
            <a:ext cx="2520000" cy="54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1500">
                <a:solidFill>
                  <a:srgbClr val="6A6458"/>
                </a:solidFill>
                <a:latin typeface="Calibri"/>
                <a:ea typeface="Calibri"/>
              </a:rPr>
              <a:t>Opaque, not SQL-aware</a:t>
            </a:r>
          </a:p>
        </p:txBody>
      </p:sp>
      <p:sp>
        <p:nvSpPr>
          <p:cNvPr id="19" name="!!co_k3"/>
          <p:cNvSpPr/>
          <p:nvPr/>
        </p:nvSpPr>
        <p:spPr>
          <a:xfrm xmlns:a="http://schemas.openxmlformats.org/drawingml/2006/main">
            <a:off x="7920000" y="2700000"/>
            <a:ext cx="2880000" cy="108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4400" b="0">
                <a:solidFill>
                  <a:srgbClr val="6A6458"/>
                </a:solidFill>
                <a:latin typeface="Aptos Display"/>
                <a:ea typeface="Aptos Display"/>
              </a:rPr>
              <a:t>Tools</a:t>
            </a:r>
          </a:p>
        </p:txBody>
      </p:sp>
      <p:sp>
        <p:nvSpPr>
          <p:cNvPr id="20" name="!!co_k3_lbl"/>
          <p:cNvSpPr/>
          <p:nvPr/>
        </p:nvSpPr>
        <p:spPr>
          <a:xfrm xmlns:a="http://schemas.openxmlformats.org/drawingml/2006/main">
            <a:off x="7920000" y="3816000"/>
            <a:ext cx="2880000" cy="61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1700">
                <a:solidFill>
                  <a:srgbClr val="6A6458"/>
                </a:solidFill>
                <a:latin typeface="Aptos"/>
                <a:ea typeface="Aptos"/>
              </a:rPr>
              <a:t>HeimdaLLM, sql-data-guard</a:t>
            </a:r>
          </a:p>
        </p:txBody>
      </p:sp>
      <p:sp>
        <p:nvSpPr>
          <p:cNvPr id="21" name="!!co_k3_note_ico"/>
          <p:cNvSpPr/>
          <p:nvPr/>
        </p:nvSpPr>
        <p:spPr>
          <a:xfrm xmlns:a="http://schemas.openxmlformats.org/drawingml/2006/main">
            <a:off x="7920000" y="4446000"/>
            <a:ext cx="540000" cy="540000"/>
          </a:xfrm>
          <a:custGeom xmlns:a="http://schemas.openxmlformats.org/drawingml/2006/main">
            <a:avLst/>
            <a:gdLst/>
            <a:ahLst/>
            <a:cxnLst/>
            <a:rect l="0" t="0" r="r" b="b"/>
            <a:pathLst>
              <a:path w="88" h="82">
                <a:moveTo>
                  <a:pt x="50" y="12"/>
                </a:moveTo>
                <a:lnTo>
                  <a:pt x="88" y="82"/>
                </a:lnTo>
                <a:lnTo>
                  <a:pt x="12" y="82"/>
                </a:lnTo>
                <a:close/>
                <a:moveTo>
                  <a:pt x="50" y="42"/>
                </a:moveTo>
                <a:lnTo>
                  <a:pt x="50" y="62"/>
                </a:lnTo>
                <a:moveTo>
                  <a:pt x="50" y="70"/>
                </a:moveTo>
                <a:lnTo>
                  <a:pt x="50" y="74"/>
                </a:lnTo>
              </a:path>
            </a:pathLst>
          </a:custGeom>
          <a:noFill xmlns:a="http://schemas.openxmlformats.org/drawingml/2006/main"/>
          <a:ln xmlns:a="http://schemas.openxmlformats.org/drawingml/2006/main" w="6">
            <a:solidFill>
              <a:srgbClr val="6A6458"/>
            </a:solidFill>
          </a:ln>
        </p:spPr>
        <p:txBody>
          <a:bodyPr xmlns:a="http://schemas.openxmlformats.org/drawingml/2006/main"/>
          <a:lstStyle xmlns:a="http://schemas.openxmlformats.org/drawingml/2006/main"/>
          <a:p xmlns:a="http://schemas.openxmlformats.org/drawingml/2006/main">
            <a:r>
              <a:rPr lang="en-US"/>
              <a:t/>
            </a:r>
          </a:p>
        </p:txBody>
      </p:sp>
      <p:sp>
        <p:nvSpPr>
          <p:cNvPr id="22" name="!!co_k3_note_txt"/>
          <p:cNvSpPr/>
          <p:nvPr/>
        </p:nvSpPr>
        <p:spPr>
          <a:xfrm xmlns:a="http://schemas.openxmlformats.org/drawingml/2006/main">
            <a:off x="8640000" y="4392000"/>
            <a:ext cx="2160000" cy="54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1500">
                <a:solidFill>
                  <a:srgbClr val="6A6458"/>
                </a:solidFill>
                <a:latin typeface="Calibri"/>
                <a:ea typeface="Calibri"/>
              </a:rPr>
              <a:t>Gates exist, numbers don't</a:t>
            </a:r>
          </a:p>
        </p:txBody>
      </p:sp>
      <p:sp>
        <p:nvSpPr>
          <p:cNvPr id="23" name="!!co_iline"/>
          <p:cNvSpPr/>
          <p:nvPr/>
        </p:nvSpPr>
        <p:spPr>
          <a:xfrm xmlns:a="http://schemas.openxmlformats.org/drawingml/2006/main">
            <a:off x="432000" y="5580000"/>
            <a:ext cx="11328000" cy="72000"/>
          </a:xfrm>
          <a:prstGeom xmlns:a="http://schemas.openxmlformats.org/drawingml/2006/main" prst="rect">
            <a:avLst/>
          </a:prstGeom>
          <a:solidFill xmlns:a="http://schemas.openxmlformats.org/drawingml/2006/main">
            <a:srgbClr val="C9A84C"/>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24" name="!!co_insight"/>
          <p:cNvSpPr/>
          <p:nvPr/>
        </p:nvSpPr>
        <p:spPr>
          <a:xfrm xmlns:a="http://schemas.openxmlformats.org/drawingml/2006/main">
            <a:off x="432000" y="5724000"/>
            <a:ext cx="11328000" cy="64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1800">
                <a:solidFill>
                  <a:srgbClr val="6A6458"/>
                </a:solidFill>
                <a:latin typeface="Aptos"/>
                <a:ea typeface="Aptos"/>
              </a:rPr>
              <a:t>Key insight: a transparent, SQL-specific gate at the app layer with measured false positives is the missing piece.</a:t>
            </a:r>
          </a:p>
        </p:txBody>
      </p:sp>
      <p:sp>
        <p:nvSpPr>
          <p:cNvPr id="100009" name="!!Footer4"/>
          <p:cNvSpPr txBox="1"/>
          <p:nvPr/>
        </p:nvSpPr>
        <p:spPr>
          <a:xfrm>
            <a:off x="822960" y="6502400"/>
            <a:ext cx="3810000" cy="252000"/>
          </a:xfrm>
          <a:prstGeom prst="rect">
            <a:avLst/>
          </a:prstGeom>
          <a:noFill/>
          <a:ln>
            <a:noFill/>
          </a:ln>
        </p:spPr>
        <p:txBody>
          <a:bodyPr/>
          <a:lstStyle/>
          <a:p>
            <a:pPr algn="l"/>
            <a:r>
              <a:rPr lang="en-US" sz="1000">
                <a:solidFill>
                  <a:srgbClr val="8899BB"/>
                </a:solidFill>
                <a:latin typeface="Calibri"/>
                <a:ea typeface="Calibri"/>
              </a:rPr>
              <a:t>QueryGuard · CS 5391 Group Project Proposal</a:t>
            </a:r>
          </a:p>
        </p:txBody>
      </p:sp>
    </p:spTree>
  </p:cSld>
  <mc:AlternateContent xmlns:p159="http://schemas.microsoft.com/office/powerpoint/2015/09/main" xmlns:p="http://schemas.openxmlformats.org/presentationml/2006/main" xmlns:mc="http://schemas.openxmlformats.org/markup-compatibility/2006">
    <mc:Choice Requires="p159">
      <p:transition>
        <p159:morph option="byObject"/>
      </p:transition>
    </mc:Choice>
    <mc:Fallback>
      <p:transition>
        <p:fade/>
      </p:transition>
    </mc:Fallback>
  </mc:AlternateContent>
</p:sld>
</file>

<file path=ppt/slides/slide13.xml><?xml version="1.0" encoding="utf-8"?>
<p:sld xmlns:p="http://schemas.openxmlformats.org/presentationml/2006/main" xmlns:mc="http://schemas.openxmlformats.org/markup-compatibility/2006" xmlns:a="http://schemas.openxmlformats.org/drawingml/2006/main" xmlns:r="http://schemas.openxmlformats.org/officeDocument/2006/relationships" xmlns:c="http://schemas.openxmlformats.org/drawingml/2006/chart" xmlns:p159="http://schemas.microsoft.com/office/powerpoint/2015/09/main" mc:Ignorable="p159">
  <p:cSld xmlns:p="http://schemas.openxmlformats.org/presentationml/2006/main" xmlns:p159="http://schemas.microsoft.com/office/powerpoint/2015/09/main" xmlns:mc="http://schemas.openxmlformats.org/markup-compatibility/2006">
    <p:bg>
      <p:bgPr>
        <a:solidFill xmlns:a="http://schemas.openxmlformats.org/drawingml/2006/main">
          <a:srgbClr val="080A0E"/>
        </a:solidFill>
      </p:bgPr>
    </p:bg>
    <p:spTree>
      <p:nvGrpSpPr>
        <p:cNvPr id="1" name=""/>
        <p:cNvGrpSpPr/>
        <p:nvPr/>
      </p:nvGrpSpPr>
      <p:grpSpPr/>
      <p:sp>
        <p:nvSpPr>
          <p:cNvPr id="2" name="!!sa1"/>
          <p:cNvSpPr/>
          <p:nvPr/>
        </p:nvSpPr>
        <p:spPr>
          <a:xfrm xmlns:a="http://schemas.openxmlformats.org/drawingml/2006/main">
            <a:off x="0" y="0"/>
            <a:ext cx="6192000" cy="6858000"/>
          </a:xfrm>
          <a:prstGeom xmlns:a="http://schemas.openxmlformats.org/drawingml/2006/main" prst="rect">
            <a:avLst/>
          </a:prstGeom>
          <a:solidFill xmlns:a="http://schemas.openxmlformats.org/drawingml/2006/main">
            <a:srgbClr val="C9A84C">
              <a:alpha val="5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3" name="!!sa2"/>
          <p:cNvSpPr/>
          <p:nvPr/>
        </p:nvSpPr>
        <p:spPr>
          <a:xfrm xmlns:a="http://schemas.openxmlformats.org/drawingml/2006/main">
            <a:off x="6336000" y="0"/>
            <a:ext cx="5856000" cy="6858000"/>
          </a:xfrm>
          <a:prstGeom xmlns:a="http://schemas.openxmlformats.org/drawingml/2006/main" prst="rect">
            <a:avLst/>
          </a:prstGeom>
          <a:solidFill xmlns:a="http://schemas.openxmlformats.org/drawingml/2006/main">
            <a:srgbClr val="5A9E48">
              <a:alpha val="5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4" name="!!sa3"/>
          <p:cNvSpPr/>
          <p:nvPr/>
        </p:nvSpPr>
        <p:spPr>
          <a:xfrm xmlns:a="http://schemas.openxmlformats.org/drawingml/2006/main">
            <a:off x="6192000" y="720000"/>
            <a:ext cx="144000" cy="5418000"/>
          </a:xfrm>
          <a:prstGeom xmlns:a="http://schemas.openxmlformats.org/drawingml/2006/main" prst="rect">
            <a:avLst/>
          </a:prstGeom>
          <a:solidFill xmlns:a="http://schemas.openxmlformats.org/drawingml/2006/main">
            <a:srgbClr val="C9A84C"/>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5" name="!!sa4"/>
          <p:cNvSpPr/>
          <p:nvPr/>
        </p:nvSpPr>
        <p:spPr>
          <a:xfrm xmlns:a="http://schemas.openxmlformats.org/drawingml/2006/main">
            <a:off x="0" y="0"/>
            <a:ext cx="3600000" cy="3600000"/>
          </a:xfrm>
          <a:prstGeom xmlns:a="http://schemas.openxmlformats.org/drawingml/2006/main" prst="ellipse">
            <a:avLst/>
          </a:prstGeom>
          <a:solidFill xmlns:a="http://schemas.openxmlformats.org/drawingml/2006/main">
            <a:srgbClr val="C9A84C">
              <a:alpha val="8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6" name="!!sa5"/>
          <p:cNvSpPr/>
          <p:nvPr/>
        </p:nvSpPr>
        <p:spPr>
          <a:xfrm xmlns:a="http://schemas.openxmlformats.org/drawingml/2006/main">
            <a:off x="8496000" y="5400000"/>
            <a:ext cx="1080000" cy="1080000"/>
          </a:xfrm>
          <a:custGeom xmlns:a="http://schemas.openxmlformats.org/drawingml/2006/main">
            <a:avLst/>
            <a:gdLst/>
            <a:ahLst/>
            <a:cxnLst/>
            <a:rect l="0" t="0" r="r" b="b"/>
            <a:pathLst>
              <a:path w="92" h="92">
                <a:moveTo>
                  <a:pt x="50" y="8"/>
                </a:moveTo>
                <a:lnTo>
                  <a:pt x="92" y="50"/>
                </a:lnTo>
                <a:lnTo>
                  <a:pt x="50" y="92"/>
                </a:lnTo>
                <a:lnTo>
                  <a:pt x="8" y="50"/>
                </a:lnTo>
                <a:close/>
              </a:path>
            </a:pathLst>
          </a:custGeom>
          <a:solidFill xmlns:a="http://schemas.openxmlformats.org/drawingml/2006/main">
            <a:srgbClr val="8BC94A">
              <a:alpha val="12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7" name="!!sa6"/>
          <p:cNvSpPr/>
          <p:nvPr/>
        </p:nvSpPr>
        <p:spPr>
          <a:xfrm xmlns:a="http://schemas.openxmlformats.org/drawingml/2006/main">
            <a:off x="0" y="0"/>
            <a:ext cx="6192000" cy="108000"/>
          </a:xfrm>
          <a:prstGeom xmlns:a="http://schemas.openxmlformats.org/drawingml/2006/main" prst="rect">
            <a:avLst/>
          </a:prstGeom>
          <a:solidFill xmlns:a="http://schemas.openxmlformats.org/drawingml/2006/main">
            <a:srgbClr val="C9A84C"/>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8" name="!!hl_tag"/>
          <p:cNvSpPr/>
          <p:nvPr/>
        </p:nvSpPr>
        <p:spPr>
          <a:xfrm xmlns:a="http://schemas.openxmlformats.org/drawingml/2006/main">
            <a:off x="432000" y="360000"/>
            <a:ext cx="3240000" cy="108000"/>
          </a:xfrm>
          <a:prstGeom xmlns:a="http://schemas.openxmlformats.org/drawingml/2006/main" prst="rect">
            <a:avLst/>
          </a:prstGeom>
          <a:solidFill xmlns:a="http://schemas.openxmlformats.org/drawingml/2006/main">
            <a:srgbClr val="C9A84C"/>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9" name="!!hl_tag_txt"/>
          <p:cNvSpPr/>
          <p:nvPr/>
        </p:nvSpPr>
        <p:spPr>
          <a:xfrm xmlns:a="http://schemas.openxmlformats.org/drawingml/2006/main">
            <a:off x="432000" y="360000"/>
            <a:ext cx="3240000" cy="25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1000" b="1">
                <a:solidFill>
                  <a:srgbClr val="080A0E"/>
                </a:solidFill>
                <a:latin typeface="Aptos"/>
                <a:ea typeface="Aptos"/>
              </a:rPr>
              <a:t>OUR SOLUTION</a:t>
            </a:r>
          </a:p>
        </p:txBody>
      </p:sp>
      <p:sp>
        <p:nvSpPr>
          <p:cNvPr id="10" name="!!hl_title"/>
          <p:cNvSpPr/>
          <p:nvPr/>
        </p:nvSpPr>
        <p:spPr>
          <a:xfrm xmlns:a="http://schemas.openxmlformats.org/drawingml/2006/main">
            <a:off x="432000" y="540000"/>
            <a:ext cx="5400000" cy="108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3600" b="0">
                <a:solidFill>
                  <a:srgbClr val="F2F0E8"/>
                </a:solidFill>
                <a:latin typeface="Aptos Display"/>
                <a:ea typeface="Aptos Display"/>
              </a:rPr>
              <a:t>QueryGuard</a:t>
            </a:r>
          </a:p>
        </p:txBody>
      </p:sp>
      <p:sp>
        <p:nvSpPr>
          <p:cNvPr id="11" name="!!hl_sub"/>
          <p:cNvSpPr/>
          <p:nvPr/>
        </p:nvSpPr>
        <p:spPr>
          <a:xfrm xmlns:a="http://schemas.openxmlformats.org/drawingml/2006/main">
            <a:off x="432000" y="1692000"/>
            <a:ext cx="5400000" cy="64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1800">
                <a:solidFill>
                  <a:srgbClr val="A8A090"/>
                </a:solidFill>
                <a:latin typeface="Aptos"/>
                <a:ea typeface="Aptos"/>
              </a:rPr>
              <a:t>Four components; each becomes a numbered SRS requirement and a team lane.</a:t>
            </a:r>
          </a:p>
        </p:txBody>
      </p:sp>
      <p:sp>
        <p:nvSpPr>
          <p:cNvPr id="12" name="!!co_rbar0"/>
          <p:cNvSpPr/>
          <p:nvPr/>
        </p:nvSpPr>
        <p:spPr>
          <a:xfrm xmlns:a="http://schemas.openxmlformats.org/drawingml/2006/main">
            <a:off x="432000" y="2304000"/>
            <a:ext cx="144000" cy="828000"/>
          </a:xfrm>
          <a:prstGeom xmlns:a="http://schemas.openxmlformats.org/drawingml/2006/main" prst="rect">
            <a:avLst/>
          </a:prstGeom>
          <a:solidFill xmlns:a="http://schemas.openxmlformats.org/drawingml/2006/main">
            <a:srgbClr val="C9A84C"/>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13" name="!!co_rtxt0"/>
          <p:cNvSpPr/>
          <p:nvPr/>
        </p:nvSpPr>
        <p:spPr>
          <a:xfrm xmlns:a="http://schemas.openxmlformats.org/drawingml/2006/main">
            <a:off x="720000" y="2484000"/>
            <a:ext cx="511200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1600">
                <a:solidFill>
                  <a:srgbClr val="A8A090"/>
                </a:solidFill>
                <a:latin typeface="Aptos"/>
                <a:ea typeface="Aptos"/>
              </a:rPr>
              <a:t>Validation gate - AST rule engine (40%)</a:t>
            </a:r>
          </a:p>
        </p:txBody>
      </p:sp>
      <p:sp>
        <p:nvSpPr>
          <p:cNvPr id="14" name="!!co_rbar1"/>
          <p:cNvSpPr/>
          <p:nvPr/>
        </p:nvSpPr>
        <p:spPr>
          <a:xfrm xmlns:a="http://schemas.openxmlformats.org/drawingml/2006/main">
            <a:off x="432000" y="3348000"/>
            <a:ext cx="144000" cy="828000"/>
          </a:xfrm>
          <a:prstGeom xmlns:a="http://schemas.openxmlformats.org/drawingml/2006/main" prst="rect">
            <a:avLst/>
          </a:prstGeom>
          <a:solidFill xmlns:a="http://schemas.openxmlformats.org/drawingml/2006/main">
            <a:srgbClr val="8BC94A"/>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15" name="!!co_rtxt1"/>
          <p:cNvSpPr/>
          <p:nvPr/>
        </p:nvSpPr>
        <p:spPr>
          <a:xfrm xmlns:a="http://schemas.openxmlformats.org/drawingml/2006/main">
            <a:off x="720000" y="3528000"/>
            <a:ext cx="511200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1600">
                <a:solidFill>
                  <a:srgbClr val="A8A090"/>
                </a:solidFill>
                <a:latin typeface="Aptos"/>
                <a:ea typeface="Aptos"/>
              </a:rPr>
              <a:t>Evaluation harness - corpus + CI (20%)</a:t>
            </a:r>
          </a:p>
        </p:txBody>
      </p:sp>
      <p:sp>
        <p:nvSpPr>
          <p:cNvPr id="16" name="!!co_rbar2"/>
          <p:cNvSpPr/>
          <p:nvPr/>
        </p:nvSpPr>
        <p:spPr>
          <a:xfrm xmlns:a="http://schemas.openxmlformats.org/drawingml/2006/main">
            <a:off x="432000" y="4392000"/>
            <a:ext cx="144000" cy="828000"/>
          </a:xfrm>
          <a:prstGeom xmlns:a="http://schemas.openxmlformats.org/drawingml/2006/main" prst="rect">
            <a:avLst/>
          </a:prstGeom>
          <a:solidFill xmlns:a="http://schemas.openxmlformats.org/drawingml/2006/main">
            <a:srgbClr val="5A9E48"/>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17" name="!!co_rtxt2"/>
          <p:cNvSpPr/>
          <p:nvPr/>
        </p:nvSpPr>
        <p:spPr>
          <a:xfrm xmlns:a="http://schemas.openxmlformats.org/drawingml/2006/main">
            <a:off x="720000" y="4572000"/>
            <a:ext cx="511200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1600">
                <a:solidFill>
                  <a:srgbClr val="A8A090"/>
                </a:solidFill>
                <a:latin typeface="Aptos"/>
                <a:ea typeface="Aptos"/>
              </a:rPr>
              <a:t>Web application - UI and API (20%)</a:t>
            </a:r>
          </a:p>
        </p:txBody>
      </p:sp>
      <p:sp>
        <p:nvSpPr>
          <p:cNvPr id="18" name="!!co_rbar3"/>
          <p:cNvSpPr/>
          <p:nvPr/>
        </p:nvSpPr>
        <p:spPr>
          <a:xfrm xmlns:a="http://schemas.openxmlformats.org/drawingml/2006/main">
            <a:off x="432000" y="5436000"/>
            <a:ext cx="144000" cy="828000"/>
          </a:xfrm>
          <a:prstGeom xmlns:a="http://schemas.openxmlformats.org/drawingml/2006/main" prst="rect">
            <a:avLst/>
          </a:prstGeom>
          <a:solidFill xmlns:a="http://schemas.openxmlformats.org/drawingml/2006/main">
            <a:srgbClr val="6A6458"/>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19" name="!!co_rtxt3"/>
          <p:cNvSpPr/>
          <p:nvPr/>
        </p:nvSpPr>
        <p:spPr>
          <a:xfrm xmlns:a="http://schemas.openxmlformats.org/drawingml/2006/main">
            <a:off x="720000" y="5616000"/>
            <a:ext cx="511200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1600">
                <a:solidFill>
                  <a:srgbClr val="A8A090"/>
                </a:solidFill>
                <a:latin typeface="Aptos"/>
                <a:ea typeface="Aptos"/>
              </a:rPr>
              <a:t>Docs, decisions and presentation (20%)</a:t>
            </a:r>
          </a:p>
        </p:txBody>
      </p:sp>
      <p:graphicFrame>
        <p:nvGraphicFramePr>
          <p:cNvPr id="22" name="Chart 22"/>
          <p:cNvGraphicFramePr/>
          <p:nvPr/>
        </p:nvGraphicFramePr>
        <p:xfrm>
          <a:off xmlns:a="http://schemas.openxmlformats.org/drawingml/2006/main" x="6696000" y="540000"/>
          <a:ext xmlns:a="http://schemas.openxmlformats.org/drawingml/2006/main" cx="5136000" cy="5760000"/>
        </p:xfrm>
        <a:graphic xmlns:a="http://schemas.openxmlformats.org/drawingml/2006/main">
          <a:graphicData uri="http://schemas.openxmlformats.org/drawingml/2006/chart">
            <c:chart xmlns:r="http://schemas.openxmlformats.org/officeDocument/2006/relationships" xmlns:c="http://schemas.openxmlformats.org/drawingml/2006/chart" r:id="Rbcd8302e3f9847c8"/>
          </a:graphicData>
        </a:graphic>
      </p:graphicFrame>
      <p:sp>
        <p:nvSpPr>
          <p:cNvPr id="100010" name="!!Footer5"/>
          <p:cNvSpPr txBox="1"/>
          <p:nvPr/>
        </p:nvSpPr>
        <p:spPr>
          <a:xfrm>
            <a:off x="822960" y="6502400"/>
            <a:ext cx="3810000" cy="252000"/>
          </a:xfrm>
          <a:prstGeom prst="rect">
            <a:avLst/>
          </a:prstGeom>
          <a:noFill/>
          <a:ln>
            <a:noFill/>
          </a:ln>
        </p:spPr>
        <p:txBody>
          <a:bodyPr/>
          <a:lstStyle/>
          <a:p>
            <a:pPr algn="l"/>
            <a:r>
              <a:rPr lang="en-US" sz="1000">
                <a:solidFill>
                  <a:srgbClr val="8899BB"/>
                </a:solidFill>
                <a:latin typeface="Calibri"/>
                <a:ea typeface="Calibri"/>
              </a:rPr>
              <a:t>QueryGuard · CS 5391 Group Project Proposal</a:t>
            </a:r>
          </a:p>
        </p:txBody>
      </p:sp>
    </p:spTree>
  </p:cSld>
  <mc:AlternateContent xmlns:p159="http://schemas.microsoft.com/office/powerpoint/2015/09/main" xmlns:p="http://schemas.openxmlformats.org/presentationml/2006/main" xmlns:mc="http://schemas.openxmlformats.org/markup-compatibility/2006">
    <mc:Choice Requires="p159">
      <p:transition>
        <p159:morph option="byObject"/>
      </p:transition>
    </mc:Choice>
    <mc:Fallback>
      <p:transition>
        <p:fade/>
      </p:transition>
    </mc:Fallback>
  </mc:AlternateContent>
</p:sld>
</file>

<file path=ppt/slides/slide14.xml><?xml version="1.0" encoding="utf-8"?>
<p:sld xmlns:p="http://schemas.openxmlformats.org/presentationml/2006/main" xmlns:mc="http://schemas.openxmlformats.org/markup-compatibility/2006" xmlns:a="http://schemas.openxmlformats.org/drawingml/2006/main" xmlns:r="http://schemas.openxmlformats.org/officeDocument/2006/relationships" xmlns:c="http://schemas.openxmlformats.org/drawingml/2006/chart" xmlns:p159="http://schemas.microsoft.com/office/powerpoint/2015/09/main" mc:Ignorable="p159">
  <p:cSld xmlns:p="http://schemas.openxmlformats.org/presentationml/2006/main" xmlns:p159="http://schemas.microsoft.com/office/powerpoint/2015/09/main" xmlns:mc="http://schemas.openxmlformats.org/markup-compatibility/2006">
    <p:bg>
      <p:bgPr>
        <a:solidFill xmlns:a="http://schemas.openxmlformats.org/drawingml/2006/main">
          <a:srgbClr val="080A0E"/>
        </a:solidFill>
      </p:bgPr>
    </p:bg>
    <p:spTree>
      <p:nvGrpSpPr>
        <p:cNvPr id="1" name=""/>
        <p:cNvGrpSpPr/>
        <p:nvPr/>
      </p:nvGrpSpPr>
      <p:grpSpPr/>
      <p:sp>
        <p:nvSpPr>
          <p:cNvPr id="2" name="!!sa1"/>
          <p:cNvSpPr/>
          <p:nvPr/>
        </p:nvSpPr>
        <p:spPr>
          <a:xfrm xmlns:a="http://schemas.openxmlformats.org/drawingml/2006/main">
            <a:off x="8640000" y="3240000"/>
            <a:ext cx="5400000" cy="5400000"/>
          </a:xfrm>
          <a:prstGeom xmlns:a="http://schemas.openxmlformats.org/drawingml/2006/main" prst="ellipse">
            <a:avLst/>
          </a:prstGeom>
          <a:solidFill xmlns:a="http://schemas.openxmlformats.org/drawingml/2006/main">
            <a:srgbClr val="5A9E48">
              <a:alpha val="8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3" name="!!sa2"/>
          <p:cNvSpPr/>
          <p:nvPr/>
        </p:nvSpPr>
        <p:spPr>
          <a:xfrm xmlns:a="http://schemas.openxmlformats.org/drawingml/2006/main">
            <a:off x="0" y="0"/>
            <a:ext cx="2160000" cy="2160000"/>
          </a:xfrm>
          <a:prstGeom xmlns:a="http://schemas.openxmlformats.org/drawingml/2006/main" prst="ellipse">
            <a:avLst/>
          </a:prstGeom>
          <a:solidFill xmlns:a="http://schemas.openxmlformats.org/drawingml/2006/main">
            <a:srgbClr val="C9A84C">
              <a:alpha val="8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4" name="!!sa3"/>
          <p:cNvSpPr/>
          <p:nvPr/>
        </p:nvSpPr>
        <p:spPr>
          <a:xfrm xmlns:a="http://schemas.openxmlformats.org/drawingml/2006/main">
            <a:off x="0" y="0"/>
            <a:ext cx="12192000" cy="1080000"/>
          </a:xfrm>
          <a:prstGeom xmlns:a="http://schemas.openxmlformats.org/drawingml/2006/main" prst="rect">
            <a:avLst/>
          </a:prstGeom>
          <a:solidFill xmlns:a="http://schemas.openxmlformats.org/drawingml/2006/main">
            <a:srgbClr val="8BC94A">
              <a:alpha val="4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5" name="!!sa4"/>
          <p:cNvSpPr/>
          <p:nvPr/>
        </p:nvSpPr>
        <p:spPr>
          <a:xfrm xmlns:a="http://schemas.openxmlformats.org/drawingml/2006/main">
            <a:off x="0" y="0"/>
            <a:ext cx="108000" cy="6858000"/>
          </a:xfrm>
          <a:prstGeom xmlns:a="http://schemas.openxmlformats.org/drawingml/2006/main" prst="rect">
            <a:avLst/>
          </a:prstGeom>
          <a:solidFill xmlns:a="http://schemas.openxmlformats.org/drawingml/2006/main">
            <a:srgbClr val="C9A84C"/>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6" name="!!sa5"/>
          <p:cNvSpPr/>
          <p:nvPr/>
        </p:nvSpPr>
        <p:spPr>
          <a:xfrm xmlns:a="http://schemas.openxmlformats.org/drawingml/2006/main">
            <a:off x="1440000" y="5400000"/>
            <a:ext cx="1440000" cy="1440000"/>
          </a:xfrm>
          <a:custGeom xmlns:a="http://schemas.openxmlformats.org/drawingml/2006/main">
            <a:avLst/>
            <a:gdLst/>
            <a:ahLst/>
            <a:cxnLst/>
            <a:rect l="0" t="0" r="r" b="b"/>
            <a:pathLst>
              <a:path w="92" h="92">
                <a:moveTo>
                  <a:pt x="50" y="8"/>
                </a:moveTo>
                <a:lnTo>
                  <a:pt x="92" y="50"/>
                </a:lnTo>
                <a:lnTo>
                  <a:pt x="50" y="92"/>
                </a:lnTo>
                <a:lnTo>
                  <a:pt x="8" y="50"/>
                </a:lnTo>
                <a:close/>
              </a:path>
            </a:pathLst>
          </a:custGeom>
          <a:solidFill xmlns:a="http://schemas.openxmlformats.org/drawingml/2006/main">
            <a:srgbClr val="C9A84C">
              <a:alpha val="15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7" name="!!sa6"/>
          <p:cNvSpPr/>
          <p:nvPr/>
        </p:nvSpPr>
        <p:spPr>
          <a:xfrm xmlns:a="http://schemas.openxmlformats.org/drawingml/2006/main">
            <a:off x="0" y="0"/>
            <a:ext cx="12192000" cy="108000"/>
          </a:xfrm>
          <a:prstGeom xmlns:a="http://schemas.openxmlformats.org/drawingml/2006/main" prst="rect">
            <a:avLst/>
          </a:prstGeom>
          <a:solidFill xmlns:a="http://schemas.openxmlformats.org/drawingml/2006/main">
            <a:srgbClr val="5A9E48"/>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8" name="!!hl_tag"/>
          <p:cNvSpPr/>
          <p:nvPr/>
        </p:nvSpPr>
        <p:spPr>
          <a:xfrm xmlns:a="http://schemas.openxmlformats.org/drawingml/2006/main">
            <a:off x="432000" y="360000"/>
            <a:ext cx="3240000" cy="108000"/>
          </a:xfrm>
          <a:prstGeom xmlns:a="http://schemas.openxmlformats.org/drawingml/2006/main" prst="rect">
            <a:avLst/>
          </a:prstGeom>
          <a:solidFill xmlns:a="http://schemas.openxmlformats.org/drawingml/2006/main">
            <a:srgbClr val="5A9E48"/>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9" name="!!hl_tag_txt"/>
          <p:cNvSpPr/>
          <p:nvPr/>
        </p:nvSpPr>
        <p:spPr>
          <a:xfrm xmlns:a="http://schemas.openxmlformats.org/drawingml/2006/main">
            <a:off x="432000" y="360000"/>
            <a:ext cx="3240000" cy="25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1000" b="1">
                <a:solidFill>
                  <a:srgbClr val="080A0E"/>
                </a:solidFill>
                <a:latin typeface="Aptos"/>
                <a:ea typeface="Aptos"/>
              </a:rPr>
              <a:t>EVALUATION</a:t>
            </a:r>
          </a:p>
        </p:txBody>
      </p:sp>
      <p:sp>
        <p:nvSpPr>
          <p:cNvPr id="10" name="!!hl_title"/>
          <p:cNvSpPr/>
          <p:nvPr/>
        </p:nvSpPr>
        <p:spPr>
          <a:xfrm xmlns:a="http://schemas.openxmlformats.org/drawingml/2006/main">
            <a:off x="432000" y="540000"/>
            <a:ext cx="11328000" cy="108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3600" b="0">
                <a:solidFill>
                  <a:srgbClr val="F2F0E8"/>
                </a:solidFill>
                <a:latin typeface="Aptos Display"/>
                <a:ea typeface="Aptos Display"/>
              </a:rPr>
              <a:t>Corpus: current vs target</a:t>
            </a:r>
          </a:p>
        </p:txBody>
      </p:sp>
      <p:sp>
        <p:nvSpPr>
          <p:cNvPr id="11" name="!!hl_sub"/>
          <p:cNvSpPr/>
          <p:nvPr/>
        </p:nvSpPr>
        <p:spPr>
          <a:xfrm xmlns:a="http://schemas.openxmlformats.org/drawingml/2006/main">
            <a:off x="432000" y="1692000"/>
            <a:ext cx="11328000" cy="64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1800">
                <a:solidFill>
                  <a:srgbClr val="A8A090"/>
                </a:solidFill>
                <a:latin typeface="Aptos"/>
                <a:ea typeface="Aptos"/>
              </a:rPr>
              <a:t>Six attack classes from the published taxonomy; starter ships two prompts per class, target five.</a:t>
            </a:r>
          </a:p>
        </p:txBody>
      </p:sp>
      <p:graphicFrame>
        <p:nvGraphicFramePr>
          <p:cNvPr id="14" name="Department Budget vs Actual ($)"/>
          <p:cNvGraphicFramePr/>
          <p:nvPr/>
        </p:nvGraphicFramePr>
        <p:xfrm>
          <a:off xmlns:a="http://schemas.openxmlformats.org/drawingml/2006/main" x="432000" y="2304000"/>
          <a:ext xmlns:a="http://schemas.openxmlformats.org/drawingml/2006/main" cx="11328000" cy="3960000"/>
        </p:xfrm>
        <a:graphic xmlns:a="http://schemas.openxmlformats.org/drawingml/2006/main">
          <a:graphicData uri="http://schemas.openxmlformats.org/drawingml/2006/chart">
            <c:chart xmlns:r="http://schemas.openxmlformats.org/officeDocument/2006/relationships" xmlns:c="http://schemas.openxmlformats.org/drawingml/2006/chart" r:id="R3ab6cbb235074eed"/>
          </a:graphicData>
        </a:graphic>
      </p:graphicFrame>
      <p:sp>
        <p:nvSpPr>
          <p:cNvPr id="15" name="!!co_note"/>
          <p:cNvSpPr/>
          <p:nvPr/>
        </p:nvSpPr>
        <p:spPr>
          <a:xfrm xmlns:a="http://schemas.openxmlformats.org/drawingml/2006/main">
            <a:off x="432000" y="6372000"/>
            <a:ext cx="11328000" cy="52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1400">
                <a:solidFill>
                  <a:srgbClr val="6A6458"/>
                </a:solidFill>
                <a:latin typeface="Aptos"/>
                <a:ea typeface="Aptos"/>
              </a:rPr>
              <a:t>False positives reported with the same visibility as block rates. Bars show starter counts; target five per class.</a:t>
            </a:r>
          </a:p>
        </p:txBody>
      </p:sp>
      <p:sp>
        <p:nvSpPr>
          <p:cNvPr id="100011" name="!!Footer6"/>
          <p:cNvSpPr txBox="1"/>
          <p:nvPr/>
        </p:nvSpPr>
        <p:spPr>
          <a:xfrm>
            <a:off x="822960" y="6502400"/>
            <a:ext cx="3810000" cy="252000"/>
          </a:xfrm>
          <a:prstGeom prst="rect">
            <a:avLst/>
          </a:prstGeom>
          <a:noFill/>
          <a:ln>
            <a:noFill/>
          </a:ln>
        </p:spPr>
        <p:txBody>
          <a:bodyPr/>
          <a:lstStyle/>
          <a:p>
            <a:pPr algn="l"/>
            <a:r>
              <a:rPr lang="en-US" sz="1000">
                <a:solidFill>
                  <a:srgbClr val="8899BB"/>
                </a:solidFill>
                <a:latin typeface="Calibri"/>
                <a:ea typeface="Calibri"/>
              </a:rPr>
              <a:t>QueryGuard · CS 5391 Group Project Proposal</a:t>
            </a:r>
          </a:p>
        </p:txBody>
      </p:sp>
    </p:spTree>
  </p:cSld>
  <mc:AlternateContent xmlns:p159="http://schemas.microsoft.com/office/powerpoint/2015/09/main" xmlns:p="http://schemas.openxmlformats.org/presentationml/2006/main" xmlns:mc="http://schemas.openxmlformats.org/markup-compatibility/2006">
    <mc:Choice Requires="p159">
      <p:transition>
        <p159:morph option="byObject"/>
      </p:transition>
    </mc:Choice>
    <mc:Fallback>
      <p:transition>
        <p:fade/>
      </p:transition>
    </mc:Fallback>
  </mc:AlternateContent>
</p:sld>
</file>

<file path=ppt/slides/slide15.xml><?xml version="1.0" encoding="utf-8"?>
<p:sld xmlns:p="http://schemas.openxmlformats.org/presentationml/2006/main" xmlns:mc="http://schemas.openxmlformats.org/markup-compatibility/2006" xmlns:a="http://schemas.openxmlformats.org/drawingml/2006/main" xmlns:p159="http://schemas.microsoft.com/office/powerpoint/2015/09/main" mc:Ignorable="p159">
  <p:cSld xmlns:p="http://schemas.openxmlformats.org/presentationml/2006/main" xmlns:p159="http://schemas.microsoft.com/office/powerpoint/2015/09/main" xmlns:mc="http://schemas.openxmlformats.org/markup-compatibility/2006">
    <p:bg>
      <p:bgPr>
        <a:solidFill xmlns:a="http://schemas.openxmlformats.org/drawingml/2006/main">
          <a:srgbClr val="080A0E"/>
        </a:solidFill>
      </p:bgPr>
    </p:bg>
    <p:spTree>
      <p:nvGrpSpPr>
        <p:cNvPr id="1" name=""/>
        <p:cNvGrpSpPr/>
        <p:nvPr/>
      </p:nvGrpSpPr>
      <p:grpSpPr/>
      <p:sp>
        <p:nvSpPr>
          <p:cNvPr id="2" name="!!sa1"/>
          <p:cNvSpPr/>
          <p:nvPr/>
        </p:nvSpPr>
        <p:spPr>
          <a:xfrm xmlns:a="http://schemas.openxmlformats.org/drawingml/2006/main">
            <a:off x="4176000" y="0"/>
            <a:ext cx="7200000" cy="7200000"/>
          </a:xfrm>
          <a:prstGeom xmlns:a="http://schemas.openxmlformats.org/drawingml/2006/main" prst="ellipse">
            <a:avLst/>
          </a:prstGeom>
          <a:solidFill xmlns:a="http://schemas.openxmlformats.org/drawingml/2006/main">
            <a:srgbClr val="C9A84C">
              <a:alpha val="7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3" name="!!sa2"/>
          <p:cNvSpPr/>
          <p:nvPr/>
        </p:nvSpPr>
        <p:spPr>
          <a:xfrm xmlns:a="http://schemas.openxmlformats.org/drawingml/2006/main">
            <a:off x="0" y="3240000"/>
            <a:ext cx="3600000" cy="3600000"/>
          </a:xfrm>
          <a:prstGeom xmlns:a="http://schemas.openxmlformats.org/drawingml/2006/main" prst="ellipse">
            <a:avLst/>
          </a:prstGeom>
          <a:solidFill xmlns:a="http://schemas.openxmlformats.org/drawingml/2006/main">
            <a:srgbClr val="5A9E48">
              <a:alpha val="8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4" name="!!sa3"/>
          <p:cNvSpPr/>
          <p:nvPr/>
        </p:nvSpPr>
        <p:spPr>
          <a:xfrm xmlns:a="http://schemas.openxmlformats.org/drawingml/2006/main">
            <a:off x="9360000" y="720000"/>
            <a:ext cx="2880000" cy="5418000"/>
          </a:xfrm>
          <a:prstGeom xmlns:a="http://schemas.openxmlformats.org/drawingml/2006/main" prst="rect">
            <a:avLst/>
          </a:prstGeom>
          <a:solidFill xmlns:a="http://schemas.openxmlformats.org/drawingml/2006/main">
            <a:srgbClr val="C9A84C">
              <a:alpha val="4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5" name="!!sa4"/>
          <p:cNvSpPr/>
          <p:nvPr/>
        </p:nvSpPr>
        <p:spPr>
          <a:xfrm xmlns:a="http://schemas.openxmlformats.org/drawingml/2006/main">
            <a:off x="0" y="0"/>
            <a:ext cx="12192000" cy="108000"/>
          </a:xfrm>
          <a:prstGeom xmlns:a="http://schemas.openxmlformats.org/drawingml/2006/main" prst="rect">
            <a:avLst/>
          </a:prstGeom>
          <a:solidFill xmlns:a="http://schemas.openxmlformats.org/drawingml/2006/main">
            <a:srgbClr val="5A9E48"/>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6" name="!!sa5"/>
          <p:cNvSpPr/>
          <p:nvPr/>
        </p:nvSpPr>
        <p:spPr>
          <a:xfrm xmlns:a="http://schemas.openxmlformats.org/drawingml/2006/main">
            <a:off x="11520000" y="5400000"/>
            <a:ext cx="1080000" cy="1080000"/>
          </a:xfrm>
          <a:custGeom xmlns:a="http://schemas.openxmlformats.org/drawingml/2006/main">
            <a:avLst/>
            <a:gdLst/>
            <a:ahLst/>
            <a:cxnLst/>
            <a:rect l="0" t="0" r="r" b="b"/>
            <a:pathLst>
              <a:path w="92" h="92">
                <a:moveTo>
                  <a:pt x="50" y="8"/>
                </a:moveTo>
                <a:lnTo>
                  <a:pt x="92" y="50"/>
                </a:lnTo>
                <a:lnTo>
                  <a:pt x="50" y="92"/>
                </a:lnTo>
                <a:lnTo>
                  <a:pt x="8" y="50"/>
                </a:lnTo>
                <a:close/>
              </a:path>
            </a:pathLst>
          </a:custGeom>
          <a:solidFill xmlns:a="http://schemas.openxmlformats.org/drawingml/2006/main">
            <a:srgbClr val="8BC94A">
              <a:alpha val="15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7" name="!!sa6"/>
          <p:cNvSpPr/>
          <p:nvPr/>
        </p:nvSpPr>
        <p:spPr>
          <a:xfrm xmlns:a="http://schemas.openxmlformats.org/drawingml/2006/main">
            <a:off x="360000" y="1080000"/>
            <a:ext cx="504000" cy="504000"/>
          </a:xfrm>
          <a:prstGeom xmlns:a="http://schemas.openxmlformats.org/drawingml/2006/main" prst="ellipse">
            <a:avLst/>
          </a:prstGeom>
          <a:solidFill xmlns:a="http://schemas.openxmlformats.org/drawingml/2006/main">
            <a:srgbClr val="C9A84C">
              <a:alpha val="50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8" name="!!hl_tag"/>
          <p:cNvSpPr/>
          <p:nvPr/>
        </p:nvSpPr>
        <p:spPr>
          <a:xfrm xmlns:a="http://schemas.openxmlformats.org/drawingml/2006/main">
            <a:off x="432000" y="360000"/>
            <a:ext cx="3240000" cy="108000"/>
          </a:xfrm>
          <a:prstGeom xmlns:a="http://schemas.openxmlformats.org/drawingml/2006/main" prst="rect">
            <a:avLst/>
          </a:prstGeom>
          <a:solidFill xmlns:a="http://schemas.openxmlformats.org/drawingml/2006/main">
            <a:srgbClr val="5A9E48"/>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9" name="!!hl_tag_txt"/>
          <p:cNvSpPr/>
          <p:nvPr/>
        </p:nvSpPr>
        <p:spPr>
          <a:xfrm xmlns:a="http://schemas.openxmlformats.org/drawingml/2006/main">
            <a:off x="432000" y="360000"/>
            <a:ext cx="3240000" cy="25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1000" b="1">
                <a:solidFill>
                  <a:srgbClr val="080A0E"/>
                </a:solidFill>
                <a:latin typeface="Aptos"/>
                <a:ea typeface="Aptos"/>
              </a:rPr>
              <a:t>MILESTONES</a:t>
            </a:r>
          </a:p>
        </p:txBody>
      </p:sp>
      <p:sp>
        <p:nvSpPr>
          <p:cNvPr id="10" name="!!hl_title"/>
          <p:cNvSpPr/>
          <p:nvPr/>
        </p:nvSpPr>
        <p:spPr>
          <a:xfrm xmlns:a="http://schemas.openxmlformats.org/drawingml/2006/main">
            <a:off x="432000" y="540000"/>
            <a:ext cx="7920000" cy="120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3600" b="0">
                <a:solidFill>
                  <a:srgbClr val="F2F0E8"/>
                </a:solidFill>
                <a:latin typeface="Aptos Display"/>
                <a:ea typeface="Aptos Display"/>
              </a:rPr>
              <a:t>Three checkpoints, all verifiable</a:t>
            </a:r>
          </a:p>
        </p:txBody>
      </p:sp>
      <p:sp>
        <p:nvSpPr>
          <p:cNvPr id="11" name="!!hl_sub"/>
          <p:cNvSpPr/>
          <p:nvPr/>
        </p:nvSpPr>
        <p:spPr>
          <a:xfrm xmlns:a="http://schemas.openxmlformats.org/drawingml/2006/main">
            <a:off x="432000" y="1692000"/>
            <a:ext cx="7920000" cy="64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1800">
                <a:solidFill>
                  <a:srgbClr val="A8A090"/>
                </a:solidFill>
                <a:latin typeface="Aptos"/>
                <a:ea typeface="Aptos"/>
              </a:rPr>
              <a:t>Every checkpoint has a receipt: submission proof, green CI, or a live demo.</a:t>
            </a:r>
          </a:p>
        </p:txBody>
      </p:sp>
      <p:sp>
        <p:nvSpPr>
          <p:cNvPr id="12" name="!!co_pc0"/>
          <p:cNvSpPr/>
          <p:nvPr/>
        </p:nvSpPr>
        <p:spPr>
          <a:xfrm xmlns:a="http://schemas.openxmlformats.org/drawingml/2006/main">
            <a:off x="432000" y="2304000"/>
            <a:ext cx="3744000" cy="3060000"/>
          </a:xfrm>
          <a:prstGeom xmlns:a="http://schemas.openxmlformats.org/drawingml/2006/main" prst="roundRect">
            <a:avLst/>
          </a:prstGeom>
          <a:solidFill xmlns:a="http://schemas.openxmlformats.org/drawingml/2006/main">
            <a:srgbClr val="141A20"/>
          </a:solidFill>
          <a:ln xmlns:a="http://schemas.openxmlformats.org/drawingml/2006/main" w="1">
            <a:solidFill>
              <a:srgbClr val="252820"/>
            </a:solidFill>
          </a:ln>
        </p:spPr>
        <p:txBody>
          <a:bodyPr xmlns:a="http://schemas.openxmlformats.org/drawingml/2006/main"/>
          <a:lstStyle xmlns:a="http://schemas.openxmlformats.org/drawingml/2006/main"/>
          <a:p xmlns:a="http://schemas.openxmlformats.org/drawingml/2006/main">
            <a:r>
              <a:rPr lang="en-US"/>
              <a:t/>
            </a:r>
          </a:p>
        </p:txBody>
      </p:sp>
      <p:sp>
        <p:nvSpPr>
          <p:cNvPr id="13" name="!!co_pstrip0"/>
          <p:cNvSpPr/>
          <p:nvPr/>
        </p:nvSpPr>
        <p:spPr>
          <a:xfrm xmlns:a="http://schemas.openxmlformats.org/drawingml/2006/main">
            <a:off x="432000" y="2304000"/>
            <a:ext cx="3744000" cy="144000"/>
          </a:xfrm>
          <a:prstGeom xmlns:a="http://schemas.openxmlformats.org/drawingml/2006/main" prst="rect">
            <a:avLst/>
          </a:prstGeom>
          <a:solidFill xmlns:a="http://schemas.openxmlformats.org/drawingml/2006/main">
            <a:srgbClr val="C9A84C"/>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14" name="!!co_pico0"/>
          <p:cNvSpPr/>
          <p:nvPr/>
        </p:nvSpPr>
        <p:spPr>
          <a:xfrm xmlns:a="http://schemas.openxmlformats.org/drawingml/2006/main">
            <a:off x="648000" y="2592000"/>
            <a:ext cx="720000" cy="720000"/>
          </a:xfrm>
          <a:custGeom xmlns:a="http://schemas.openxmlformats.org/drawingml/2006/main">
            <a:avLst/>
            <a:gdLst/>
            <a:ahLst/>
            <a:cxnLst/>
            <a:rect l="0" t="0" r="r" b="b"/>
            <a:pathLst>
              <a:path w="75" h="70">
                <a:moveTo>
                  <a:pt x="20" y="50"/>
                </a:moveTo>
                <a:lnTo>
                  <a:pt x="70" y="50"/>
                </a:lnTo>
                <a:moveTo>
                  <a:pt x="52" y="30"/>
                </a:moveTo>
                <a:lnTo>
                  <a:pt x="75" y="50"/>
                </a:lnTo>
                <a:lnTo>
                  <a:pt x="52" y="70"/>
                </a:lnTo>
              </a:path>
            </a:pathLst>
          </a:custGeom>
          <a:noFill xmlns:a="http://schemas.openxmlformats.org/drawingml/2006/main"/>
          <a:ln xmlns:a="http://schemas.openxmlformats.org/drawingml/2006/main" w="7">
            <a:solidFill>
              <a:srgbClr val="C9A84C"/>
            </a:solidFill>
          </a:ln>
        </p:spPr>
        <p:txBody>
          <a:bodyPr xmlns:a="http://schemas.openxmlformats.org/drawingml/2006/main"/>
          <a:lstStyle xmlns:a="http://schemas.openxmlformats.org/drawingml/2006/main"/>
          <a:p xmlns:a="http://schemas.openxmlformats.org/drawingml/2006/main">
            <a:r>
              <a:rPr lang="en-US"/>
              <a:t/>
            </a:r>
          </a:p>
        </p:txBody>
      </p:sp>
      <p:sp>
        <p:nvSpPr>
          <p:cNvPr id="15" name="!!co_ptit0"/>
          <p:cNvSpPr/>
          <p:nvPr/>
        </p:nvSpPr>
        <p:spPr>
          <a:xfrm xmlns:a="http://schemas.openxmlformats.org/drawingml/2006/main">
            <a:off x="648000" y="3384000"/>
            <a:ext cx="3312000" cy="54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1900" b="0">
                <a:solidFill>
                  <a:srgbClr val="C9A84C"/>
                </a:solidFill>
                <a:latin typeface="Aptos Display"/>
                <a:ea typeface="Aptos Display"/>
              </a:rPr>
              <a:t>Proposal and SRS</a:t>
            </a:r>
          </a:p>
        </p:txBody>
      </p:sp>
      <p:sp>
        <p:nvSpPr>
          <p:cNvPr id="16" name="!!co_ptxt0"/>
          <p:cNvSpPr/>
          <p:nvPr/>
        </p:nvSpPr>
        <p:spPr>
          <a:xfrm xmlns:a="http://schemas.openxmlformats.org/drawingml/2006/main">
            <a:off x="648000" y="3996000"/>
            <a:ext cx="3312000" cy="12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1500">
                <a:solidFill>
                  <a:srgbClr val="A8A090"/>
                </a:solidFill>
                <a:latin typeface="Aptos"/>
                <a:ea typeface="Aptos"/>
              </a:rPr>
              <a:t>Submitted with review comments recorded before midterm; deck follows the course style rules.</a:t>
            </a:r>
          </a:p>
        </p:txBody>
      </p:sp>
      <p:sp>
        <p:nvSpPr>
          <p:cNvPr id="17" name="!!co_pc1"/>
          <p:cNvSpPr/>
          <p:nvPr/>
        </p:nvSpPr>
        <p:spPr>
          <a:xfrm xmlns:a="http://schemas.openxmlformats.org/drawingml/2006/main">
            <a:off x="4356000" y="2304000"/>
            <a:ext cx="3744000" cy="3060000"/>
          </a:xfrm>
          <a:prstGeom xmlns:a="http://schemas.openxmlformats.org/drawingml/2006/main" prst="roundRect">
            <a:avLst/>
          </a:prstGeom>
          <a:solidFill xmlns:a="http://schemas.openxmlformats.org/drawingml/2006/main">
            <a:srgbClr val="141A20"/>
          </a:solidFill>
          <a:ln xmlns:a="http://schemas.openxmlformats.org/drawingml/2006/main" w="1">
            <a:solidFill>
              <a:srgbClr val="252820"/>
            </a:solidFill>
          </a:ln>
        </p:spPr>
        <p:txBody>
          <a:bodyPr xmlns:a="http://schemas.openxmlformats.org/drawingml/2006/main"/>
          <a:lstStyle xmlns:a="http://schemas.openxmlformats.org/drawingml/2006/main"/>
          <a:p xmlns:a="http://schemas.openxmlformats.org/drawingml/2006/main">
            <a:r>
              <a:rPr lang="en-US"/>
              <a:t/>
            </a:r>
          </a:p>
        </p:txBody>
      </p:sp>
      <p:sp>
        <p:nvSpPr>
          <p:cNvPr id="18" name="!!co_pstrip1"/>
          <p:cNvSpPr/>
          <p:nvPr/>
        </p:nvSpPr>
        <p:spPr>
          <a:xfrm xmlns:a="http://schemas.openxmlformats.org/drawingml/2006/main">
            <a:off x="4356000" y="2304000"/>
            <a:ext cx="3744000" cy="144000"/>
          </a:xfrm>
          <a:prstGeom xmlns:a="http://schemas.openxmlformats.org/drawingml/2006/main" prst="rect">
            <a:avLst/>
          </a:prstGeom>
          <a:solidFill xmlns:a="http://schemas.openxmlformats.org/drawingml/2006/main">
            <a:srgbClr val="8BC94A"/>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19" name="!!co_pico1"/>
          <p:cNvSpPr/>
          <p:nvPr/>
        </p:nvSpPr>
        <p:spPr>
          <a:xfrm xmlns:a="http://schemas.openxmlformats.org/drawingml/2006/main">
            <a:off x="4572000" y="2592000"/>
            <a:ext cx="720000" cy="720000"/>
          </a:xfrm>
          <a:custGeom xmlns:a="http://schemas.openxmlformats.org/drawingml/2006/main">
            <a:avLst/>
            <a:gdLst/>
            <a:ahLst/>
            <a:cxnLst/>
            <a:rect l="0" t="0" r="r" b="b"/>
            <a:pathLst>
              <a:path w="90" h="84">
                <a:moveTo>
                  <a:pt x="50" y="10"/>
                </a:moveTo>
                <a:lnTo>
                  <a:pt x="61" y="37"/>
                </a:lnTo>
                <a:lnTo>
                  <a:pt x="90" y="37"/>
                </a:lnTo>
                <a:lnTo>
                  <a:pt x="67" y="57"/>
                </a:lnTo>
                <a:lnTo>
                  <a:pt x="75" y="84"/>
                </a:lnTo>
                <a:lnTo>
                  <a:pt x="50" y="67"/>
                </a:lnTo>
                <a:lnTo>
                  <a:pt x="25" y="84"/>
                </a:lnTo>
                <a:lnTo>
                  <a:pt x="33" y="57"/>
                </a:lnTo>
                <a:lnTo>
                  <a:pt x="10" y="37"/>
                </a:lnTo>
                <a:lnTo>
                  <a:pt x="39" y="37"/>
                </a:lnTo>
                <a:close/>
              </a:path>
            </a:pathLst>
          </a:custGeom>
          <a:noFill xmlns:a="http://schemas.openxmlformats.org/drawingml/2006/main"/>
          <a:ln xmlns:a="http://schemas.openxmlformats.org/drawingml/2006/main" w="7">
            <a:solidFill>
              <a:srgbClr val="8BC94A"/>
            </a:solidFill>
          </a:ln>
        </p:spPr>
        <p:txBody>
          <a:bodyPr xmlns:a="http://schemas.openxmlformats.org/drawingml/2006/main"/>
          <a:lstStyle xmlns:a="http://schemas.openxmlformats.org/drawingml/2006/main"/>
          <a:p xmlns:a="http://schemas.openxmlformats.org/drawingml/2006/main">
            <a:r>
              <a:rPr lang="en-US"/>
              <a:t/>
            </a:r>
          </a:p>
        </p:txBody>
      </p:sp>
      <p:sp>
        <p:nvSpPr>
          <p:cNvPr id="20" name="!!co_ptit1"/>
          <p:cNvSpPr/>
          <p:nvPr/>
        </p:nvSpPr>
        <p:spPr>
          <a:xfrm xmlns:a="http://schemas.openxmlformats.org/drawingml/2006/main">
            <a:off x="4572000" y="3384000"/>
            <a:ext cx="3312000" cy="54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1900" b="0">
                <a:solidFill>
                  <a:srgbClr val="8BC94A"/>
                </a:solidFill>
                <a:latin typeface="Aptos Display"/>
                <a:ea typeface="Aptos Display"/>
              </a:rPr>
              <a:t>Build and CI gate</a:t>
            </a:r>
          </a:p>
        </p:txBody>
      </p:sp>
      <p:sp>
        <p:nvSpPr>
          <p:cNvPr id="21" name="!!co_ptxt1"/>
          <p:cNvSpPr/>
          <p:nvPr/>
        </p:nvSpPr>
        <p:spPr>
          <a:xfrm xmlns:a="http://schemas.openxmlformats.org/drawingml/2006/main">
            <a:off x="4572000" y="3996000"/>
            <a:ext cx="3312000" cy="12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1500">
                <a:solidFill>
                  <a:srgbClr val="A8A090"/>
                </a:solidFill>
                <a:latin typeface="Aptos"/>
                <a:ea typeface="Aptos"/>
              </a:rPr>
              <a:t>Working path from question to verdict after midterm; corpus regression green on every push.</a:t>
            </a:r>
          </a:p>
        </p:txBody>
      </p:sp>
      <p:sp>
        <p:nvSpPr>
          <p:cNvPr id="22" name="!!co_pc2"/>
          <p:cNvSpPr/>
          <p:nvPr/>
        </p:nvSpPr>
        <p:spPr>
          <a:xfrm xmlns:a="http://schemas.openxmlformats.org/drawingml/2006/main">
            <a:off x="8280000" y="2304000"/>
            <a:ext cx="3744000" cy="3060000"/>
          </a:xfrm>
          <a:prstGeom xmlns:a="http://schemas.openxmlformats.org/drawingml/2006/main" prst="roundRect">
            <a:avLst/>
          </a:prstGeom>
          <a:solidFill xmlns:a="http://schemas.openxmlformats.org/drawingml/2006/main">
            <a:srgbClr val="141A20"/>
          </a:solidFill>
          <a:ln xmlns:a="http://schemas.openxmlformats.org/drawingml/2006/main" w="1">
            <a:solidFill>
              <a:srgbClr val="252820"/>
            </a:solidFill>
          </a:ln>
        </p:spPr>
        <p:txBody>
          <a:bodyPr xmlns:a="http://schemas.openxmlformats.org/drawingml/2006/main"/>
          <a:lstStyle xmlns:a="http://schemas.openxmlformats.org/drawingml/2006/main"/>
          <a:p xmlns:a="http://schemas.openxmlformats.org/drawingml/2006/main">
            <a:r>
              <a:rPr lang="en-US"/>
              <a:t/>
            </a:r>
          </a:p>
        </p:txBody>
      </p:sp>
      <p:sp>
        <p:nvSpPr>
          <p:cNvPr id="23" name="!!co_pstrip2"/>
          <p:cNvSpPr/>
          <p:nvPr/>
        </p:nvSpPr>
        <p:spPr>
          <a:xfrm xmlns:a="http://schemas.openxmlformats.org/drawingml/2006/main">
            <a:off x="8280000" y="2304000"/>
            <a:ext cx="3744000" cy="144000"/>
          </a:xfrm>
          <a:prstGeom xmlns:a="http://schemas.openxmlformats.org/drawingml/2006/main" prst="rect">
            <a:avLst/>
          </a:prstGeom>
          <a:solidFill xmlns:a="http://schemas.openxmlformats.org/drawingml/2006/main">
            <a:srgbClr val="6A6458"/>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24" name="!!co_pico2"/>
          <p:cNvSpPr/>
          <p:nvPr/>
        </p:nvSpPr>
        <p:spPr>
          <a:xfrm xmlns:a="http://schemas.openxmlformats.org/drawingml/2006/main">
            <a:off x="8496000" y="2592000"/>
            <a:ext cx="720000" cy="720000"/>
          </a:xfrm>
          <a:custGeom xmlns:a="http://schemas.openxmlformats.org/drawingml/2006/main">
            <a:avLst/>
            <a:gdLst/>
            <a:ahLst/>
            <a:cxnLst/>
            <a:rect l="0" t="0" r="r" b="b"/>
            <a:pathLst>
              <a:path w="88" h="82">
                <a:moveTo>
                  <a:pt x="50" y="12"/>
                </a:moveTo>
                <a:lnTo>
                  <a:pt x="88" y="82"/>
                </a:lnTo>
                <a:lnTo>
                  <a:pt x="12" y="82"/>
                </a:lnTo>
                <a:close/>
                <a:moveTo>
                  <a:pt x="50" y="42"/>
                </a:moveTo>
                <a:lnTo>
                  <a:pt x="50" y="62"/>
                </a:lnTo>
                <a:moveTo>
                  <a:pt x="50" y="70"/>
                </a:moveTo>
                <a:lnTo>
                  <a:pt x="50" y="74"/>
                </a:lnTo>
              </a:path>
            </a:pathLst>
          </a:custGeom>
          <a:noFill xmlns:a="http://schemas.openxmlformats.org/drawingml/2006/main"/>
          <a:ln xmlns:a="http://schemas.openxmlformats.org/drawingml/2006/main" w="7">
            <a:solidFill>
              <a:srgbClr val="6A6458"/>
            </a:solidFill>
          </a:ln>
        </p:spPr>
        <p:txBody>
          <a:bodyPr xmlns:a="http://schemas.openxmlformats.org/drawingml/2006/main"/>
          <a:lstStyle xmlns:a="http://schemas.openxmlformats.org/drawingml/2006/main"/>
          <a:p xmlns:a="http://schemas.openxmlformats.org/drawingml/2006/main">
            <a:r>
              <a:rPr lang="en-US"/>
              <a:t/>
            </a:r>
          </a:p>
        </p:txBody>
      </p:sp>
      <p:sp>
        <p:nvSpPr>
          <p:cNvPr id="25" name="!!co_ptit2"/>
          <p:cNvSpPr/>
          <p:nvPr/>
        </p:nvSpPr>
        <p:spPr>
          <a:xfrm xmlns:a="http://schemas.openxmlformats.org/drawingml/2006/main">
            <a:off x="8496000" y="3384000"/>
            <a:ext cx="3312000" cy="54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1900" b="0">
                <a:solidFill>
                  <a:srgbClr val="6A6458"/>
                </a:solidFill>
                <a:latin typeface="Aptos Display"/>
                <a:ea typeface="Aptos Display"/>
              </a:rPr>
              <a:t>Demo</a:t>
            </a:r>
          </a:p>
        </p:txBody>
      </p:sp>
      <p:sp>
        <p:nvSpPr>
          <p:cNvPr id="26" name="!!co_ptxt2"/>
          <p:cNvSpPr/>
          <p:nvPr/>
        </p:nvSpPr>
        <p:spPr>
          <a:xfrm xmlns:a="http://schemas.openxmlformats.org/drawingml/2006/main">
            <a:off x="8496000" y="3996000"/>
            <a:ext cx="3312000" cy="12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1500">
                <a:solidFill>
                  <a:srgbClr val="A8A090"/>
                </a:solidFill>
                <a:latin typeface="Aptos"/>
                <a:ea typeface="Aptos"/>
              </a:rPr>
              <a:t>Scripted demo with live metrics; block shown, numbers on screen, rehearsed twice.</a:t>
            </a:r>
          </a:p>
        </p:txBody>
      </p:sp>
      <p:sp>
        <p:nvSpPr>
          <p:cNvPr id="100012" name="!!Footer7"/>
          <p:cNvSpPr txBox="1"/>
          <p:nvPr/>
        </p:nvSpPr>
        <p:spPr>
          <a:xfrm>
            <a:off x="822960" y="6502400"/>
            <a:ext cx="3810000" cy="252000"/>
          </a:xfrm>
          <a:prstGeom prst="rect">
            <a:avLst/>
          </a:prstGeom>
          <a:noFill/>
          <a:ln>
            <a:noFill/>
          </a:ln>
        </p:spPr>
        <p:txBody>
          <a:bodyPr/>
          <a:lstStyle/>
          <a:p>
            <a:pPr algn="l"/>
            <a:r>
              <a:rPr lang="en-US" sz="1000">
                <a:solidFill>
                  <a:srgbClr val="8899BB"/>
                </a:solidFill>
                <a:latin typeface="Calibri"/>
                <a:ea typeface="Calibri"/>
              </a:rPr>
              <a:t>QueryGuard · CS 5391 Group Project Proposal</a:t>
            </a:r>
          </a:p>
        </p:txBody>
      </p:sp>
    </p:spTree>
  </p:cSld>
  <mc:AlternateContent xmlns:p159="http://schemas.microsoft.com/office/powerpoint/2015/09/main" xmlns:p="http://schemas.openxmlformats.org/presentationml/2006/main" xmlns:mc="http://schemas.openxmlformats.org/markup-compatibility/2006">
    <mc:Choice Requires="p159">
      <p:transition>
        <p159:morph option="byObject"/>
      </p:transition>
    </mc:Choice>
    <mc:Fallback>
      <p:transition>
        <p:fade/>
      </p:transition>
    </mc:Fallback>
  </mc:AlternateContent>
</p:sld>
</file>

<file path=ppt/slides/slide16.xml><?xml version="1.0" encoding="utf-8"?>
<p:sld xmlns:p="http://schemas.openxmlformats.org/presentationml/2006/main" xmlns:mc="http://schemas.openxmlformats.org/markup-compatibility/2006" xmlns:a="http://schemas.openxmlformats.org/drawingml/2006/main" xmlns:p159="http://schemas.microsoft.com/office/powerpoint/2015/09/main" mc:Ignorable="p159">
  <p:cSld xmlns:p="http://schemas.openxmlformats.org/presentationml/2006/main" xmlns:p159="http://schemas.microsoft.com/office/powerpoint/2015/09/main" xmlns:mc="http://schemas.openxmlformats.org/markup-compatibility/2006">
    <p:bg>
      <p:bgPr>
        <a:solidFill xmlns:a="http://schemas.openxmlformats.org/drawingml/2006/main">
          <a:srgbClr val="080A0E"/>
        </a:solidFill>
      </p:bgPr>
    </p:bg>
    <p:spTree>
      <p:nvGrpSpPr>
        <p:cNvPr id="1" name=""/>
        <p:cNvGrpSpPr/>
        <p:nvPr/>
      </p:nvGrpSpPr>
      <p:grpSpPr/>
      <p:sp>
        <p:nvSpPr>
          <p:cNvPr id="2" name="sa1"/>
          <p:cNvSpPr/>
          <p:nvPr/>
        </p:nvSpPr>
        <p:spPr>
          <a:xfrm xmlns:a="http://schemas.openxmlformats.org/drawingml/2006/main">
            <a:off x="0" y="0"/>
            <a:ext cx="3600000" cy="3600000"/>
          </a:xfrm>
          <a:prstGeom xmlns:a="http://schemas.openxmlformats.org/drawingml/2006/main" prst="ellipse">
            <a:avLst/>
          </a:prstGeom>
          <a:solidFill xmlns:a="http://schemas.openxmlformats.org/drawingml/2006/main">
            <a:srgbClr val="5A9E48">
              <a:alpha val="10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3" name="sa2"/>
          <p:cNvSpPr/>
          <p:nvPr/>
        </p:nvSpPr>
        <p:spPr>
          <a:xfrm xmlns:a="http://schemas.openxmlformats.org/drawingml/2006/main">
            <a:off x="9360000" y="3960000"/>
            <a:ext cx="4320000" cy="4320000"/>
          </a:xfrm>
          <a:prstGeom xmlns:a="http://schemas.openxmlformats.org/drawingml/2006/main" prst="ellipse">
            <a:avLst/>
          </a:prstGeom>
          <a:solidFill xmlns:a="http://schemas.openxmlformats.org/drawingml/2006/main">
            <a:srgbClr val="C9A84C">
              <a:alpha val="12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4" name="sa3"/>
          <p:cNvSpPr/>
          <p:nvPr/>
        </p:nvSpPr>
        <p:spPr>
          <a:xfrm xmlns:a="http://schemas.openxmlformats.org/drawingml/2006/main">
            <a:off x="4320000" y="0"/>
            <a:ext cx="3600000" cy="6858000"/>
          </a:xfrm>
          <a:prstGeom xmlns:a="http://schemas.openxmlformats.org/drawingml/2006/main" prst="rect">
            <a:avLst/>
          </a:prstGeom>
          <a:solidFill xmlns:a="http://schemas.openxmlformats.org/drawingml/2006/main">
            <a:srgbClr val="8BC94A">
              <a:alpha val="4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5" name="sa4"/>
          <p:cNvSpPr/>
          <p:nvPr/>
        </p:nvSpPr>
        <p:spPr>
          <a:xfrm xmlns:a="http://schemas.openxmlformats.org/drawingml/2006/main">
            <a:off x="0" y="0"/>
            <a:ext cx="12192000" cy="108000"/>
          </a:xfrm>
          <a:prstGeom xmlns:a="http://schemas.openxmlformats.org/drawingml/2006/main" prst="rect">
            <a:avLst/>
          </a:prstGeom>
          <a:solidFill xmlns:a="http://schemas.openxmlformats.org/drawingml/2006/main">
            <a:srgbClr val="C9A84C"/>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6" name="sa5"/>
          <p:cNvSpPr/>
          <p:nvPr/>
        </p:nvSpPr>
        <p:spPr>
          <a:xfrm xmlns:a="http://schemas.openxmlformats.org/drawingml/2006/main">
            <a:off x="720000" y="3060000"/>
            <a:ext cx="1440000" cy="1440000"/>
          </a:xfrm>
          <a:custGeom xmlns:a="http://schemas.openxmlformats.org/drawingml/2006/main">
            <a:avLst/>
            <a:gdLst/>
            <a:ahLst/>
            <a:cxnLst/>
            <a:rect l="0" t="0" r="r" b="b"/>
            <a:pathLst>
              <a:path w="92" h="92">
                <a:moveTo>
                  <a:pt x="50" y="8"/>
                </a:moveTo>
                <a:lnTo>
                  <a:pt x="92" y="50"/>
                </a:lnTo>
                <a:lnTo>
                  <a:pt x="50" y="92"/>
                </a:lnTo>
                <a:lnTo>
                  <a:pt x="8" y="50"/>
                </a:lnTo>
                <a:close/>
              </a:path>
            </a:pathLst>
          </a:custGeom>
          <a:solidFill xmlns:a="http://schemas.openxmlformats.org/drawingml/2006/main">
            <a:srgbClr val="C9A84C">
              <a:alpha val="20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7" name="sa6"/>
          <p:cNvSpPr/>
          <p:nvPr/>
        </p:nvSpPr>
        <p:spPr>
          <a:xfrm xmlns:a="http://schemas.openxmlformats.org/drawingml/2006/main">
            <a:off x="11520000" y="720000"/>
            <a:ext cx="360000" cy="360000"/>
          </a:xfrm>
          <a:prstGeom xmlns:a="http://schemas.openxmlformats.org/drawingml/2006/main" prst="ellipse">
            <a:avLst/>
          </a:prstGeom>
          <a:solidFill xmlns:a="http://schemas.openxmlformats.org/drawingml/2006/main">
            <a:srgbClr val="C9A84C">
              <a:alpha val="40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8" name="hl_tag"/>
          <p:cNvSpPr/>
          <p:nvPr/>
        </p:nvSpPr>
        <p:spPr>
          <a:xfrm xmlns:a="http://schemas.openxmlformats.org/drawingml/2006/main">
            <a:off x="432000" y="360000"/>
            <a:ext cx="1800000" cy="108000"/>
          </a:xfrm>
          <a:prstGeom xmlns:a="http://schemas.openxmlformats.org/drawingml/2006/main" prst="rect">
            <a:avLst/>
          </a:prstGeom>
          <a:solidFill xmlns:a="http://schemas.openxmlformats.org/drawingml/2006/main">
            <a:srgbClr val="C9A84C"/>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9" name="hl_tag_txt"/>
          <p:cNvSpPr/>
          <p:nvPr/>
        </p:nvSpPr>
        <p:spPr>
          <a:xfrm xmlns:a="http://schemas.openxmlformats.org/drawingml/2006/main">
            <a:off x="432000" y="360000"/>
            <a:ext cx="1800000" cy="25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1000" b="1">
                <a:solidFill>
                  <a:srgbClr val="080A0E"/>
                </a:solidFill>
                <a:latin typeface="Aptos"/>
                <a:ea typeface="Aptos"/>
              </a:rPr>
              <a:t>NEXT STEPS</a:t>
            </a:r>
          </a:p>
        </p:txBody>
      </p:sp>
      <p:sp>
        <p:nvSpPr>
          <p:cNvPr id="10" name="hl_title"/>
          <p:cNvSpPr/>
          <p:nvPr/>
        </p:nvSpPr>
        <p:spPr>
          <a:xfrm xmlns:a="http://schemas.openxmlformats.org/drawingml/2006/main">
            <a:off x="432000" y="540000"/>
            <a:ext cx="11328000" cy="108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3800" b="0">
                <a:solidFill>
                  <a:srgbClr val="F2F0E8"/>
                </a:solidFill>
                <a:latin typeface="Aptos Display"/>
                <a:ea typeface="Aptos Display"/>
              </a:rPr>
              <a:t>Immediate action items</a:t>
            </a:r>
          </a:p>
        </p:txBody>
      </p:sp>
      <p:sp>
        <p:nvSpPr>
          <p:cNvPr id="11" name="hl_sub"/>
          <p:cNvSpPr/>
          <p:nvPr/>
        </p:nvSpPr>
        <p:spPr>
          <a:xfrm xmlns:a="http://schemas.openxmlformats.org/drawingml/2006/main">
            <a:off x="432000" y="1692000"/>
            <a:ext cx="11328000" cy="50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1800">
                <a:solidFill>
                  <a:srgbClr val="A8A090"/>
                </a:solidFill>
                <a:latin typeface="Aptos"/>
                <a:ea typeface="Aptos"/>
              </a:rPr>
              <a:t>Ownership and dates for the three items that unblock everything else.</a:t>
            </a:r>
          </a:p>
        </p:txBody>
      </p:sp>
      <p:sp>
        <p:nvSpPr>
          <p:cNvPr id="12" name="co_abg0"/>
          <p:cNvSpPr/>
          <p:nvPr/>
        </p:nvSpPr>
        <p:spPr>
          <a:xfrm xmlns:a="http://schemas.openxmlformats.org/drawingml/2006/main">
            <a:off x="432000" y="2304000"/>
            <a:ext cx="11328000" cy="1260000"/>
          </a:xfrm>
          <a:prstGeom xmlns:a="http://schemas.openxmlformats.org/drawingml/2006/main" prst="rect">
            <a:avLst/>
          </a:prstGeom>
          <a:solidFill xmlns:a="http://schemas.openxmlformats.org/drawingml/2006/main">
            <a:srgbClr val="141A20"/>
          </a:solidFill>
          <a:ln xmlns:a="http://schemas.openxmlformats.org/drawingml/2006/main" w="1">
            <a:solidFill>
              <a:srgbClr val="252820"/>
            </a:solidFill>
          </a:ln>
        </p:spPr>
        <p:txBody>
          <a:bodyPr xmlns:a="http://schemas.openxmlformats.org/drawingml/2006/main"/>
          <a:lstStyle xmlns:a="http://schemas.openxmlformats.org/drawingml/2006/main"/>
          <a:p xmlns:a="http://schemas.openxmlformats.org/drawingml/2006/main">
            <a:r>
              <a:rPr lang="en-US"/>
              <a:t/>
            </a:r>
          </a:p>
        </p:txBody>
      </p:sp>
      <p:sp>
        <p:nvSpPr>
          <p:cNvPr id="13" name="co_abar0"/>
          <p:cNvSpPr/>
          <p:nvPr/>
        </p:nvSpPr>
        <p:spPr>
          <a:xfrm xmlns:a="http://schemas.openxmlformats.org/drawingml/2006/main">
            <a:off x="432000" y="2304000"/>
            <a:ext cx="144000" cy="1260000"/>
          </a:xfrm>
          <a:prstGeom xmlns:a="http://schemas.openxmlformats.org/drawingml/2006/main" prst="rect">
            <a:avLst/>
          </a:prstGeom>
          <a:solidFill xmlns:a="http://schemas.openxmlformats.org/drawingml/2006/main">
            <a:srgbClr val="C9A84C"/>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14" name="co_aico0"/>
          <p:cNvSpPr/>
          <p:nvPr/>
        </p:nvSpPr>
        <p:spPr>
          <a:xfrm xmlns:a="http://schemas.openxmlformats.org/drawingml/2006/main">
            <a:off x="792000" y="2664000"/>
            <a:ext cx="540000" cy="540000"/>
          </a:xfrm>
          <a:custGeom xmlns:a="http://schemas.openxmlformats.org/drawingml/2006/main">
            <a:avLst/>
            <a:gdLst/>
            <a:ahLst/>
            <a:cxnLst/>
            <a:rect l="0" t="0" r="r" b="b"/>
            <a:pathLst>
              <a:path w="82" h="72">
                <a:moveTo>
                  <a:pt x="15" y="50"/>
                </a:moveTo>
                <a:lnTo>
                  <a:pt x="38" y="72"/>
                </a:lnTo>
                <a:lnTo>
                  <a:pt x="82" y="22"/>
                </a:lnTo>
              </a:path>
            </a:pathLst>
          </a:custGeom>
          <a:noFill xmlns:a="http://schemas.openxmlformats.org/drawingml/2006/main"/>
          <a:ln xmlns:a="http://schemas.openxmlformats.org/drawingml/2006/main" w="7">
            <a:solidFill>
              <a:srgbClr val="C9A84C"/>
            </a:solidFill>
          </a:ln>
        </p:spPr>
        <p:txBody>
          <a:bodyPr xmlns:a="http://schemas.openxmlformats.org/drawingml/2006/main"/>
          <a:lstStyle xmlns:a="http://schemas.openxmlformats.org/drawingml/2006/main"/>
          <a:p xmlns:a="http://schemas.openxmlformats.org/drawingml/2006/main">
            <a:r>
              <a:rPr lang="en-US"/>
              <a:t/>
            </a:r>
          </a:p>
        </p:txBody>
      </p:sp>
      <p:sp>
        <p:nvSpPr>
          <p:cNvPr id="15" name="co_atit0"/>
          <p:cNvSpPr/>
          <p:nvPr/>
        </p:nvSpPr>
        <p:spPr>
          <a:xfrm xmlns:a="http://schemas.openxmlformats.org/drawingml/2006/main">
            <a:off x="1512000" y="2484000"/>
            <a:ext cx="8640000" cy="50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2000" b="0">
                <a:solidFill>
                  <a:srgbClr val="F2F0E8"/>
                </a:solidFill>
                <a:latin typeface="Aptos Display"/>
                <a:ea typeface="Aptos Display"/>
              </a:rPr>
              <a:t>Confirm topic, stack and lanes with the group</a:t>
            </a:r>
          </a:p>
        </p:txBody>
      </p:sp>
      <p:sp>
        <p:nvSpPr>
          <p:cNvPr id="16" name="co_aown0_ico"/>
          <p:cNvSpPr/>
          <p:nvPr/>
        </p:nvSpPr>
        <p:spPr>
          <a:xfrm xmlns:a="http://schemas.openxmlformats.org/drawingml/2006/main">
            <a:off x="1512000" y="3114000"/>
            <a:ext cx="540000" cy="540000"/>
          </a:xfrm>
          <a:custGeom xmlns:a="http://schemas.openxmlformats.org/drawingml/2006/main">
            <a:avLst/>
            <a:gdLst/>
            <a:ahLst/>
            <a:cxnLst/>
            <a:rect l="0" t="0" r="r" b="b"/>
            <a:pathLst>
              <a:path w="92" h="92">
                <a:moveTo>
                  <a:pt x="50" y="8"/>
                </a:moveTo>
                <a:lnTo>
                  <a:pt x="92" y="50"/>
                </a:lnTo>
                <a:lnTo>
                  <a:pt x="50" y="92"/>
                </a:lnTo>
                <a:lnTo>
                  <a:pt x="8" y="50"/>
                </a:lnTo>
                <a:close/>
              </a:path>
            </a:pathLst>
          </a:custGeom>
          <a:noFill xmlns:a="http://schemas.openxmlformats.org/drawingml/2006/main"/>
          <a:ln xmlns:a="http://schemas.openxmlformats.org/drawingml/2006/main" w="6">
            <a:solidFill>
              <a:srgbClr val="C9A84C"/>
            </a:solidFill>
          </a:ln>
        </p:spPr>
        <p:txBody>
          <a:bodyPr xmlns:a="http://schemas.openxmlformats.org/drawingml/2006/main"/>
          <a:lstStyle xmlns:a="http://schemas.openxmlformats.org/drawingml/2006/main"/>
          <a:p xmlns:a="http://schemas.openxmlformats.org/drawingml/2006/main">
            <a:r>
              <a:rPr lang="en-US"/>
              <a:t/>
            </a:r>
          </a:p>
        </p:txBody>
      </p:sp>
      <p:sp>
        <p:nvSpPr>
          <p:cNvPr id="17" name="co_aown0_txt"/>
          <p:cNvSpPr/>
          <p:nvPr/>
        </p:nvSpPr>
        <p:spPr>
          <a:xfrm xmlns:a="http://schemas.openxmlformats.org/drawingml/2006/main">
            <a:off x="2232000" y="3060000"/>
            <a:ext cx="432000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1300">
                <a:solidFill>
                  <a:srgbClr val="6A6458"/>
                </a:solidFill>
                <a:latin typeface="Calibri"/>
                <a:ea typeface="Calibri"/>
              </a:rPr>
              <a:t>Operator + group</a:t>
            </a:r>
          </a:p>
        </p:txBody>
      </p:sp>
      <p:sp>
        <p:nvSpPr>
          <p:cNvPr id="18" name="co_adtbg0"/>
          <p:cNvSpPr/>
          <p:nvPr/>
        </p:nvSpPr>
        <p:spPr>
          <a:xfrm xmlns:a="http://schemas.openxmlformats.org/drawingml/2006/main">
            <a:off x="9240000" y="2700000"/>
            <a:ext cx="2520000" cy="468000"/>
          </a:xfrm>
          <a:prstGeom xmlns:a="http://schemas.openxmlformats.org/drawingml/2006/main" prst="rect">
            <a:avLst/>
          </a:prstGeom>
          <a:solidFill xmlns:a="http://schemas.openxmlformats.org/drawingml/2006/main">
            <a:srgbClr val="C9A84C">
              <a:alpha val="15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19" name="co_adt0"/>
          <p:cNvSpPr/>
          <p:nvPr/>
        </p:nvSpPr>
        <p:spPr>
          <a:xfrm xmlns:a="http://schemas.openxmlformats.org/drawingml/2006/main">
            <a:off x="9240000" y="2700000"/>
            <a:ext cx="2520000" cy="46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1500" b="1">
                <a:solidFill>
                  <a:srgbClr val="C9A84C"/>
                </a:solidFill>
                <a:latin typeface="Aptos"/>
                <a:ea typeface="Aptos"/>
              </a:rPr>
              <a:t>This week</a:t>
            </a:r>
          </a:p>
        </p:txBody>
      </p:sp>
      <p:sp>
        <p:nvSpPr>
          <p:cNvPr id="20" name="co_abg1"/>
          <p:cNvSpPr/>
          <p:nvPr/>
        </p:nvSpPr>
        <p:spPr>
          <a:xfrm xmlns:a="http://schemas.openxmlformats.org/drawingml/2006/main">
            <a:off x="432000" y="3744000"/>
            <a:ext cx="11328000" cy="1260000"/>
          </a:xfrm>
          <a:prstGeom xmlns:a="http://schemas.openxmlformats.org/drawingml/2006/main" prst="rect">
            <a:avLst/>
          </a:prstGeom>
          <a:solidFill xmlns:a="http://schemas.openxmlformats.org/drawingml/2006/main">
            <a:srgbClr val="141A20"/>
          </a:solidFill>
          <a:ln xmlns:a="http://schemas.openxmlformats.org/drawingml/2006/main" w="1">
            <a:solidFill>
              <a:srgbClr val="252820"/>
            </a:solidFill>
          </a:ln>
        </p:spPr>
        <p:txBody>
          <a:bodyPr xmlns:a="http://schemas.openxmlformats.org/drawingml/2006/main"/>
          <a:lstStyle xmlns:a="http://schemas.openxmlformats.org/drawingml/2006/main"/>
          <a:p xmlns:a="http://schemas.openxmlformats.org/drawingml/2006/main">
            <a:r>
              <a:rPr lang="en-US"/>
              <a:t/>
            </a:r>
          </a:p>
        </p:txBody>
      </p:sp>
      <p:sp>
        <p:nvSpPr>
          <p:cNvPr id="21" name="co_abar1"/>
          <p:cNvSpPr/>
          <p:nvPr/>
        </p:nvSpPr>
        <p:spPr>
          <a:xfrm xmlns:a="http://schemas.openxmlformats.org/drawingml/2006/main">
            <a:off x="432000" y="3744000"/>
            <a:ext cx="144000" cy="1260000"/>
          </a:xfrm>
          <a:prstGeom xmlns:a="http://schemas.openxmlformats.org/drawingml/2006/main" prst="rect">
            <a:avLst/>
          </a:prstGeom>
          <a:solidFill xmlns:a="http://schemas.openxmlformats.org/drawingml/2006/main">
            <a:srgbClr val="8BC94A"/>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22" name="co_aico1"/>
          <p:cNvSpPr/>
          <p:nvPr/>
        </p:nvSpPr>
        <p:spPr>
          <a:xfrm xmlns:a="http://schemas.openxmlformats.org/drawingml/2006/main">
            <a:off x="792000" y="4104000"/>
            <a:ext cx="540000" cy="540000"/>
          </a:xfrm>
          <a:custGeom xmlns:a="http://schemas.openxmlformats.org/drawingml/2006/main">
            <a:avLst/>
            <a:gdLst/>
            <a:ahLst/>
            <a:cxnLst/>
            <a:rect l="0" t="0" r="r" b="b"/>
            <a:pathLst>
              <a:path w="82" h="72">
                <a:moveTo>
                  <a:pt x="15" y="50"/>
                </a:moveTo>
                <a:lnTo>
                  <a:pt x="38" y="72"/>
                </a:lnTo>
                <a:lnTo>
                  <a:pt x="82" y="22"/>
                </a:lnTo>
              </a:path>
            </a:pathLst>
          </a:custGeom>
          <a:noFill xmlns:a="http://schemas.openxmlformats.org/drawingml/2006/main"/>
          <a:ln xmlns:a="http://schemas.openxmlformats.org/drawingml/2006/main" w="7">
            <a:solidFill>
              <a:srgbClr val="8BC94A"/>
            </a:solidFill>
          </a:ln>
        </p:spPr>
        <p:txBody>
          <a:bodyPr xmlns:a="http://schemas.openxmlformats.org/drawingml/2006/main"/>
          <a:lstStyle xmlns:a="http://schemas.openxmlformats.org/drawingml/2006/main"/>
          <a:p xmlns:a="http://schemas.openxmlformats.org/drawingml/2006/main">
            <a:r>
              <a:rPr lang="en-US"/>
              <a:t/>
            </a:r>
          </a:p>
        </p:txBody>
      </p:sp>
      <p:sp>
        <p:nvSpPr>
          <p:cNvPr id="23" name="co_atit1"/>
          <p:cNvSpPr/>
          <p:nvPr/>
        </p:nvSpPr>
        <p:spPr>
          <a:xfrm xmlns:a="http://schemas.openxmlformats.org/drawingml/2006/main">
            <a:off x="1512000" y="3924000"/>
            <a:ext cx="8640000" cy="50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2000" b="0">
                <a:solidFill>
                  <a:srgbClr val="F2F0E8"/>
                </a:solidFill>
                <a:latin typeface="Aptos Display"/>
                <a:ea typeface="Aptos Display"/>
              </a:rPr>
              <a:t>Capture Canvas project page and midterm date</a:t>
            </a:r>
          </a:p>
        </p:txBody>
      </p:sp>
      <p:sp>
        <p:nvSpPr>
          <p:cNvPr id="24" name="co_aown1_ico"/>
          <p:cNvSpPr/>
          <p:nvPr/>
        </p:nvSpPr>
        <p:spPr>
          <a:xfrm xmlns:a="http://schemas.openxmlformats.org/drawingml/2006/main">
            <a:off x="1512000" y="4554000"/>
            <a:ext cx="540000" cy="540000"/>
          </a:xfrm>
          <a:custGeom xmlns:a="http://schemas.openxmlformats.org/drawingml/2006/main">
            <a:avLst/>
            <a:gdLst/>
            <a:ahLst/>
            <a:cxnLst/>
            <a:rect l="0" t="0" r="r" b="b"/>
            <a:pathLst>
              <a:path w="92" h="92">
                <a:moveTo>
                  <a:pt x="50" y="8"/>
                </a:moveTo>
                <a:lnTo>
                  <a:pt x="92" y="50"/>
                </a:lnTo>
                <a:lnTo>
                  <a:pt x="50" y="92"/>
                </a:lnTo>
                <a:lnTo>
                  <a:pt x="8" y="50"/>
                </a:lnTo>
                <a:close/>
              </a:path>
            </a:pathLst>
          </a:custGeom>
          <a:noFill xmlns:a="http://schemas.openxmlformats.org/drawingml/2006/main"/>
          <a:ln xmlns:a="http://schemas.openxmlformats.org/drawingml/2006/main" w="6">
            <a:solidFill>
              <a:srgbClr val="8BC94A"/>
            </a:solidFill>
          </a:ln>
        </p:spPr>
        <p:txBody>
          <a:bodyPr xmlns:a="http://schemas.openxmlformats.org/drawingml/2006/main"/>
          <a:lstStyle xmlns:a="http://schemas.openxmlformats.org/drawingml/2006/main"/>
          <a:p xmlns:a="http://schemas.openxmlformats.org/drawingml/2006/main">
            <a:r>
              <a:rPr lang="en-US"/>
              <a:t/>
            </a:r>
          </a:p>
        </p:txBody>
      </p:sp>
      <p:sp>
        <p:nvSpPr>
          <p:cNvPr id="25" name="co_aown1_txt"/>
          <p:cNvSpPr/>
          <p:nvPr/>
        </p:nvSpPr>
        <p:spPr>
          <a:xfrm xmlns:a="http://schemas.openxmlformats.org/drawingml/2006/main">
            <a:off x="2232000" y="4500000"/>
            <a:ext cx="432000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1300">
                <a:solidFill>
                  <a:srgbClr val="6A6458"/>
                </a:solidFill>
                <a:latin typeface="Calibri"/>
                <a:ea typeface="Calibri"/>
              </a:rPr>
              <a:t>Operator</a:t>
            </a:r>
          </a:p>
        </p:txBody>
      </p:sp>
      <p:sp>
        <p:nvSpPr>
          <p:cNvPr id="26" name="co_adtbg1"/>
          <p:cNvSpPr/>
          <p:nvPr/>
        </p:nvSpPr>
        <p:spPr>
          <a:xfrm xmlns:a="http://schemas.openxmlformats.org/drawingml/2006/main">
            <a:off x="9240000" y="4140000"/>
            <a:ext cx="2520000" cy="468000"/>
          </a:xfrm>
          <a:prstGeom xmlns:a="http://schemas.openxmlformats.org/drawingml/2006/main" prst="rect">
            <a:avLst/>
          </a:prstGeom>
          <a:solidFill xmlns:a="http://schemas.openxmlformats.org/drawingml/2006/main">
            <a:srgbClr val="8BC94A">
              <a:alpha val="15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27" name="co_adt1"/>
          <p:cNvSpPr/>
          <p:nvPr/>
        </p:nvSpPr>
        <p:spPr>
          <a:xfrm xmlns:a="http://schemas.openxmlformats.org/drawingml/2006/main">
            <a:off x="9240000" y="4140000"/>
            <a:ext cx="2520000" cy="46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1500" b="1">
                <a:solidFill>
                  <a:srgbClr val="8BC94A"/>
                </a:solidFill>
                <a:latin typeface="Aptos"/>
                <a:ea typeface="Aptos"/>
              </a:rPr>
              <a:t>Sep 2026</a:t>
            </a:r>
          </a:p>
        </p:txBody>
      </p:sp>
      <p:sp>
        <p:nvSpPr>
          <p:cNvPr id="28" name="co_abg2"/>
          <p:cNvSpPr/>
          <p:nvPr/>
        </p:nvSpPr>
        <p:spPr>
          <a:xfrm xmlns:a="http://schemas.openxmlformats.org/drawingml/2006/main">
            <a:off x="432000" y="5184000"/>
            <a:ext cx="11328000" cy="1260000"/>
          </a:xfrm>
          <a:prstGeom xmlns:a="http://schemas.openxmlformats.org/drawingml/2006/main" prst="rect">
            <a:avLst/>
          </a:prstGeom>
          <a:solidFill xmlns:a="http://schemas.openxmlformats.org/drawingml/2006/main">
            <a:srgbClr val="141A20"/>
          </a:solidFill>
          <a:ln xmlns:a="http://schemas.openxmlformats.org/drawingml/2006/main" w="1">
            <a:solidFill>
              <a:srgbClr val="252820"/>
            </a:solidFill>
          </a:ln>
        </p:spPr>
        <p:txBody>
          <a:bodyPr xmlns:a="http://schemas.openxmlformats.org/drawingml/2006/main"/>
          <a:lstStyle xmlns:a="http://schemas.openxmlformats.org/drawingml/2006/main"/>
          <a:p xmlns:a="http://schemas.openxmlformats.org/drawingml/2006/main">
            <a:r>
              <a:rPr lang="en-US"/>
              <a:t/>
            </a:r>
          </a:p>
        </p:txBody>
      </p:sp>
      <p:sp>
        <p:nvSpPr>
          <p:cNvPr id="29" name="co_abar2"/>
          <p:cNvSpPr/>
          <p:nvPr/>
        </p:nvSpPr>
        <p:spPr>
          <a:xfrm xmlns:a="http://schemas.openxmlformats.org/drawingml/2006/main">
            <a:off x="432000" y="5184000"/>
            <a:ext cx="144000" cy="1260000"/>
          </a:xfrm>
          <a:prstGeom xmlns:a="http://schemas.openxmlformats.org/drawingml/2006/main" prst="rect">
            <a:avLst/>
          </a:prstGeom>
          <a:solidFill xmlns:a="http://schemas.openxmlformats.org/drawingml/2006/main">
            <a:srgbClr val="6A6458"/>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30" name="co_aico2"/>
          <p:cNvSpPr/>
          <p:nvPr/>
        </p:nvSpPr>
        <p:spPr>
          <a:xfrm xmlns:a="http://schemas.openxmlformats.org/drawingml/2006/main">
            <a:off x="792000" y="5544000"/>
            <a:ext cx="540000" cy="540000"/>
          </a:xfrm>
          <a:custGeom xmlns:a="http://schemas.openxmlformats.org/drawingml/2006/main">
            <a:avLst/>
            <a:gdLst/>
            <a:ahLst/>
            <a:cxnLst/>
            <a:rect l="0" t="0" r="r" b="b"/>
            <a:pathLst>
              <a:path w="82" h="72">
                <a:moveTo>
                  <a:pt x="15" y="50"/>
                </a:moveTo>
                <a:lnTo>
                  <a:pt x="38" y="72"/>
                </a:lnTo>
                <a:lnTo>
                  <a:pt x="82" y="22"/>
                </a:lnTo>
              </a:path>
            </a:pathLst>
          </a:custGeom>
          <a:noFill xmlns:a="http://schemas.openxmlformats.org/drawingml/2006/main"/>
          <a:ln xmlns:a="http://schemas.openxmlformats.org/drawingml/2006/main" w="7">
            <a:solidFill>
              <a:srgbClr val="6A6458"/>
            </a:solidFill>
          </a:ln>
        </p:spPr>
        <p:txBody>
          <a:bodyPr xmlns:a="http://schemas.openxmlformats.org/drawingml/2006/main"/>
          <a:lstStyle xmlns:a="http://schemas.openxmlformats.org/drawingml/2006/main"/>
          <a:p xmlns:a="http://schemas.openxmlformats.org/drawingml/2006/main">
            <a:r>
              <a:rPr lang="en-US"/>
              <a:t/>
            </a:r>
          </a:p>
        </p:txBody>
      </p:sp>
      <p:sp>
        <p:nvSpPr>
          <p:cNvPr id="31" name="co_atit2"/>
          <p:cNvSpPr/>
          <p:nvPr/>
        </p:nvSpPr>
        <p:spPr>
          <a:xfrm xmlns:a="http://schemas.openxmlformats.org/drawingml/2006/main">
            <a:off x="1512000" y="5364000"/>
            <a:ext cx="8640000" cy="50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2000" b="0">
                <a:solidFill>
                  <a:srgbClr val="F2F0E8"/>
                </a:solidFill>
                <a:latin typeface="Aptos Display"/>
                <a:ea typeface="Aptos Display"/>
              </a:rPr>
              <a:t>Grow evaluation corpus to 30 attacks + 30 benign</a:t>
            </a:r>
          </a:p>
        </p:txBody>
      </p:sp>
      <p:sp>
        <p:nvSpPr>
          <p:cNvPr id="32" name="co_aown2_ico"/>
          <p:cNvSpPr/>
          <p:nvPr/>
        </p:nvSpPr>
        <p:spPr>
          <a:xfrm xmlns:a="http://schemas.openxmlformats.org/drawingml/2006/main">
            <a:off x="1512000" y="5904000"/>
            <a:ext cx="540000" cy="540000"/>
          </a:xfrm>
          <a:custGeom xmlns:a="http://schemas.openxmlformats.org/drawingml/2006/main">
            <a:avLst/>
            <a:gdLst/>
            <a:ahLst/>
            <a:cxnLst/>
            <a:rect l="0" t="0" r="r" b="b"/>
            <a:pathLst>
              <a:path w="92" h="92">
                <a:moveTo>
                  <a:pt x="50" y="8"/>
                </a:moveTo>
                <a:lnTo>
                  <a:pt x="92" y="50"/>
                </a:lnTo>
                <a:lnTo>
                  <a:pt x="50" y="92"/>
                </a:lnTo>
                <a:lnTo>
                  <a:pt x="8" y="50"/>
                </a:lnTo>
                <a:close/>
              </a:path>
            </a:pathLst>
          </a:custGeom>
          <a:noFill xmlns:a="http://schemas.openxmlformats.org/drawingml/2006/main"/>
          <a:ln xmlns:a="http://schemas.openxmlformats.org/drawingml/2006/main" w="6">
            <a:solidFill>
              <a:srgbClr val="6A6458"/>
            </a:solidFill>
          </a:ln>
        </p:spPr>
        <p:txBody>
          <a:bodyPr xmlns:a="http://schemas.openxmlformats.org/drawingml/2006/main"/>
          <a:lstStyle xmlns:a="http://schemas.openxmlformats.org/drawingml/2006/main"/>
          <a:p xmlns:a="http://schemas.openxmlformats.org/drawingml/2006/main">
            <a:r>
              <a:rPr lang="en-US"/>
              <a:t/>
            </a:r>
          </a:p>
        </p:txBody>
      </p:sp>
      <p:sp>
        <p:nvSpPr>
          <p:cNvPr id="33" name="co_aown2_txt"/>
          <p:cNvSpPr/>
          <p:nvPr/>
        </p:nvSpPr>
        <p:spPr>
          <a:xfrm xmlns:a="http://schemas.openxmlformats.org/drawingml/2006/main">
            <a:off x="2232000" y="5940000"/>
            <a:ext cx="432000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1300">
                <a:solidFill>
                  <a:srgbClr val="6A6458"/>
                </a:solidFill>
                <a:latin typeface="Calibri"/>
                <a:ea typeface="Calibri"/>
              </a:rPr>
              <a:t>All team members</a:t>
            </a:r>
          </a:p>
        </p:txBody>
      </p:sp>
      <p:sp>
        <p:nvSpPr>
          <p:cNvPr id="34" name="co_adtbg2"/>
          <p:cNvSpPr/>
          <p:nvPr/>
        </p:nvSpPr>
        <p:spPr>
          <a:xfrm xmlns:a="http://schemas.openxmlformats.org/drawingml/2006/main">
            <a:off x="9240000" y="5580000"/>
            <a:ext cx="2520000" cy="468000"/>
          </a:xfrm>
          <a:prstGeom xmlns:a="http://schemas.openxmlformats.org/drawingml/2006/main" prst="rect">
            <a:avLst/>
          </a:prstGeom>
          <a:solidFill xmlns:a="http://schemas.openxmlformats.org/drawingml/2006/main">
            <a:srgbClr val="6A6458">
              <a:alpha val="15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35" name="co_adt2"/>
          <p:cNvSpPr/>
          <p:nvPr/>
        </p:nvSpPr>
        <p:spPr>
          <a:xfrm xmlns:a="http://schemas.openxmlformats.org/drawingml/2006/main">
            <a:off x="9240000" y="5580000"/>
            <a:ext cx="2520000" cy="46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r>
              <a:rPr lang="en-US" sz="1500" b="1">
                <a:solidFill>
                  <a:srgbClr val="6A6458"/>
                </a:solidFill>
                <a:latin typeface="Aptos"/>
                <a:ea typeface="Aptos"/>
              </a:rPr>
              <a:t>Oct 2026</a:t>
            </a:r>
          </a:p>
        </p:txBody>
      </p:sp>
      <p:sp>
        <p:nvSpPr>
          <p:cNvPr id="36" name="co_cline"/>
          <p:cNvSpPr/>
          <p:nvPr/>
        </p:nvSpPr>
        <p:spPr>
          <a:xfrm xmlns:a="http://schemas.openxmlformats.org/drawingml/2006/main">
            <a:off x="432000" y="6480000"/>
            <a:ext cx="11328000" cy="72000"/>
          </a:xfrm>
          <a:prstGeom xmlns:a="http://schemas.openxmlformats.org/drawingml/2006/main" prst="rect">
            <a:avLst/>
          </a:prstGeom>
          <a:solidFill xmlns:a="http://schemas.openxmlformats.org/drawingml/2006/main">
            <a:srgbClr val="C9A84C"/>
          </a:solidFill>
          <a:ln xmlns:a="http://schemas.openxmlformats.org/drawingml/2006/main">
            <a:noFill/>
          </a:ln>
        </p:spPr>
        <p:txBody>
          <a:bodyPr xmlns:a="http://schemas.openxmlformats.org/drawingml/2006/main"/>
          <a:lstStyle xmlns:a="http://schemas.openxmlformats.org/drawingml/2006/main"/>
          <a:p xmlns:a="http://schemas.openxmlformats.org/drawingml/2006/main">
            <a:r>
              <a:rPr lang="en-US"/>
              <a:t/>
            </a:r>
          </a:p>
        </p:txBody>
      </p:sp>
      <p:sp>
        <p:nvSpPr>
          <p:cNvPr id="100013" name="!!Footer8"/>
          <p:cNvSpPr txBox="1"/>
          <p:nvPr/>
        </p:nvSpPr>
        <p:spPr>
          <a:xfrm>
            <a:off x="822960" y="6502400"/>
            <a:ext cx="3810000" cy="252000"/>
          </a:xfrm>
          <a:prstGeom prst="rect">
            <a:avLst/>
          </a:prstGeom>
          <a:noFill/>
          <a:ln>
            <a:noFill/>
          </a:ln>
        </p:spPr>
        <p:txBody>
          <a:bodyPr/>
          <a:lstStyle/>
          <a:p>
            <a:pPr algn="l"/>
            <a:r>
              <a:rPr lang="en-US" sz="1000">
                <a:solidFill>
                  <a:srgbClr val="8899BB"/>
                </a:solidFill>
                <a:latin typeface="Calibri"/>
                <a:ea typeface="Calibri"/>
              </a:rPr>
              <a:t>QueryGuard · CS 5391 Group Project Proposal</a:t>
            </a:r>
          </a:p>
        </p:txBody>
      </p:sp>
    </p:spTree>
  </p:cSld>
  <mc:AlternateContent xmlns:p159="http://schemas.microsoft.com/office/powerpoint/2015/09/main" xmlns:p="http://schemas.openxmlformats.org/presentationml/2006/main" xmlns:mc="http://schemas.openxmlformats.org/markup-compatibility/2006">
    <mc:Choice Requires="p159">
      <p:transition>
        <p159:morph option="byObject"/>
      </p:transition>
    </mc:Choice>
    <mc:Fallback>
      <p:transition>
        <p:fade/>
      </p:transition>
    </mc:Fallback>
  </mc:AlternateContent>
</p:sld>
</file>

<file path=ppt/theme/theme1.xml><?xml version="1.0" encoding="utf-8"?>
<a:theme xmlns:a="http://schemas.openxmlformats.org/drawingml/2006/main" name="Office Theme">
  <a:themeElements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1.0.146</vt:lpwstr>
  </op:property>
  <op:property fmtid="{D5CDD505-2E9C-101B-9397-08002B2CF9AE}" pid="3" name="OfficeCLI.LastModified">
    <vt:lpwstr xmlns:vt="http://schemas.openxmlformats.org/officeDocument/2006/docPropsVTypes">2026-09-03T12:49:58Z</vt:lpwstr>
  </op:property>
</op:Properties>
</file>