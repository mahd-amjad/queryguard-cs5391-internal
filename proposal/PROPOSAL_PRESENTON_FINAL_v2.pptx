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Default Extension="jpg" ContentType="image/jpeg"/>
  <Default Extension="mp4" ContentType="video/mp4"/>
  <Default Extension="svg" ContentType="image/svg+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docProps/custom.xml" ContentType="application/vnd.openxmlformats-officedocument.custom-properties+xml"/>
</Types>
</file>

<file path=_rels/.rels>&#65279;<?xml version="1.0" encoding="utf-8"?><Relationships xmlns="http://schemas.openxmlformats.org/package/2006/relationships"><Relationship Type="http://schemas.openxmlformats.org/officeDocument/2006/relationships/officeDocument" Target="ppt/presentation.xml" Id="rId1" /><Relationship Type="http://schemas.openxmlformats.org/package/2006/relationships/metadata/core-properties" Target="docProps/core.xml" Id="rId2" /><Relationship Type="http://schemas.openxmlformats.org/officeDocument/2006/relationships/extended-properties" Target="docProps/app.xml" Id="rId3" /><Relationship Type="http://schemas.openxmlformats.org/officeDocument/2006/relationships/custom-properties" Target="/docProps/custom.xml" Id="Rab2a71beec2b4928"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Welcome everyone. Today we present QueryGuard, a safety gate for LLM-generated SQL. We will explain why a validation gate is needed, the gap in existing defenses, and how our pipeline works. Mahd and Arwa each lead a workstream, and we close with our planned evaluation and the course roadmap.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frames the threat landscape. Users type plain-English questions, frameworks forward LLM-generated SQL directly to databases, and real CVEs show the consequences: Vanna AI remote code execution at CVSS 8.1, LlamaIndex NL2SQL exploitation at 9.8, and AnythingLLM data extraction at 7.7. We close with the research baseline that 96 percent of manual prompt-injection attacks succeed against undefended pipelines, which motivates our planned evaluation.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explains why a new layer of defense is needed. Model-side fixes such as StruQ and SecAlign demand retraining or fine-tuning, which is costly and inflexible. Generic guardrails like NVIDIA NeMo Guardrails and Guardrails AI operate as opaque, schema-unaware classifiers. Neither offers a transparent, deterministic, SQL-specific check. QueryGuard is planned to occupy exactly this position, at the application layer between the LLM and the database.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presents our planned QueryGuard solution as a five-stage pipeline at the application layer. Queries enter through intake, are generated by the LLM or a deterministic mock, and must pass the validation gate. Only gate-passed queries reach the read-only executor, and every outcome lands in the append-only audit log. Because the trust boundary is architectural rather than advisory, no query can bypass the gate, and each stage stays inspectable for review.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Inside the validation gate, ten deterministic rules evaluate every generated query before it moves forward. Each query exits with a PASS or BLOCK verdict plus the specific rule that fired, sensitive columns can be MASKED, and missing limits are SUGGESTED. The read-only executor accepts only gate-passed queries, so enforcement depends on architecture rather than on the model behaving well.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introduces our two-member team and how the planned work is divided. M. Mahd Amjad leads the validation gate rule engine at forty percent, plus the evaluation harness, corpus, and CI at twenty percent. Arwa Arafeh owns the web application UI and API along with documentation and decisions, each at twenty percent. Paired ownership keeps both members engaged across all four workstreams.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frames evaluation as planned work, not finished results. The corpus holds 30 attack and 30 benign prompts across six published attack classes. Targets: full blocking of destructive classes, false positives under ten percent reported openly, p95 added gate latency under fifty milliseconds, and zero silent regressions, since the corpus runs in continuous integration and a broken rule fails the build. All figures are targets; evaluation has not yet been run.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sets the context: a CS 5391 Software Engineering group project by the two-member team of M. Mahd Amjad and Arwa Arafeh. We review the milestone order — proposal and presentation, an SRS whose numbered requirements map to test cases, then implementation and demo before the final — and the stack: Flask, a SQLite database with deliberately sensitive columns for our planned evaluation, pytest with GitHub Actions CI, and a mock LLM mode that keeps demos deterministic.</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4" Type="http://schemas.openxmlformats.org/officeDocument/2006/relationships/image" Target="../media/Presenton_Raster_Image_3.png"/><Relationship Id="rId6" Type="http://schemas.openxmlformats.org/officeDocument/2006/relationships/image" Target="../media/Presenton_Native_Image_5.png"/><Relationship Id="rId7" Type="http://schemas.openxmlformats.org/officeDocument/2006/relationships/notesSlide" Target="../notesSlides/notesSlide1.xml"/><Relationship Id="rId8" Type="http://schemas.openxmlformats.org/officeDocument/2006/relationships/image" Target="../media/presenton-native-svg-1-1.svg"/><Relationship Id="rId9" Type="http://schemas.openxmlformats.org/officeDocument/2006/relationships/image" Target="../media/presenton-native-svg-2-1.svg"/><Relationship Id="rId10" Type="http://schemas.openxmlformats.org/officeDocument/2006/relationships/image" Target="../media/presenton-native-svg-3-1.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4" Type="http://schemas.openxmlformats.org/officeDocument/2006/relationships/image" Target="../media/Presenton_Native_Image_8.png"/><Relationship Id="rId5" Type="http://schemas.openxmlformats.org/officeDocument/2006/relationships/image" Target="../media/Presenton_Native_Image_9.png"/><Relationship Id="rId6" Type="http://schemas.openxmlformats.org/officeDocument/2006/relationships/image" Target="../media/Presenton_Native_Image_10.png"/><Relationship Id="rId7" Type="http://schemas.openxmlformats.org/officeDocument/2006/relationships/image" Target="../media/Presenton_Native_Image_11.png"/><Relationship Id="rId8" Type="http://schemas.openxmlformats.org/officeDocument/2006/relationships/notesSlide" Target="../notesSlides/notesSlide2.xml"/><Relationship Id="rId9" Type="http://schemas.openxmlformats.org/officeDocument/2006/relationships/image" Target="../media/presenton-native-svg-4-2.svg"/><Relationship Id="rId10" Type="http://schemas.openxmlformats.org/officeDocument/2006/relationships/image" Target="../media/presenton-native-svg-5-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4" Type="http://schemas.openxmlformats.org/officeDocument/2006/relationships/image" Target="../media/Presenton_Raster_Image_3.png"/><Relationship Id="rId6" Type="http://schemas.openxmlformats.org/officeDocument/2006/relationships/notesSlide" Target="../notesSlides/notesSlide3.xml"/><Relationship Id="rId7" Type="http://schemas.openxmlformats.org/officeDocument/2006/relationships/image" Target="../media/presenton-native-svg-6-3.svg"/><Relationship Id="rId8" Type="http://schemas.openxmlformats.org/officeDocument/2006/relationships/image" Target="../media/presenton-native-svg-7-3.svg"/><Relationship Id="rId9" Type="http://schemas.openxmlformats.org/officeDocument/2006/relationships/image" Target="../media/presenton-native-svg-8-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17.png"/><Relationship Id="rId5" Type="http://schemas.openxmlformats.org/officeDocument/2006/relationships/image" Target="../media/Presenton_Raster_Image_19.png"/><Relationship Id="rId6" Type="http://schemas.openxmlformats.org/officeDocument/2006/relationships/notesSlide" Target="../notesSlides/notesSlide4.xml"/><Relationship Id="rId7" Type="http://schemas.openxmlformats.org/officeDocument/2006/relationships/image" Target="../media/presenton-native-svg-9-4.svg"/><Relationship Id="rId8" Type="http://schemas.openxmlformats.org/officeDocument/2006/relationships/image" Target="../media/presenton-native-svg-10-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21.png"/><Relationship Id="rId4" Type="http://schemas.openxmlformats.org/officeDocument/2006/relationships/image" Target="../media/Presenton_Native_Image_22.png"/><Relationship Id="rId6" Type="http://schemas.openxmlformats.org/officeDocument/2006/relationships/image" Target="../media/Presenton_Raster_Image_24.png"/><Relationship Id="rId8" Type="http://schemas.openxmlformats.org/officeDocument/2006/relationships/image" Target="../media/Presenton_Native_Image_26.png"/><Relationship Id="rId10" Type="http://schemas.openxmlformats.org/officeDocument/2006/relationships/image" Target="../media/Presenton_Native_Image_29.png"/><Relationship Id="rId11" Type="http://schemas.openxmlformats.org/officeDocument/2006/relationships/image" Target="../media/Presenton_Native_Image_32.png"/><Relationship Id="rId12" Type="http://schemas.openxmlformats.org/officeDocument/2006/relationships/notesSlide" Target="../notesSlides/notesSlide5.xml"/><Relationship Id="rId13" Type="http://schemas.openxmlformats.org/officeDocument/2006/relationships/image" Target="../media/presenton-native-svg-11-5.svg"/><Relationship Id="rId14" Type="http://schemas.openxmlformats.org/officeDocument/2006/relationships/image" Target="../media/presenton-native-svg-12-5.svg"/><Relationship Id="rId15" Type="http://schemas.openxmlformats.org/officeDocument/2006/relationships/image" Target="../media/presenton-native-svg-13-5.svg"/><Relationship Id="rId16" Type="http://schemas.openxmlformats.org/officeDocument/2006/relationships/image" Target="../media/presenton-native-svg-14-5.svg"/><Relationship Id="rId17" Type="http://schemas.openxmlformats.org/officeDocument/2006/relationships/image" Target="../media/presenton-native-svg-15-5.svg"/><Relationship Id="rId18" Type="http://schemas.openxmlformats.org/officeDocument/2006/relationships/image" Target="../media/presenton-native-svg-16-5.svg"/><Relationship Id="rId19" Type="http://schemas.openxmlformats.org/officeDocument/2006/relationships/image" Target="../media/presenton-native-svg-17-5.svg"/><Relationship Id="rId20" Type="http://schemas.openxmlformats.org/officeDocument/2006/relationships/image" Target="../media/presenton-native-svg-18-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4" Type="http://schemas.openxmlformats.org/officeDocument/2006/relationships/image" Target="../media/Presenton_Native_Image_35.png"/><Relationship Id="rId5" Type="http://schemas.openxmlformats.org/officeDocument/2006/relationships/image" Target="../media/Presenton_Native_Image_36.png"/><Relationship Id="rId6" Type="http://schemas.openxmlformats.org/officeDocument/2006/relationships/image" Target="../media/Presenton_Native_Image_38.png"/><Relationship Id="rId7" Type="http://schemas.openxmlformats.org/officeDocument/2006/relationships/notesSlide" Target="../notesSlides/notesSlide6.xml"/><Relationship Id="rId8" Type="http://schemas.openxmlformats.org/officeDocument/2006/relationships/image" Target="../media/presenton-native-svg-19-6.svg"/><Relationship Id="rId9" Type="http://schemas.openxmlformats.org/officeDocument/2006/relationships/image" Target="../media/presenton-native-svg-20-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35.png"/><Relationship Id="rId4" Type="http://schemas.openxmlformats.org/officeDocument/2006/relationships/image" Target="../media/Presenton_Native_Image_36.png"/><Relationship Id="rId8" Type="http://schemas.openxmlformats.org/officeDocument/2006/relationships/notesSlide" Target="../notesSlides/notesSlide7.xml"/><Relationship Id="rId9" Type="http://schemas.openxmlformats.org/officeDocument/2006/relationships/image" Target="../media/presenton-native-svg-21-7.svg"/><Relationship Id="rId10" Type="http://schemas.openxmlformats.org/officeDocument/2006/relationships/image" Target="../media/presenton-native-svg-22-7.svg"/><Relationship Id="rId11" Type="http://schemas.openxmlformats.org/officeDocument/2006/relationships/image" Target="../media/presenton-native-svg-23-7.svg"/><Relationship Id="rId12" Type="http://schemas.openxmlformats.org/officeDocument/2006/relationships/image" Target="../media/presenton-native-svg-24-7.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46.png"/><Relationship Id="rId4" Type="http://schemas.openxmlformats.org/officeDocument/2006/relationships/image" Target="../media/Presenton_Native_Image_47.png"/><Relationship Id="rId5" Type="http://schemas.openxmlformats.org/officeDocument/2006/relationships/image" Target="../media/Presenton_Native_Image_48.png"/><Relationship Id="rId6" Type="http://schemas.openxmlformats.org/officeDocument/2006/relationships/image" Target="../media/Presenton_Native_Image_49.png"/><Relationship Id="rId8" Type="http://schemas.openxmlformats.org/officeDocument/2006/relationships/image" Target="../media/Presenton_Native_Image_51.png"/><Relationship Id="rId10" Type="http://schemas.openxmlformats.org/officeDocument/2006/relationships/image" Target="../media/Presenton_Native_Image_53.png"/><Relationship Id="rId11" Type="http://schemas.openxmlformats.org/officeDocument/2006/relationships/image" Target="../media/Presenton_Native_Image_55.png"/><Relationship Id="rId12" Type="http://schemas.openxmlformats.org/officeDocument/2006/relationships/image" Target="../media/Presenton_Native_Image_57.png"/><Relationship Id="rId14" Type="http://schemas.openxmlformats.org/officeDocument/2006/relationships/image" Target="../media/Presenton_Native_Image_59.png"/><Relationship Id="rId16" Type="http://schemas.openxmlformats.org/officeDocument/2006/relationships/image" Target="../media/Presenton_Native_Image_61.png"/><Relationship Id="rId18" Type="http://schemas.openxmlformats.org/officeDocument/2006/relationships/image" Target="../media/Presenton_Raster_Image_63.png"/><Relationship Id="rId19" Type="http://schemas.openxmlformats.org/officeDocument/2006/relationships/notesSlide" Target="../notesSlides/notesSlide8.xml"/><Relationship Id="rId20" Type="http://schemas.openxmlformats.org/officeDocument/2006/relationships/image" Target="../media/presenton-native-svg-25-8.svg"/><Relationship Id="rId21" Type="http://schemas.openxmlformats.org/officeDocument/2006/relationships/image" Target="../media/presenton-native-svg-26-8.svg"/><Relationship Id="rId22" Type="http://schemas.openxmlformats.org/officeDocument/2006/relationships/image" Target="../media/presenton-native-svg-27-8.svg"/><Relationship Id="rId23" Type="http://schemas.openxmlformats.org/officeDocument/2006/relationships/image" Target="../media/presenton-native-svg-28-8.svg"/><Relationship Id="rId24" Type="http://schemas.openxmlformats.org/officeDocument/2006/relationships/image" Target="../media/presenton-native-svg-29-8.svg"/><Relationship Id="rId25" Type="http://schemas.openxmlformats.org/officeDocument/2006/relationships/image" Target="../media/presenton-native-svg-30-8.svg"/><Relationship Id="rId26" Type="http://schemas.openxmlformats.org/officeDocument/2006/relationships/image" Target="../media/presenton-native-svg-31-8.svg"/><Relationship Id="rId27" Type="http://schemas.openxmlformats.org/officeDocument/2006/relationships/image" Target="../media/presenton-native-svg-32-8.svg"/></Relationships>
</file>

<file path=ppt/slides/slide1.xml><?xml version="1.0" encoding="utf-8"?>
<p:sld xmlns:asvg="http://schemas.microsoft.com/office/drawing/2016/SVG/main"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01" name="Presenton Native SVG Image 2" descr=""/>
          <p:cNvPicPr/>
          <p:nvPr/>
        </p:nvPicPr>
        <p:blipFill>
          <a:blip>
            <a:extLst>
              <a:ext uri="{96DAC541-7B7A-43D3-8B79-37D633B846F1}">
                <asvg:svgBlip xmlns:asvg="http://schemas.microsoft.com/office/drawing/2016/SVG/main" r:embed="rId9"/>
              </a:ext>
            </a:extLst>
          </a:blip>
          <a:stretch>
            <a:fillRect/>
          </a:stretch>
        </p:blipFill>
        <p:spPr>
          <a:xfrm>
            <a:off x="838200" y="1981200"/>
            <a:ext cx="4876800" cy="3048000"/>
          </a:xfrm>
          <a:prstGeom prst="rect">
            <a:avLst/>
          </a:prstGeom>
        </p:spPr>
      </p:pic>
      <p:pic>
        <p:nvPicPr>
          <p:cNvPr id="102" name="Presenton Raster Image 3" descr=""/>
          <p:cNvPicPr/>
          <p:nvPr/>
        </p:nvPicPr>
        <p:blipFill>
          <a:blip r:embed="rId4" cstate="none"/>
          <a:stretch>
            <a:fillRect/>
          </a:stretch>
        </p:blipFill>
        <p:spPr>
          <a:xfrm>
            <a:off x="838200" y="1981200"/>
            <a:ext cx="4876800" cy="3048000"/>
          </a:xfrm>
          <a:prstGeom prst="rect">
            <a:avLst/>
          </a:prstGeom>
        </p:spPr>
      </p:pic>
      <p:sp>
        <p:nvSpPr>
          <p:cNvPr id="2" name="Shape 2"/>
          <p:cNvSpPr/>
          <p:nvPr/>
        </p:nvSpPr>
        <p:spPr>
          <a:xfrm>
            <a:off x="6400800" y="1552575"/>
            <a:ext cx="5067300" cy="914400"/>
          </a:xfrm>
          <a:prstGeom prst="rect">
            <a:avLst/>
          </a:prstGeom>
          <a:noFill/>
        </p:spPr>
        <p:txBody>
          <a:bodyPr wrap="square" lIns="0" tIns="0" rIns="0" bIns="0" anchor="t">
            <a:normAutofit/>
          </a:bodyPr>
          <a:lstStyle/>
          <a:p>
            <a:pPr algn="l">
              <a:lnSpc>
                <a:spcPts val="3600"/>
              </a:lnSpc>
              <a:buNone/>
            </a:pPr>
            <a:r>
              <a:rPr sz="4500" b="1" i="0">
                <a:solidFill>
                  <a:srgbClr val="111827"/>
                </a:solidFill>
                <a:latin typeface="Poppins"/>
                <a:ea typeface="Poppins"/>
              </a:rPr>
              <a:t>QueryGuard:</a:t>
            </a:r>
          </a:p>
          <a:p>
            <a:pPr algn="l">
              <a:lnSpc>
                <a:spcPts val="3600"/>
              </a:lnSpc>
              <a:buNone/>
            </a:pPr>
            <a:r>
              <a:rPr sz="4500" b="1" i="0">
                <a:solidFill>
                  <a:srgbClr val="111827"/>
                </a:solidFill>
                <a:latin typeface="Poppins"/>
                <a:ea typeface="Poppins"/>
              </a:rPr>
              <a:t>A Safety Gate</a:t>
            </a:r>
          </a:p>
        </p:txBody>
      </p:sp>
      <p:pic>
        <p:nvPicPr>
          <p:cNvPr id="103" name="Presenton Native SVG Image 4" descr=""/>
          <p:cNvPicPr/>
          <p:nvPr/>
        </p:nvPicPr>
        <p:blipFill>
          <a:blip>
            <a:extLst>
              <a:ext uri="{96DAC541-7B7A-43D3-8B79-37D633B846F1}">
                <asvg:svgBlip xmlns:asvg="http://schemas.microsoft.com/office/drawing/2016/SVG/main" r:embed="rId10"/>
              </a:ext>
            </a:extLst>
          </a:blip>
          <a:stretch>
            <a:fillRect/>
          </a:stretch>
        </p:blipFill>
        <p:spPr>
          <a:xfrm>
            <a:off x="6400800" y="2924175"/>
            <a:ext cx="762000" cy="38100"/>
          </a:xfrm>
          <a:prstGeom prst="rect">
            <a:avLst/>
          </a:prstGeom>
        </p:spPr>
      </p:pic>
      <p:sp>
        <p:nvSpPr>
          <p:cNvPr id="3" name="Shape 3"/>
          <p:cNvSpPr/>
          <p:nvPr/>
        </p:nvSpPr>
        <p:spPr>
          <a:xfrm>
            <a:off x="6400800" y="3190875"/>
            <a:ext cx="5067300" cy="1298525"/>
          </a:xfrm>
          <a:prstGeom prst="rect">
            <a:avLst/>
          </a:prstGeom>
          <a:noFill/>
        </p:spPr>
        <p:txBody>
          <a:bodyPr wrap="square" lIns="0" tIns="0" rIns="0" bIns="0" anchor="t">
            <a:normAutofit/>
          </a:bodyPr>
          <a:lstStyle/>
          <a:p>
            <a:pPr algn="l">
              <a:lnSpc>
                <a:spcPts val="2046"/>
              </a:lnSpc>
              <a:buNone/>
            </a:pPr>
            <a:r>
              <a:rPr sz="1650" b="0" i="0">
                <a:solidFill>
                  <a:srgbClr val="4B5563"/>
                </a:solidFill>
                <a:latin typeface="Poppins"/>
                <a:ea typeface="Poppins"/>
              </a:rPr>
              <a:t xml:space="preserve">An intro to why </a:t>
            </a:r>
            <a:r>
              <a:rPr sz="1650" b="1" i="0">
                <a:solidFill>
                  <a:srgbClr val="4B5563"/>
                </a:solidFill>
                <a:latin typeface="Poppins"/>
                <a:ea typeface="Poppins"/>
              </a:rPr>
              <a:t>LLM-generated SQL</a:t>
            </a:r>
            <a:r>
              <a:rPr sz="1650" b="0" i="0">
                <a:solidFill>
                  <a:srgbClr val="4B5563"/>
                </a:solidFill>
                <a:latin typeface="Poppins"/>
                <a:ea typeface="Poppins"/>
              </a:rPr>
              <a:t xml:space="preserve"> needs a validation gate, the gap in existing defenses, and the </a:t>
            </a:r>
            <a:r>
              <a:rPr sz="1650" b="1" i="0">
                <a:solidFill>
                  <a:srgbClr val="4B5563"/>
                </a:solidFill>
                <a:latin typeface="Poppins"/>
                <a:ea typeface="Poppins"/>
              </a:rPr>
              <a:t>QueryGuard</a:t>
            </a:r>
            <a:r>
              <a:rPr sz="1650" b="0" i="0">
                <a:solidFill>
                  <a:srgbClr val="4B5563"/>
                </a:solidFill>
                <a:latin typeface="Poppins"/>
                <a:ea typeface="Poppins"/>
              </a:rPr>
              <a:t xml:space="preserve"> pipeline. We outline our two-member workstreams, the planned evaluation, and the course roadmap ahead.</a:t>
            </a:r>
            <a:endParaRPr lang="en-US"/>
          </a:p>
        </p:txBody>
      </p:sp>
      <p:pic>
        <p:nvPicPr>
          <p:cNvPr id="104" name="Presenton Native Image 5" descr=""/>
          <p:cNvPicPr/>
          <p:nvPr/>
        </p:nvPicPr>
        <p:blipFill>
          <a:blip r:embed="rId6" cstate="none"/>
          <a:stretch>
            <a:fillRect/>
          </a:stretch>
        </p:blipFill>
        <p:spPr>
          <a:xfrm>
            <a:off x="6400800" y="4486275"/>
            <a:ext cx="5029200" cy="971550"/>
          </a:xfrm>
          <a:prstGeom prst="rect">
            <a:avLst/>
          </a:prstGeom>
        </p:spPr>
      </p:pic>
      <p:sp>
        <p:nvSpPr>
          <p:cNvPr id="100009" name="Presenter card"/>
          <p:cNvSpPr/>
          <p:nvPr/>
        </p:nvSpPr>
        <p:spPr>
          <a:xfrm>
            <a:off x="6400800" y="4486046"/>
            <a:ext cx="5029200" cy="971093"/>
          </a:xfrm>
          <a:prstGeom prst="roundRect">
            <a:avLst/>
          </a:prstGeom>
          <a:solidFill>
            <a:srgbClr val="FFFFFF"/>
          </a:solidFill>
          <a:ln w="9525">
            <a:solidFill>
              <a:srgbClr val="E5E7EB"/>
            </a:solidFill>
          </a:ln>
        </p:spPr>
        <p:txBody>
          <a:bodyPr/>
          <a:lstStyle/>
          <a:p/>
        </p:txBody>
      </p:sp>
      <p:sp>
        <p:nvSpPr>
          <p:cNvPr id="100010" name="TextBox 4"/>
          <p:cNvSpPr/>
          <p:nvPr/>
        </p:nvSpPr>
        <p:spPr>
          <a:xfrm>
            <a:off x="6565392" y="4562856"/>
            <a:ext cx="822960" cy="822960"/>
          </a:xfrm>
          <a:prstGeom prst="ellipse">
            <a:avLst/>
          </a:prstGeom>
          <a:solidFill>
            <a:srgbClr val="9333EA"/>
          </a:solidFill>
        </p:spPr>
        <p:txBody>
          <a:bodyPr/>
          <a:lstStyle/>
          <a:p>
            <a:pPr algn="ctr"/>
            <a:r>
              <a:rPr lang="en-US" sz="1600" b="1">
                <a:solidFill>
                  <a:srgbClr val="FFFFFF"/>
                </a:solidFill>
                <a:latin typeface="Poppins"/>
                <a:ea typeface="Poppins"/>
              </a:rPr>
              <a:t>MA</a:t>
            </a:r>
          </a:p>
        </p:txBody>
      </p:sp>
      <p:sp>
        <p:nvSpPr>
          <p:cNvPr id="100011" name="TextBox 5"/>
          <p:cNvSpPr/>
          <p:nvPr/>
        </p:nvSpPr>
        <p:spPr>
          <a:xfrm>
            <a:off x="7543800" y="4617720"/>
            <a:ext cx="3749040" cy="320040"/>
          </a:xfrm>
          <a:prstGeom prst="rect">
            <a:avLst/>
          </a:prstGeom>
          <a:solidFill>
            <a:srgbClr val="FFFFFF"/>
          </a:solidFill>
        </p:spPr>
        <p:txBody>
          <a:bodyPr/>
          <a:lstStyle/>
          <a:p>
            <a:pPr algn="l"/>
            <a:r>
              <a:rPr lang="en-US" sz="1300" b="1">
                <a:solidFill>
                  <a:srgbClr val="111827"/>
                </a:solidFill>
                <a:latin typeface="Poppins"/>
                <a:ea typeface="Poppins"/>
              </a:rPr>
              <a:t>M. Mahd Amjad &amp; Arwa Arafeh</a:t>
            </a:r>
          </a:p>
        </p:txBody>
      </p:sp>
      <p:sp>
        <p:nvSpPr>
          <p:cNvPr id="100012" name="TextBox 6"/>
          <p:cNvSpPr/>
          <p:nvPr/>
        </p:nvSpPr>
        <p:spPr>
          <a:xfrm>
            <a:off x="7543800" y="4983480"/>
            <a:ext cx="3749040" cy="274320"/>
          </a:xfrm>
          <a:prstGeom prst="rect">
            <a:avLst/>
          </a:prstGeom>
          <a:solidFill>
            <a:srgbClr val="FFFFFF"/>
          </a:solidFill>
        </p:spPr>
        <p:txBody>
          <a:bodyPr/>
          <a:lstStyle/>
          <a:p>
            <a:pPr algn="l"/>
            <a:r>
              <a:rPr lang="en-US" sz="1050">
                <a:solidFill>
                  <a:srgbClr val="4B5563"/>
                </a:solidFill>
                <a:latin typeface="Poppins"/>
                <a:ea typeface="Poppins"/>
              </a:rPr>
              <a:t>Presenters · September 10, 2026</a:t>
            </a:r>
          </a:p>
        </p:txBody>
      </p:sp>
    </p:spTree>
  </p:cSld>
  <p:clrMapOvr>
    <a:masterClrMapping/>
  </p:clrMapOvr>
</p:sld>
</file>

<file path=ppt/slides/slide2.xml><?xml version="1.0" encoding="utf-8"?>
<p:sld xmlns:asvg="http://schemas.microsoft.com/office/drawing/2016/SVG/main"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05" name="Presenton Native SVG Image 6" descr=""/>
          <p:cNvPicPr/>
          <p:nvPr/>
        </p:nvPicPr>
        <p:blipFill>
          <a:blip>
            <a:extLst>
              <a:ext uri="{96DAC541-7B7A-43D3-8B79-37D633B846F1}">
                <asvg:svgBlip xmlns:asvg="http://schemas.microsoft.com/office/drawing/2016/SVG/main" r:embed="rId9"/>
              </a:ext>
            </a:extLst>
          </a:blip>
          <a:stretch>
            <a:fillRect/>
          </a:stretch>
        </p:blipFill>
        <p:spPr>
          <a:xfrm>
            <a:off x="0" y="0"/>
            <a:ext cx="12192000" cy="6858000"/>
          </a:xfrm>
          <a:prstGeom prst="rect">
            <a:avLst/>
          </a:prstGeom>
        </p:spPr>
      </p:pic>
      <p:sp>
        <p:nvSpPr>
          <p:cNvPr id="4" name="Shape 4"/>
          <p:cNvSpPr/>
          <p:nvPr/>
        </p:nvSpPr>
        <p:spPr>
          <a:xfrm>
            <a:off x="762000" y="304800"/>
            <a:ext cx="10669488" cy="457200"/>
          </a:xfrm>
          <a:prstGeom prst="rect">
            <a:avLst/>
          </a:prstGeom>
          <a:noFill/>
        </p:spPr>
        <p:txBody>
          <a:bodyPr wrap="square" lIns="0" tIns="0" rIns="0" bIns="0" anchor="t">
            <a:normAutofit/>
          </a:bodyPr>
          <a:lstStyle/>
          <a:p>
            <a:pPr algn="l">
              <a:lnSpc>
                <a:spcPts val="3600"/>
              </a:lnSpc>
              <a:buNone/>
            </a:pPr>
            <a:r>
              <a:rPr sz="4500" b="1" i="0">
                <a:solidFill>
                  <a:srgbClr val="111827"/>
                </a:solidFill>
                <a:latin typeface="Poppins"/>
                <a:ea typeface="Poppins"/>
              </a:rPr>
              <a:t>The Problem: Unguarded LLM SQL</a:t>
            </a:r>
            <a:endParaRPr lang="en-US"/>
          </a:p>
        </p:txBody>
      </p:sp>
      <p:sp>
        <p:nvSpPr>
          <p:cNvPr id="5" name="Shape 5"/>
          <p:cNvSpPr/>
          <p:nvPr/>
        </p:nvSpPr>
        <p:spPr>
          <a:xfrm>
            <a:off x="762000" y="1028700"/>
            <a:ext cx="7353300" cy="495300"/>
          </a:xfrm>
          <a:prstGeom prst="rect">
            <a:avLst/>
          </a:prstGeom>
          <a:noFill/>
        </p:spPr>
        <p:txBody>
          <a:bodyPr wrap="square" lIns="0" tIns="0" rIns="0" bIns="0" anchor="t">
            <a:normAutofit/>
          </a:bodyPr>
          <a:lstStyle/>
          <a:p>
            <a:pPr algn="l">
              <a:lnSpc>
                <a:spcPts val="1950"/>
              </a:lnSpc>
              <a:buNone/>
            </a:pPr>
            <a:r>
              <a:rPr sz="1500" b="0" i="0">
                <a:solidFill>
                  <a:srgbClr val="4B5563"/>
                </a:solidFill>
                <a:latin typeface="Poppins"/>
                <a:ea typeface="Poppins"/>
              </a:rPr>
              <a:t xml:space="preserve">Applications let users query databases in plain English, and frameworks pass LLM-generated SQL </a:t>
            </a:r>
            <a:r>
              <a:rPr sz="1500" b="1" i="0">
                <a:solidFill>
                  <a:srgbClr val="4B5563"/>
                </a:solidFill>
                <a:latin typeface="Poppins"/>
                <a:ea typeface="Poppins"/>
              </a:rPr>
              <a:t>straight to the database</a:t>
            </a:r>
            <a:r>
              <a:rPr sz="1500" b="0" i="0">
                <a:solidFill>
                  <a:srgbClr val="4B5563"/>
                </a:solidFill>
                <a:latin typeface="Poppins"/>
                <a:ea typeface="Poppins"/>
              </a:rPr>
              <a:t xml:space="preserve"> with no review layer in between.</a:t>
            </a:r>
            <a:endParaRPr lang="en-US"/>
          </a:p>
        </p:txBody>
      </p:sp>
      <p:pic>
        <p:nvPicPr>
          <p:cNvPr id="106" name="Presenton Native SVG Image 7" descr=""/>
          <p:cNvPicPr/>
          <p:nvPr/>
        </p:nvPicPr>
        <p:blipFill>
          <a:blip>
            <a:extLst>
              <a:ext uri="{96DAC541-7B7A-43D3-8B79-37D633B846F1}">
                <asvg:svgBlip xmlns:asvg="http://schemas.microsoft.com/office/drawing/2016/SVG/main" r:embed="rId10"/>
              </a:ext>
            </a:extLst>
          </a:blip>
          <a:stretch>
            <a:fillRect/>
          </a:stretch>
        </p:blipFill>
        <p:spPr>
          <a:xfrm>
            <a:off x="762000" y="1828800"/>
            <a:ext cx="7315200" cy="4724400"/>
          </a:xfrm>
          <a:prstGeom prst="rect">
            <a:avLst/>
          </a:prstGeom>
        </p:spPr>
      </p:pic>
      <p:pic>
        <p:nvPicPr>
          <p:cNvPr id="107" name="Presenton Native Image 8" descr=""/>
          <p:cNvPicPr/>
          <p:nvPr/>
        </p:nvPicPr>
        <p:blipFill>
          <a:blip r:embed="rId4" cstate="none"/>
          <a:stretch>
            <a:fillRect/>
          </a:stretch>
        </p:blipFill>
        <p:spPr>
          <a:xfrm>
            <a:off x="923925" y="1990725"/>
            <a:ext cx="6991350" cy="4381500"/>
          </a:xfrm>
          <a:prstGeom prst="rect">
            <a:avLst/>
          </a:prstGeom>
        </p:spPr>
      </p:pic>
      <p:pic>
        <p:nvPicPr>
          <p:cNvPr id="108" name="Presenton Native Image 9" descr=""/>
          <p:cNvPicPr/>
          <p:nvPr/>
        </p:nvPicPr>
        <p:blipFill>
          <a:blip r:embed="rId5" cstate="none"/>
          <a:stretch>
            <a:fillRect/>
          </a:stretch>
        </p:blipFill>
        <p:spPr>
          <a:xfrm>
            <a:off x="8382000" y="969169"/>
            <a:ext cx="3048000" cy="1538288"/>
          </a:xfrm>
          <a:prstGeom prst="rect">
            <a:avLst/>
          </a:prstGeom>
        </p:spPr>
      </p:pic>
      <p:pic>
        <p:nvPicPr>
          <p:cNvPr id="109" name="Presenton Native Image 10" descr=""/>
          <p:cNvPicPr/>
          <p:nvPr/>
        </p:nvPicPr>
        <p:blipFill>
          <a:blip r:embed="rId6" cstate="none"/>
          <a:stretch>
            <a:fillRect/>
          </a:stretch>
        </p:blipFill>
        <p:spPr>
          <a:xfrm>
            <a:off x="8382000" y="2659856"/>
            <a:ext cx="3048000" cy="1538288"/>
          </a:xfrm>
          <a:prstGeom prst="rect">
            <a:avLst/>
          </a:prstGeom>
        </p:spPr>
      </p:pic>
      <p:pic>
        <p:nvPicPr>
          <p:cNvPr id="110" name="Presenton Native Image 11" descr=""/>
          <p:cNvPicPr/>
          <p:nvPr/>
        </p:nvPicPr>
        <p:blipFill>
          <a:blip r:embed="rId7" cstate="none"/>
          <a:stretch>
            <a:fillRect/>
          </a:stretch>
        </p:blipFill>
        <p:spPr>
          <a:xfrm>
            <a:off x="8382000" y="4350544"/>
            <a:ext cx="3048000" cy="1538288"/>
          </a:xfrm>
          <a:prstGeom prst="rect">
            <a:avLst/>
          </a:prstGeom>
        </p:spPr>
      </p:pic>
    </p:spTree>
  </p:cSld>
  <p:clrMapOvr>
    <a:masterClrMapping/>
  </p:clrMapOvr>
</p:sld>
</file>

<file path=ppt/slides/slide3.xml><?xml version="1.0" encoding="utf-8"?>
<p:sld xmlns:asvg="http://schemas.microsoft.com/office/drawing/2016/SVG/main"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11" name="Presenton Native SVG Image 12" descr=""/>
          <p:cNvPicPr/>
          <p:nvPr/>
        </p:nvPicPr>
        <p:blipFill>
          <a:blip>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pic>
        <p:nvPicPr>
          <p:cNvPr id="112" name="Presenton Native SVG Image 13" descr=""/>
          <p:cNvPicPr/>
          <p:nvPr/>
        </p:nvPicPr>
        <p:blipFill>
          <a:blip>
            <a:extLst>
              <a:ext uri="{96DAC541-7B7A-43D3-8B79-37D633B846F1}">
                <asvg:svgBlip xmlns:asvg="http://schemas.microsoft.com/office/drawing/2016/SVG/main" r:embed="rId8"/>
              </a:ext>
            </a:extLst>
          </a:blip>
          <a:stretch>
            <a:fillRect/>
          </a:stretch>
        </p:blipFill>
        <p:spPr>
          <a:xfrm>
            <a:off x="838200" y="1752600"/>
            <a:ext cx="4876800" cy="3048000"/>
          </a:xfrm>
          <a:prstGeom prst="rect">
            <a:avLst/>
          </a:prstGeom>
        </p:spPr>
      </p:pic>
      <p:pic>
        <p:nvPicPr>
          <p:cNvPr id="113" name="Presenton Raster Image 14" descr=""/>
          <p:cNvPicPr/>
          <p:nvPr/>
        </p:nvPicPr>
        <p:blipFill>
          <a:blip r:embed="rId4" cstate="none"/>
          <a:stretch>
            <a:fillRect/>
          </a:stretch>
        </p:blipFill>
        <p:spPr>
          <a:xfrm>
            <a:off x="838200" y="1752600"/>
            <a:ext cx="4876800" cy="3048000"/>
          </a:xfrm>
          <a:prstGeom prst="rect">
            <a:avLst/>
          </a:prstGeom>
        </p:spPr>
      </p:pic>
      <p:sp>
        <p:nvSpPr>
          <p:cNvPr id="6" name="Shape 6"/>
          <p:cNvSpPr/>
          <p:nvPr/>
        </p:nvSpPr>
        <p:spPr>
          <a:xfrm>
            <a:off x="6400800" y="1899940"/>
            <a:ext cx="5067300" cy="914400"/>
          </a:xfrm>
          <a:prstGeom prst="rect">
            <a:avLst/>
          </a:prstGeom>
          <a:noFill/>
        </p:spPr>
        <p:txBody>
          <a:bodyPr wrap="square" lIns="0" tIns="0" rIns="0" bIns="0" anchor="t">
            <a:normAutofit/>
          </a:bodyPr>
          <a:lstStyle/>
          <a:p>
            <a:pPr algn="l">
              <a:lnSpc>
                <a:spcPts val="3600"/>
              </a:lnSpc>
              <a:buNone/>
            </a:pPr>
            <a:r>
              <a:rPr sz="4500" b="1" i="0">
                <a:solidFill>
                  <a:srgbClr val="111827"/>
                </a:solidFill>
                <a:latin typeface="Poppins"/>
                <a:ea typeface="Poppins"/>
              </a:rPr>
              <a:t xml:space="preserve">Defenses </a:t>
            </a:r>
            <a:r>
              <a:rPr sz="4500" b="1" i="0">
                <a:solidFill>
                  <a:srgbClr val="111827"/>
                </a:solidFill>
                <a:latin typeface="Poppins"/>
                <a:ea typeface="Poppins"/>
              </a:rPr>
              <a:t>&amp;</a:t>
            </a:r>
            <a:r>
              <a:rPr sz="4500" b="1" i="0">
                <a:solidFill>
                  <a:srgbClr val="111827"/>
                </a:solidFill>
                <a:latin typeface="Poppins"/>
                <a:ea typeface="Poppins"/>
              </a:rPr>
              <a:t xml:space="preserve"> the Gap</a:t>
            </a:r>
            <a:endParaRPr lang="en-US"/>
          </a:p>
        </p:txBody>
      </p:sp>
      <p:pic>
        <p:nvPicPr>
          <p:cNvPr id="114" name="Presenton Native SVG Image 15" descr=""/>
          <p:cNvPicPr/>
          <p:nvPr/>
        </p:nvPicPr>
        <p:blipFill>
          <a:blip>
            <a:extLst>
              <a:ext uri="{96DAC541-7B7A-43D3-8B79-37D633B846F1}">
                <asvg:svgBlip xmlns:asvg="http://schemas.microsoft.com/office/drawing/2016/SVG/main" r:embed="rId9"/>
              </a:ext>
            </a:extLst>
          </a:blip>
          <a:stretch>
            <a:fillRect/>
          </a:stretch>
        </p:blipFill>
        <p:spPr>
          <a:xfrm>
            <a:off x="6400800" y="3271540"/>
            <a:ext cx="762000" cy="38100"/>
          </a:xfrm>
          <a:prstGeom prst="rect">
            <a:avLst/>
          </a:prstGeom>
        </p:spPr>
      </p:pic>
      <p:sp>
        <p:nvSpPr>
          <p:cNvPr id="7" name="Shape 7"/>
          <p:cNvSpPr/>
          <p:nvPr/>
        </p:nvSpPr>
        <p:spPr>
          <a:xfrm>
            <a:off x="6400800" y="3468886"/>
            <a:ext cx="5067300" cy="1817936"/>
          </a:xfrm>
          <a:prstGeom prst="rect">
            <a:avLst/>
          </a:prstGeom>
          <a:noFill/>
        </p:spPr>
        <p:txBody>
          <a:bodyPr wrap="square" lIns="0" tIns="0" rIns="0" bIns="0" anchor="t">
            <a:normAutofit/>
          </a:bodyPr>
          <a:lstStyle/>
          <a:p>
            <a:pPr algn="l">
              <a:lnSpc>
                <a:spcPts val="2046"/>
              </a:lnSpc>
              <a:buNone/>
            </a:pPr>
            <a:r>
              <a:rPr sz="1650" b="0" i="0">
                <a:solidFill>
                  <a:srgbClr val="4B5563"/>
                </a:solidFill>
                <a:latin typeface="Poppins"/>
                <a:ea typeface="Poppins"/>
              </a:rPr>
              <a:t>Model-side fixes like StruQ and SecAlign require retraining or fine-tuning, while generic guardrails such as NVIDIA NeMo Guardrails and Guardrails AI are schema-unaware and opaque. QueryGuard plans a transparent, deterministic, SQL-specific check between LLM and database.</a:t>
            </a:r>
            <a:endParaRPr lang="en-US"/>
          </a:p>
        </p:txBody>
      </p:sp>
    </p:spTree>
  </p:cSld>
  <p:clrMapOvr>
    <a:masterClrMapping/>
  </p:clrMapOvr>
</p:sld>
</file>

<file path=ppt/slides/slide4.xml><?xml version="1.0" encoding="utf-8"?>
<p:sld xmlns:asvg="http://schemas.microsoft.com/office/drawing/2016/SVG/main"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15" name="Presenton Native SVG Image 16" descr=""/>
          <p:cNvPicPr/>
          <p:nvPr/>
        </p:nvPicPr>
        <p:blipFill>
          <a:blip>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pic>
        <p:nvPicPr>
          <p:cNvPr id="116" name="Presenton Native Image 17" descr=""/>
          <p:cNvPicPr/>
          <p:nvPr/>
        </p:nvPicPr>
        <p:blipFill>
          <a:blip r:embed="rId3" cstate="none"/>
          <a:stretch>
            <a:fillRect/>
          </a:stretch>
        </p:blipFill>
        <p:spPr>
          <a:xfrm>
            <a:off x="0" y="6096000"/>
            <a:ext cx="12192000" cy="762000"/>
          </a:xfrm>
          <a:prstGeom prst="rect">
            <a:avLst/>
          </a:prstGeom>
        </p:spPr>
      </p:pic>
      <p:sp>
        <p:nvSpPr>
          <p:cNvPr id="8" name="Shape 8"/>
          <p:cNvSpPr/>
          <p:nvPr/>
        </p:nvSpPr>
        <p:spPr>
          <a:xfrm>
            <a:off x="762000" y="457200"/>
            <a:ext cx="7353300" cy="457200"/>
          </a:xfrm>
          <a:prstGeom prst="rect">
            <a:avLst/>
          </a:prstGeom>
          <a:noFill/>
        </p:spPr>
        <p:txBody>
          <a:bodyPr wrap="square" lIns="0" tIns="0" rIns="0" bIns="0" anchor="t">
            <a:normAutofit/>
          </a:bodyPr>
          <a:lstStyle/>
          <a:p>
            <a:pPr algn="l">
              <a:lnSpc>
                <a:spcPts val="3600"/>
              </a:lnSpc>
              <a:buNone/>
            </a:pPr>
            <a:r>
              <a:rPr sz="4500" b="1" i="0">
                <a:solidFill>
                  <a:srgbClr val="111827"/>
                </a:solidFill>
                <a:latin typeface="Poppins"/>
                <a:ea typeface="Poppins"/>
              </a:rPr>
              <a:t>QueryGuard Pipeline</a:t>
            </a:r>
            <a:endParaRPr lang="en-US"/>
          </a:p>
        </p:txBody>
      </p:sp>
      <p:pic>
        <p:nvPicPr>
          <p:cNvPr id="117" name="Presenton Native SVG Image 18" descr=""/>
          <p:cNvPicPr/>
          <p:nvPr/>
        </p:nvPicPr>
        <p:blipFill>
          <a:blip>
            <a:extLst>
              <a:ext uri="{96DAC541-7B7A-43D3-8B79-37D633B846F1}">
                <asvg:svgBlip xmlns:asvg="http://schemas.microsoft.com/office/drawing/2016/SVG/main" r:embed="rId8"/>
              </a:ext>
            </a:extLst>
          </a:blip>
          <a:stretch>
            <a:fillRect/>
          </a:stretch>
        </p:blipFill>
        <p:spPr>
          <a:xfrm>
            <a:off x="762000" y="1181100"/>
            <a:ext cx="914400" cy="38100"/>
          </a:xfrm>
          <a:prstGeom prst="rect">
            <a:avLst/>
          </a:prstGeom>
        </p:spPr>
      </p:pic>
      <p:pic>
        <p:nvPicPr>
          <p:cNvPr id="118" name="Presenton Raster Image 19" descr=""/>
          <p:cNvPicPr/>
          <p:nvPr/>
        </p:nvPicPr>
        <p:blipFill>
          <a:blip r:embed="rId5" cstate="none"/>
          <a:stretch>
            <a:fillRect/>
          </a:stretch>
        </p:blipFill>
        <p:spPr>
          <a:xfrm>
            <a:off x="8382000" y="457200"/>
            <a:ext cx="3048000" cy="1828800"/>
          </a:xfrm>
          <a:prstGeom prst="rect">
            <a:avLst/>
          </a:prstGeom>
        </p:spPr>
      </p:pic>
      <p:sp>
        <p:nvSpPr>
          <p:cNvPr id="9" name="Shape 9"/>
          <p:cNvSpPr/>
          <p:nvPr/>
        </p:nvSpPr>
        <p:spPr>
          <a:xfrm>
            <a:off x="762000" y="2590800"/>
            <a:ext cx="514350" cy="365671"/>
          </a:xfrm>
          <a:prstGeom prst="rect">
            <a:avLst/>
          </a:prstGeom>
          <a:noFill/>
        </p:spPr>
        <p:txBody>
          <a:bodyPr wrap="square" lIns="0" tIns="0" rIns="0" bIns="0" anchor="t">
            <a:normAutofit/>
          </a:bodyPr>
          <a:lstStyle/>
          <a:p>
            <a:pPr algn="l">
              <a:lnSpc>
                <a:spcPts val="2880"/>
              </a:lnSpc>
              <a:buNone/>
            </a:pPr>
            <a:r>
              <a:rPr sz="3600" b="1" i="0">
                <a:solidFill>
                  <a:srgbClr val="111827"/>
                </a:solidFill>
                <a:latin typeface="Poppins"/>
                <a:ea typeface="Poppins"/>
              </a:rPr>
              <a:t>1</a:t>
            </a:r>
            <a:endParaRPr lang="en-US"/>
          </a:p>
        </p:txBody>
      </p:sp>
      <p:sp>
        <p:nvSpPr>
          <p:cNvPr id="10" name="Shape 10"/>
          <p:cNvSpPr/>
          <p:nvPr/>
        </p:nvSpPr>
        <p:spPr>
          <a:xfrm>
            <a:off x="1381125" y="2667000"/>
            <a:ext cx="4600575" cy="244525"/>
          </a:xfrm>
          <a:prstGeom prst="rect">
            <a:avLst/>
          </a:prstGeom>
          <a:noFill/>
        </p:spPr>
        <p:txBody>
          <a:bodyPr wrap="square" lIns="0" tIns="0" rIns="0" bIns="0" anchor="t">
            <a:normAutofit/>
          </a:bodyPr>
          <a:lstStyle/>
          <a:p>
            <a:pPr algn="l">
              <a:lnSpc>
                <a:spcPts val="1926"/>
              </a:lnSpc>
              <a:buNone/>
            </a:pPr>
            <a:r>
              <a:rPr sz="1800" b="1" i="0">
                <a:solidFill>
                  <a:srgbClr val="111827"/>
                </a:solidFill>
                <a:latin typeface="Poppins"/>
                <a:ea typeface="Poppins"/>
              </a:rPr>
              <a:t>Intake Stage</a:t>
            </a:r>
            <a:endParaRPr lang="en-US"/>
          </a:p>
        </p:txBody>
      </p:sp>
      <p:sp>
        <p:nvSpPr>
          <p:cNvPr id="11" name="Shape 11"/>
          <p:cNvSpPr/>
          <p:nvPr/>
        </p:nvSpPr>
        <p:spPr>
          <a:xfrm>
            <a:off x="1381125" y="3086100"/>
            <a:ext cx="4600575" cy="742950"/>
          </a:xfrm>
          <a:prstGeom prst="rect">
            <a:avLst/>
          </a:prstGeom>
          <a:noFill/>
        </p:spPr>
        <p:txBody>
          <a:bodyPr wrap="square" lIns="0" tIns="0" rIns="0" bIns="0" anchor="t">
            <a:normAutofit/>
          </a:bodyPr>
          <a:lstStyle/>
          <a:p>
            <a:pPr algn="l">
              <a:lnSpc>
                <a:spcPts val="1950"/>
              </a:lnSpc>
              <a:buNone/>
            </a:pPr>
            <a:r>
              <a:rPr sz="1500" b="0" i="0">
                <a:solidFill>
                  <a:srgbClr val="4B5563"/>
                </a:solidFill>
                <a:latin typeface="Poppins"/>
                <a:ea typeface="Poppins"/>
              </a:rPr>
              <a:t>Incoming requests enter one transparent entry point, so every query follows a single recorded path.</a:t>
            </a:r>
            <a:endParaRPr lang="en-US"/>
          </a:p>
        </p:txBody>
      </p:sp>
      <p:sp>
        <p:nvSpPr>
          <p:cNvPr id="12" name="Shape 12"/>
          <p:cNvSpPr/>
          <p:nvPr/>
        </p:nvSpPr>
        <p:spPr>
          <a:xfrm>
            <a:off x="6162675" y="2590800"/>
            <a:ext cx="600075" cy="365671"/>
          </a:xfrm>
          <a:prstGeom prst="rect">
            <a:avLst/>
          </a:prstGeom>
          <a:noFill/>
        </p:spPr>
        <p:txBody>
          <a:bodyPr wrap="square" lIns="0" tIns="0" rIns="0" bIns="0" anchor="t">
            <a:normAutofit/>
          </a:bodyPr>
          <a:lstStyle/>
          <a:p>
            <a:pPr algn="l">
              <a:lnSpc>
                <a:spcPts val="2880"/>
              </a:lnSpc>
              <a:buNone/>
            </a:pPr>
            <a:r>
              <a:rPr sz="3600" b="1" i="0">
                <a:solidFill>
                  <a:srgbClr val="111827"/>
                </a:solidFill>
                <a:latin typeface="Poppins"/>
                <a:ea typeface="Poppins"/>
              </a:rPr>
              <a:t>2</a:t>
            </a:r>
            <a:endParaRPr lang="en-US"/>
          </a:p>
        </p:txBody>
      </p:sp>
      <p:sp>
        <p:nvSpPr>
          <p:cNvPr id="13" name="Shape 13"/>
          <p:cNvSpPr/>
          <p:nvPr/>
        </p:nvSpPr>
        <p:spPr>
          <a:xfrm>
            <a:off x="6877050" y="2667000"/>
            <a:ext cx="4505325" cy="244525"/>
          </a:xfrm>
          <a:prstGeom prst="rect">
            <a:avLst/>
          </a:prstGeom>
          <a:noFill/>
        </p:spPr>
        <p:txBody>
          <a:bodyPr wrap="square" lIns="0" tIns="0" rIns="0" bIns="0" anchor="t">
            <a:normAutofit/>
          </a:bodyPr>
          <a:lstStyle/>
          <a:p>
            <a:pPr algn="l">
              <a:lnSpc>
                <a:spcPts val="1926"/>
              </a:lnSpc>
              <a:buNone/>
            </a:pPr>
            <a:r>
              <a:rPr sz="1800" b="1" i="0">
                <a:solidFill>
                  <a:srgbClr val="111827"/>
                </a:solidFill>
                <a:latin typeface="Poppins"/>
                <a:ea typeface="Poppins"/>
              </a:rPr>
              <a:t>Generator Stage</a:t>
            </a:r>
            <a:endParaRPr lang="en-US"/>
          </a:p>
        </p:txBody>
      </p:sp>
      <p:sp>
        <p:nvSpPr>
          <p:cNvPr id="14" name="Shape 14"/>
          <p:cNvSpPr/>
          <p:nvPr/>
        </p:nvSpPr>
        <p:spPr>
          <a:xfrm>
            <a:off x="6877050" y="3086100"/>
            <a:ext cx="4505325" cy="742950"/>
          </a:xfrm>
          <a:prstGeom prst="rect">
            <a:avLst/>
          </a:prstGeom>
          <a:noFill/>
        </p:spPr>
        <p:txBody>
          <a:bodyPr wrap="square" lIns="0" tIns="0" rIns="0" bIns="0" anchor="t">
            <a:normAutofit/>
          </a:bodyPr>
          <a:lstStyle/>
          <a:p>
            <a:pPr algn="l">
              <a:lnSpc>
                <a:spcPts val="1950"/>
              </a:lnSpc>
              <a:buNone/>
            </a:pPr>
            <a:r>
              <a:rPr sz="1500" b="0" i="0">
                <a:solidFill>
                  <a:srgbClr val="4B5563"/>
                </a:solidFill>
                <a:latin typeface="Poppins"/>
                <a:ea typeface="Poppins"/>
              </a:rPr>
              <a:t>A candidate SQL query is produced by the LLM or by a deterministic mock, keeping generation swappable.</a:t>
            </a:r>
            <a:endParaRPr lang="en-US"/>
          </a:p>
        </p:txBody>
      </p:sp>
      <p:sp>
        <p:nvSpPr>
          <p:cNvPr id="15" name="Shape 15"/>
          <p:cNvSpPr/>
          <p:nvPr/>
        </p:nvSpPr>
        <p:spPr>
          <a:xfrm>
            <a:off x="762000" y="3914775"/>
            <a:ext cx="609600" cy="365671"/>
          </a:xfrm>
          <a:prstGeom prst="rect">
            <a:avLst/>
          </a:prstGeom>
          <a:noFill/>
        </p:spPr>
        <p:txBody>
          <a:bodyPr wrap="square" lIns="0" tIns="0" rIns="0" bIns="0" anchor="t">
            <a:normAutofit/>
          </a:bodyPr>
          <a:lstStyle/>
          <a:p>
            <a:pPr algn="l">
              <a:lnSpc>
                <a:spcPts val="2880"/>
              </a:lnSpc>
              <a:buNone/>
            </a:pPr>
            <a:r>
              <a:rPr sz="3600" b="1" i="0">
                <a:solidFill>
                  <a:srgbClr val="111827"/>
                </a:solidFill>
                <a:latin typeface="Poppins"/>
                <a:ea typeface="Poppins"/>
              </a:rPr>
              <a:t>3</a:t>
            </a:r>
            <a:endParaRPr lang="en-US"/>
          </a:p>
        </p:txBody>
      </p:sp>
      <p:sp>
        <p:nvSpPr>
          <p:cNvPr id="16" name="Shape 16"/>
          <p:cNvSpPr/>
          <p:nvPr/>
        </p:nvSpPr>
        <p:spPr>
          <a:xfrm>
            <a:off x="1485900" y="3990975"/>
            <a:ext cx="4495800" cy="244525"/>
          </a:xfrm>
          <a:prstGeom prst="rect">
            <a:avLst/>
          </a:prstGeom>
          <a:noFill/>
        </p:spPr>
        <p:txBody>
          <a:bodyPr wrap="square" lIns="0" tIns="0" rIns="0" bIns="0" anchor="t">
            <a:normAutofit/>
          </a:bodyPr>
          <a:lstStyle/>
          <a:p>
            <a:pPr algn="l">
              <a:lnSpc>
                <a:spcPts val="1926"/>
              </a:lnSpc>
              <a:buNone/>
            </a:pPr>
            <a:r>
              <a:rPr sz="1800" b="1" i="0">
                <a:solidFill>
                  <a:srgbClr val="111827"/>
                </a:solidFill>
                <a:latin typeface="Poppins"/>
                <a:ea typeface="Poppins"/>
              </a:rPr>
              <a:t>Validation Gate</a:t>
            </a:r>
            <a:endParaRPr lang="en-US"/>
          </a:p>
        </p:txBody>
      </p:sp>
      <p:sp>
        <p:nvSpPr>
          <p:cNvPr id="17" name="Shape 17"/>
          <p:cNvSpPr/>
          <p:nvPr/>
        </p:nvSpPr>
        <p:spPr>
          <a:xfrm>
            <a:off x="1485900" y="4410075"/>
            <a:ext cx="4495800" cy="742950"/>
          </a:xfrm>
          <a:prstGeom prst="rect">
            <a:avLst/>
          </a:prstGeom>
          <a:noFill/>
        </p:spPr>
        <p:txBody>
          <a:bodyPr wrap="square" lIns="0" tIns="0" rIns="0" bIns="0" anchor="t">
            <a:normAutofit/>
          </a:bodyPr>
          <a:lstStyle/>
          <a:p>
            <a:pPr algn="l">
              <a:lnSpc>
                <a:spcPts val="1950"/>
              </a:lnSpc>
              <a:buNone/>
            </a:pPr>
            <a:r>
              <a:rPr sz="1500" b="0" i="0">
                <a:solidFill>
                  <a:srgbClr val="4B5563"/>
                </a:solidFill>
                <a:latin typeface="Poppins"/>
                <a:ea typeface="Poppins"/>
              </a:rPr>
              <a:t>Every candidate query is checked against fixed rules before anything is allowed to move further.</a:t>
            </a:r>
            <a:endParaRPr lang="en-US"/>
          </a:p>
        </p:txBody>
      </p:sp>
      <p:sp>
        <p:nvSpPr>
          <p:cNvPr id="18" name="Shape 18"/>
          <p:cNvSpPr/>
          <p:nvPr/>
        </p:nvSpPr>
        <p:spPr>
          <a:xfrm>
            <a:off x="6162675" y="3914775"/>
            <a:ext cx="647700" cy="365671"/>
          </a:xfrm>
          <a:prstGeom prst="rect">
            <a:avLst/>
          </a:prstGeom>
          <a:noFill/>
        </p:spPr>
        <p:txBody>
          <a:bodyPr wrap="square" lIns="0" tIns="0" rIns="0" bIns="0" anchor="t">
            <a:normAutofit/>
          </a:bodyPr>
          <a:lstStyle/>
          <a:p>
            <a:pPr algn="l">
              <a:lnSpc>
                <a:spcPts val="2880"/>
              </a:lnSpc>
              <a:buNone/>
            </a:pPr>
            <a:r>
              <a:rPr sz="3600" b="1" i="0">
                <a:solidFill>
                  <a:srgbClr val="111827"/>
                </a:solidFill>
                <a:latin typeface="Poppins"/>
                <a:ea typeface="Poppins"/>
              </a:rPr>
              <a:t>4</a:t>
            </a:r>
            <a:endParaRPr lang="en-US"/>
          </a:p>
        </p:txBody>
      </p:sp>
      <p:sp>
        <p:nvSpPr>
          <p:cNvPr id="19" name="Shape 19"/>
          <p:cNvSpPr/>
          <p:nvPr/>
        </p:nvSpPr>
        <p:spPr>
          <a:xfrm>
            <a:off x="6924675" y="3990975"/>
            <a:ext cx="4457700" cy="244525"/>
          </a:xfrm>
          <a:prstGeom prst="rect">
            <a:avLst/>
          </a:prstGeom>
          <a:noFill/>
        </p:spPr>
        <p:txBody>
          <a:bodyPr wrap="square" lIns="0" tIns="0" rIns="0" bIns="0" anchor="t">
            <a:normAutofit/>
          </a:bodyPr>
          <a:lstStyle/>
          <a:p>
            <a:pPr algn="l">
              <a:lnSpc>
                <a:spcPts val="1926"/>
              </a:lnSpc>
              <a:buNone/>
            </a:pPr>
            <a:r>
              <a:rPr sz="1800" b="1" i="0">
                <a:solidFill>
                  <a:srgbClr val="111827"/>
                </a:solidFill>
                <a:latin typeface="Poppins"/>
                <a:ea typeface="Poppins"/>
              </a:rPr>
              <a:t>Executor Boundary</a:t>
            </a:r>
            <a:endParaRPr lang="en-US"/>
          </a:p>
        </p:txBody>
      </p:sp>
      <p:sp>
        <p:nvSpPr>
          <p:cNvPr id="20" name="Shape 20"/>
          <p:cNvSpPr/>
          <p:nvPr/>
        </p:nvSpPr>
        <p:spPr>
          <a:xfrm>
            <a:off x="6924675" y="4410075"/>
            <a:ext cx="4457700" cy="495300"/>
          </a:xfrm>
          <a:prstGeom prst="rect">
            <a:avLst/>
          </a:prstGeom>
          <a:noFill/>
        </p:spPr>
        <p:txBody>
          <a:bodyPr wrap="square" lIns="0" tIns="0" rIns="0" bIns="0" anchor="t">
            <a:normAutofit/>
          </a:bodyPr>
          <a:lstStyle/>
          <a:p>
            <a:pPr algn="l">
              <a:lnSpc>
                <a:spcPts val="1950"/>
              </a:lnSpc>
              <a:buNone/>
            </a:pPr>
            <a:r>
              <a:rPr sz="1500" b="0" i="0">
                <a:solidFill>
                  <a:srgbClr val="4B5563"/>
                </a:solidFill>
                <a:latin typeface="Poppins"/>
                <a:ea typeface="Poppins"/>
              </a:rPr>
              <a:t>Only gate-passed queries run; the read-only trust boundary is architectural, not advisory.</a:t>
            </a:r>
            <a:endParaRPr lang="en-US"/>
          </a:p>
        </p:txBody>
      </p:sp>
      <p:sp>
        <p:nvSpPr>
          <p:cNvPr id="21" name="Shape 21"/>
          <p:cNvSpPr/>
          <p:nvPr/>
        </p:nvSpPr>
        <p:spPr>
          <a:xfrm>
            <a:off x="762000" y="5238750"/>
            <a:ext cx="647700" cy="365671"/>
          </a:xfrm>
          <a:prstGeom prst="rect">
            <a:avLst/>
          </a:prstGeom>
          <a:noFill/>
        </p:spPr>
        <p:txBody>
          <a:bodyPr wrap="square" lIns="0" tIns="0" rIns="0" bIns="0" anchor="t">
            <a:normAutofit/>
          </a:bodyPr>
          <a:lstStyle/>
          <a:p>
            <a:pPr algn="l">
              <a:lnSpc>
                <a:spcPts val="2880"/>
              </a:lnSpc>
              <a:buNone/>
            </a:pPr>
            <a:r>
              <a:rPr sz="3600" b="1" i="0">
                <a:solidFill>
                  <a:srgbClr val="111827"/>
                </a:solidFill>
                <a:latin typeface="Poppins"/>
                <a:ea typeface="Poppins"/>
              </a:rPr>
              <a:t>5</a:t>
            </a:r>
            <a:endParaRPr lang="en-US"/>
          </a:p>
        </p:txBody>
      </p:sp>
      <p:sp>
        <p:nvSpPr>
          <p:cNvPr id="22" name="Shape 22"/>
          <p:cNvSpPr/>
          <p:nvPr/>
        </p:nvSpPr>
        <p:spPr>
          <a:xfrm>
            <a:off x="1524000" y="5314950"/>
            <a:ext cx="4457700" cy="244525"/>
          </a:xfrm>
          <a:prstGeom prst="rect">
            <a:avLst/>
          </a:prstGeom>
          <a:noFill/>
        </p:spPr>
        <p:txBody>
          <a:bodyPr wrap="square" lIns="0" tIns="0" rIns="0" bIns="0" anchor="t">
            <a:normAutofit/>
          </a:bodyPr>
          <a:lstStyle/>
          <a:p>
            <a:pPr algn="l">
              <a:lnSpc>
                <a:spcPts val="1926"/>
              </a:lnSpc>
              <a:buNone/>
            </a:pPr>
            <a:r>
              <a:rPr sz="1800" b="1" i="0">
                <a:solidFill>
                  <a:srgbClr val="111827"/>
                </a:solidFill>
                <a:latin typeface="Poppins"/>
                <a:ea typeface="Poppins"/>
              </a:rPr>
              <a:t>Audit Log</a:t>
            </a:r>
            <a:endParaRPr lang="en-US"/>
          </a:p>
        </p:txBody>
      </p:sp>
      <p:sp>
        <p:nvSpPr>
          <p:cNvPr id="23" name="Shape 23"/>
          <p:cNvSpPr/>
          <p:nvPr/>
        </p:nvSpPr>
        <p:spPr>
          <a:xfrm>
            <a:off x="1524000" y="5734050"/>
            <a:ext cx="4457700" cy="742950"/>
          </a:xfrm>
          <a:prstGeom prst="rect">
            <a:avLst/>
          </a:prstGeom>
          <a:noFill/>
        </p:spPr>
        <p:txBody>
          <a:bodyPr wrap="square" lIns="0" tIns="0" rIns="0" bIns="0" anchor="t">
            <a:normAutofit/>
          </a:bodyPr>
          <a:lstStyle/>
          <a:p>
            <a:pPr algn="l">
              <a:lnSpc>
                <a:spcPts val="1950"/>
              </a:lnSpc>
              <a:buNone/>
            </a:pPr>
            <a:r>
              <a:rPr sz="1500" b="0" i="0">
                <a:solidFill>
                  <a:srgbClr val="4B5563"/>
                </a:solidFill>
                <a:latin typeface="Poppins"/>
                <a:ea typeface="Poppins"/>
              </a:rPr>
              <a:t>All outcomes are written to an append-only audit log, giving a complete, inspectable record.</a:t>
            </a:r>
            <a:endParaRPr lang="en-US"/>
          </a:p>
        </p:txBody>
      </p:sp>
      <p:sp>
        <p:nvSpPr>
          <p:cNvPr id="100000" name="TextBox 17"/>
          <p:cNvSpPr/>
          <p:nvPr/>
        </p:nvSpPr>
        <p:spPr>
          <a:xfrm>
            <a:off x="759600" y="1418400"/>
            <a:ext cx="1224000" cy="684000"/>
          </a:xfrm>
          <a:prstGeom prst="roundRect">
            <a:avLst/>
          </a:prstGeom>
          <a:solidFill>
            <a:srgbClr val="111827"/>
          </a:solidFill>
        </p:spPr>
        <p:txBody>
          <a:bodyPr/>
          <a:lstStyle/>
          <a:p>
            <a:pPr algn="ctr"/>
            <a:r>
              <a:rPr lang="en-US" sz="1300" b="1">
                <a:solidFill>
                  <a:srgbClr val="FFFFFF"/>
                </a:solidFill>
                <a:latin typeface="Poppins"/>
                <a:ea typeface="Poppins"/>
              </a:rPr>
              <a:t>Intake</a:t>
            </a:r>
          </a:p>
        </p:txBody>
      </p:sp>
      <p:sp>
        <p:nvSpPr>
          <p:cNvPr id="100001" name="TextBox 18"/>
          <p:cNvSpPr/>
          <p:nvPr/>
        </p:nvSpPr>
        <p:spPr>
          <a:xfrm>
            <a:off x="2026800" y="1616400"/>
            <a:ext cx="190800" cy="288000"/>
          </a:xfrm>
          <a:prstGeom prst="rightArrow">
            <a:avLst/>
          </a:prstGeom>
          <a:solidFill>
            <a:srgbClr val="4B5563"/>
          </a:solidFill>
        </p:spPr>
        <p:txBody>
          <a:bodyPr/>
          <a:lstStyle/>
          <a:p/>
        </p:txBody>
      </p:sp>
      <p:sp>
        <p:nvSpPr>
          <p:cNvPr id="100002" name="TextBox 19"/>
          <p:cNvSpPr/>
          <p:nvPr/>
        </p:nvSpPr>
        <p:spPr>
          <a:xfrm>
            <a:off x="2217600" y="1418400"/>
            <a:ext cx="1224000" cy="684000"/>
          </a:xfrm>
          <a:prstGeom prst="roundRect">
            <a:avLst/>
          </a:prstGeom>
          <a:solidFill>
            <a:srgbClr val="111827"/>
          </a:solidFill>
        </p:spPr>
        <p:txBody>
          <a:bodyPr/>
          <a:lstStyle/>
          <a:p>
            <a:pPr algn="ctr"/>
            <a:r>
              <a:rPr lang="en-US" sz="1300" b="1">
                <a:solidFill>
                  <a:srgbClr val="FFFFFF"/>
                </a:solidFill>
                <a:latin typeface="Poppins"/>
                <a:ea typeface="Poppins"/>
              </a:rPr>
              <a:t>Generator</a:t>
            </a:r>
          </a:p>
        </p:txBody>
      </p:sp>
      <p:sp>
        <p:nvSpPr>
          <p:cNvPr id="100003" name="TextBox 20"/>
          <p:cNvSpPr/>
          <p:nvPr/>
        </p:nvSpPr>
        <p:spPr>
          <a:xfrm>
            <a:off x="3484800" y="1616400"/>
            <a:ext cx="190800" cy="288000"/>
          </a:xfrm>
          <a:prstGeom prst="rightArrow">
            <a:avLst/>
          </a:prstGeom>
          <a:solidFill>
            <a:srgbClr val="4B5563"/>
          </a:solidFill>
        </p:spPr>
        <p:txBody>
          <a:bodyPr/>
          <a:lstStyle/>
          <a:p/>
        </p:txBody>
      </p:sp>
      <p:sp>
        <p:nvSpPr>
          <p:cNvPr id="100004" name="TextBox 21"/>
          <p:cNvSpPr/>
          <p:nvPr/>
        </p:nvSpPr>
        <p:spPr>
          <a:xfrm>
            <a:off x="3675600" y="1418400"/>
            <a:ext cx="1224000" cy="684000"/>
          </a:xfrm>
          <a:prstGeom prst="roundRect">
            <a:avLst/>
          </a:prstGeom>
          <a:solidFill>
            <a:srgbClr val="9333EA"/>
          </a:solidFill>
        </p:spPr>
        <p:txBody>
          <a:bodyPr/>
          <a:lstStyle/>
          <a:p>
            <a:pPr algn="ctr"/>
            <a:r>
              <a:rPr lang="en-US" sz="1000" b="1">
                <a:solidFill>
                  <a:srgbClr val="FFFFFF"/>
                </a:solidFill>
                <a:latin typeface="Poppins"/>
                <a:ea typeface="Poppins"/>
              </a:rPr>
              <a:t>VALIDATION GATE</a:t>
            </a:r>
          </a:p>
        </p:txBody>
      </p:sp>
      <p:sp>
        <p:nvSpPr>
          <p:cNvPr id="100005" name="TextBox 22"/>
          <p:cNvSpPr/>
          <p:nvPr/>
        </p:nvSpPr>
        <p:spPr>
          <a:xfrm>
            <a:off x="4942800" y="1616400"/>
            <a:ext cx="190800" cy="288000"/>
          </a:xfrm>
          <a:prstGeom prst="rightArrow">
            <a:avLst/>
          </a:prstGeom>
          <a:solidFill>
            <a:srgbClr val="4B5563"/>
          </a:solidFill>
        </p:spPr>
        <p:txBody>
          <a:bodyPr/>
          <a:lstStyle/>
          <a:p/>
        </p:txBody>
      </p:sp>
      <p:sp>
        <p:nvSpPr>
          <p:cNvPr id="100006" name="TextBox 23"/>
          <p:cNvSpPr/>
          <p:nvPr/>
        </p:nvSpPr>
        <p:spPr>
          <a:xfrm>
            <a:off x="5133600" y="1418400"/>
            <a:ext cx="1224000" cy="684000"/>
          </a:xfrm>
          <a:prstGeom prst="roundRect">
            <a:avLst/>
          </a:prstGeom>
          <a:solidFill>
            <a:srgbClr val="111827"/>
          </a:solidFill>
        </p:spPr>
        <p:txBody>
          <a:bodyPr/>
          <a:lstStyle/>
          <a:p>
            <a:pPr algn="ctr"/>
            <a:r>
              <a:rPr lang="en-US" sz="1300" b="1">
                <a:solidFill>
                  <a:srgbClr val="FFFFFF"/>
                </a:solidFill>
                <a:latin typeface="Poppins"/>
                <a:ea typeface="Poppins"/>
              </a:rPr>
              <a:t>Executor</a:t>
            </a:r>
          </a:p>
        </p:txBody>
      </p:sp>
      <p:sp>
        <p:nvSpPr>
          <p:cNvPr id="100007" name="TextBox 24"/>
          <p:cNvSpPr/>
          <p:nvPr/>
        </p:nvSpPr>
        <p:spPr>
          <a:xfrm>
            <a:off x="6400800" y="1616400"/>
            <a:ext cx="190800" cy="288000"/>
          </a:xfrm>
          <a:prstGeom prst="rightArrow">
            <a:avLst/>
          </a:prstGeom>
          <a:solidFill>
            <a:srgbClr val="4B5563"/>
          </a:solidFill>
        </p:spPr>
        <p:txBody>
          <a:bodyPr/>
          <a:lstStyle/>
          <a:p/>
        </p:txBody>
      </p:sp>
      <p:sp>
        <p:nvSpPr>
          <p:cNvPr id="100008" name="TextBox 25"/>
          <p:cNvSpPr/>
          <p:nvPr/>
        </p:nvSpPr>
        <p:spPr>
          <a:xfrm>
            <a:off x="6591600" y="1418400"/>
            <a:ext cx="1224000" cy="684000"/>
          </a:xfrm>
          <a:prstGeom prst="roundRect">
            <a:avLst/>
          </a:prstGeom>
          <a:solidFill>
            <a:srgbClr val="111827"/>
          </a:solidFill>
        </p:spPr>
        <p:txBody>
          <a:bodyPr/>
          <a:lstStyle/>
          <a:p>
            <a:pPr algn="ctr"/>
            <a:r>
              <a:rPr lang="en-US" sz="1300" b="1">
                <a:solidFill>
                  <a:srgbClr val="FFFFFF"/>
                </a:solidFill>
                <a:latin typeface="Poppins"/>
                <a:ea typeface="Poppins"/>
              </a:rPr>
              <a:t>Audit Log</a:t>
            </a:r>
          </a:p>
        </p:txBody>
      </p:sp>
    </p:spTree>
  </p:cSld>
  <p:clrMapOvr>
    <a:masterClrMapping/>
  </p:clrMapOvr>
</p:sld>
</file>

<file path=ppt/slides/slide5.xml><?xml version="1.0" encoding="utf-8"?>
<p:sld xmlns:asvg="http://schemas.microsoft.com/office/drawing/2016/SVG/main"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19" name="Presenton Native SVG Image 20" descr=""/>
          <p:cNvPicPr/>
          <p:nvPr/>
        </p:nvPicPr>
        <p:blipFill>
          <a:blip>
            <a:extLst>
              <a:ext uri="{96DAC541-7B7A-43D3-8B79-37D633B846F1}">
                <asvg:svgBlip xmlns:asvg="http://schemas.microsoft.com/office/drawing/2016/SVG/main" r:embed="rId13"/>
              </a:ext>
            </a:extLst>
          </a:blip>
          <a:stretch>
            <a:fillRect/>
          </a:stretch>
        </p:blipFill>
        <p:spPr>
          <a:xfrm>
            <a:off x="0" y="0"/>
            <a:ext cx="12192000" cy="6858000"/>
          </a:xfrm>
          <a:prstGeom prst="rect">
            <a:avLst/>
          </a:prstGeom>
        </p:spPr>
      </p:pic>
      <p:pic>
        <p:nvPicPr>
          <p:cNvPr id="120" name="Presenton Native Image 21" descr=""/>
          <p:cNvPicPr/>
          <p:nvPr/>
        </p:nvPicPr>
        <p:blipFill>
          <a:blip r:embed="rId3" cstate="none"/>
          <a:stretch>
            <a:fillRect/>
          </a:stretch>
        </p:blipFill>
        <p:spPr>
          <a:xfrm>
            <a:off x="762000" y="1333500"/>
            <a:ext cx="5029200" cy="5219700"/>
          </a:xfrm>
          <a:prstGeom prst="rect">
            <a:avLst/>
          </a:prstGeom>
        </p:spPr>
      </p:pic>
      <p:pic>
        <p:nvPicPr>
          <p:cNvPr id="121" name="Presenton Native Image 22" descr=""/>
          <p:cNvPicPr/>
          <p:nvPr/>
        </p:nvPicPr>
        <p:blipFill>
          <a:blip r:embed="rId4" cstate="none"/>
          <a:stretch>
            <a:fillRect/>
          </a:stretch>
        </p:blipFill>
        <p:spPr>
          <a:xfrm>
            <a:off x="5257800" y="2095500"/>
            <a:ext cx="228600" cy="228600"/>
          </a:xfrm>
          <a:prstGeom prst="rect">
            <a:avLst/>
          </a:prstGeom>
        </p:spPr>
      </p:pic>
      <p:sp>
        <p:nvSpPr>
          <p:cNvPr id="24" name="Shape 24"/>
          <p:cNvSpPr/>
          <p:nvPr/>
        </p:nvSpPr>
        <p:spPr>
          <a:xfrm>
            <a:off x="762000" y="457200"/>
            <a:ext cx="10706100" cy="457200"/>
          </a:xfrm>
          <a:prstGeom prst="rect">
            <a:avLst/>
          </a:prstGeom>
          <a:noFill/>
        </p:spPr>
        <p:txBody>
          <a:bodyPr wrap="square" lIns="0" tIns="0" rIns="0" bIns="0" anchor="t">
            <a:normAutofit/>
          </a:bodyPr>
          <a:lstStyle/>
          <a:p>
            <a:pPr algn="l">
              <a:lnSpc>
                <a:spcPts val="3600"/>
              </a:lnSpc>
              <a:buNone/>
            </a:pPr>
            <a:r>
              <a:rPr sz="4500" b="1" i="0">
                <a:solidFill>
                  <a:srgbClr val="111827"/>
                </a:solidFill>
                <a:latin typeface="Poppins"/>
                <a:ea typeface="Poppins"/>
              </a:rPr>
              <a:t>Inside the Validation Gate</a:t>
            </a:r>
            <a:endParaRPr lang="en-US"/>
          </a:p>
        </p:txBody>
      </p:sp>
      <p:pic>
        <p:nvPicPr>
          <p:cNvPr id="122" name="Presenton Native SVG Image 23" descr=""/>
          <p:cNvPicPr/>
          <p:nvPr/>
        </p:nvPicPr>
        <p:blipFill>
          <a:blip>
            <a:extLst>
              <a:ext uri="{96DAC541-7B7A-43D3-8B79-37D633B846F1}">
                <asvg:svgBlip xmlns:asvg="http://schemas.microsoft.com/office/drawing/2016/SVG/main" r:embed="rId14"/>
              </a:ext>
            </a:extLst>
          </a:blip>
          <a:stretch>
            <a:fillRect/>
          </a:stretch>
        </p:blipFill>
        <p:spPr>
          <a:xfrm>
            <a:off x="1143000" y="2419350"/>
            <a:ext cx="4267200" cy="3048000"/>
          </a:xfrm>
          <a:prstGeom prst="rect">
            <a:avLst/>
          </a:prstGeom>
        </p:spPr>
      </p:pic>
      <p:pic>
        <p:nvPicPr>
          <p:cNvPr id="123" name="Presenton Raster Image 24" descr=""/>
          <p:cNvPicPr/>
          <p:nvPr/>
        </p:nvPicPr>
        <p:blipFill>
          <a:blip r:embed="rId6" cstate="none"/>
          <a:stretch>
            <a:fillRect/>
          </a:stretch>
        </p:blipFill>
        <p:spPr>
          <a:xfrm>
            <a:off x="1143000" y="2419350"/>
            <a:ext cx="4267200" cy="3048000"/>
          </a:xfrm>
          <a:prstGeom prst="rect">
            <a:avLst/>
          </a:prstGeom>
        </p:spPr>
      </p:pic>
      <p:sp>
        <p:nvSpPr>
          <p:cNvPr id="25" name="Shape 25"/>
          <p:cNvSpPr/>
          <p:nvPr/>
        </p:nvSpPr>
        <p:spPr>
          <a:xfrm>
            <a:off x="6400800" y="1368921"/>
            <a:ext cx="5067300" cy="817066"/>
          </a:xfrm>
          <a:prstGeom prst="rect">
            <a:avLst/>
          </a:prstGeom>
          <a:noFill/>
        </p:spPr>
        <p:txBody>
          <a:bodyPr wrap="square" lIns="0" tIns="0" rIns="0" bIns="0" anchor="t">
            <a:normAutofit/>
          </a:bodyPr>
          <a:lstStyle/>
          <a:p>
            <a:pPr algn="l">
              <a:lnSpc>
                <a:spcPts val="2145"/>
              </a:lnSpc>
              <a:buNone/>
            </a:pPr>
            <a:r>
              <a:rPr sz="1650" b="0" i="0">
                <a:solidFill>
                  <a:srgbClr val="4B5563"/>
                </a:solidFill>
                <a:latin typeface="Poppins"/>
                <a:ea typeface="Poppins"/>
              </a:rPr>
              <a:t>10 deterministic rules check each generated query, so enforcement relies on architecture rather than model behavior.</a:t>
            </a:r>
            <a:endParaRPr lang="en-US"/>
          </a:p>
        </p:txBody>
      </p:sp>
      <p:pic>
        <p:nvPicPr>
          <p:cNvPr id="124" name="Presenton Native SVG Image 25" descr=""/>
          <p:cNvPicPr/>
          <p:nvPr/>
        </p:nvPicPr>
        <p:blipFill>
          <a:blip>
            <a:extLst>
              <a:ext uri="{96DAC541-7B7A-43D3-8B79-37D633B846F1}">
                <asvg:svgBlip xmlns:asvg="http://schemas.microsoft.com/office/drawing/2016/SVG/main" r:embed="rId15"/>
              </a:ext>
            </a:extLst>
          </a:blip>
          <a:stretch>
            <a:fillRect/>
          </a:stretch>
        </p:blipFill>
        <p:spPr>
          <a:xfrm>
            <a:off x="6400800" y="2511921"/>
            <a:ext cx="457200" cy="457200"/>
          </a:xfrm>
          <a:prstGeom prst="rect">
            <a:avLst/>
          </a:prstGeom>
        </p:spPr>
      </p:pic>
      <p:pic>
        <p:nvPicPr>
          <p:cNvPr id="125" name="Presenton Native Image 26" descr=""/>
          <p:cNvPicPr/>
          <p:nvPr/>
        </p:nvPicPr>
        <p:blipFill>
          <a:blip r:embed="rId8" cstate="none"/>
          <a:stretch>
            <a:fillRect/>
          </a:stretch>
        </p:blipFill>
        <p:spPr>
          <a:xfrm>
            <a:off x="6515100" y="2629049"/>
            <a:ext cx="228600" cy="228600"/>
          </a:xfrm>
          <a:prstGeom prst="rect">
            <a:avLst/>
          </a:prstGeom>
        </p:spPr>
      </p:pic>
      <p:sp>
        <p:nvSpPr>
          <p:cNvPr id="26" name="Shape 26"/>
          <p:cNvSpPr/>
          <p:nvPr/>
        </p:nvSpPr>
        <p:spPr>
          <a:xfrm>
            <a:off x="7010400" y="2511921"/>
            <a:ext cx="4457700" cy="255984"/>
          </a:xfrm>
          <a:prstGeom prst="rect">
            <a:avLst/>
          </a:prstGeom>
          <a:noFill/>
        </p:spPr>
        <p:txBody>
          <a:bodyPr wrap="square" lIns="0" tIns="0" rIns="0" bIns="0" anchor="t">
            <a:normAutofit/>
          </a:bodyPr>
          <a:lstStyle/>
          <a:p>
            <a:pPr algn="l">
              <a:lnSpc>
                <a:spcPts val="2016"/>
              </a:lnSpc>
              <a:buNone/>
            </a:pPr>
            <a:r>
              <a:rPr sz="1800" b="0" i="0">
                <a:solidFill>
                  <a:srgbClr val="111827"/>
                </a:solidFill>
                <a:latin typeface="Poppins"/>
                <a:ea typeface="Poppins"/>
              </a:rPr>
              <a:t>PASS or BLOCK Verdict</a:t>
            </a:r>
            <a:endParaRPr lang="en-US"/>
          </a:p>
        </p:txBody>
      </p:sp>
      <p:pic>
        <p:nvPicPr>
          <p:cNvPr id="126" name="Presenton Native SVG Image 27" descr=""/>
          <p:cNvPicPr/>
          <p:nvPr/>
        </p:nvPicPr>
        <p:blipFill>
          <a:blip>
            <a:extLst>
              <a:ext uri="{96DAC541-7B7A-43D3-8B79-37D633B846F1}">
                <asvg:svgBlip xmlns:asvg="http://schemas.microsoft.com/office/drawing/2016/SVG/main" r:embed="rId16"/>
              </a:ext>
            </a:extLst>
          </a:blip>
          <a:stretch>
            <a:fillRect/>
          </a:stretch>
        </p:blipFill>
        <p:spPr>
          <a:xfrm>
            <a:off x="7010400" y="2854821"/>
            <a:ext cx="457200" cy="19050"/>
          </a:xfrm>
          <a:prstGeom prst="rect">
            <a:avLst/>
          </a:prstGeom>
        </p:spPr>
      </p:pic>
      <p:sp>
        <p:nvSpPr>
          <p:cNvPr id="27" name="Shape 27"/>
          <p:cNvSpPr/>
          <p:nvPr/>
        </p:nvSpPr>
        <p:spPr>
          <a:xfrm>
            <a:off x="7010400" y="2988171"/>
            <a:ext cx="4457700" cy="495300"/>
          </a:xfrm>
          <a:prstGeom prst="rect">
            <a:avLst/>
          </a:prstGeom>
          <a:noFill/>
        </p:spPr>
        <p:txBody>
          <a:bodyPr wrap="square" lIns="0" tIns="0" rIns="0" bIns="0" anchor="t">
            <a:normAutofit/>
          </a:bodyPr>
          <a:lstStyle/>
          <a:p>
            <a:pPr algn="l">
              <a:lnSpc>
                <a:spcPts val="1950"/>
              </a:lnSpc>
              <a:buNone/>
            </a:pPr>
            <a:r>
              <a:rPr sz="1500" b="0" i="0">
                <a:solidFill>
                  <a:srgbClr val="4B5563"/>
                </a:solidFill>
                <a:latin typeface="Poppins"/>
                <a:ea typeface="Poppins"/>
              </a:rPr>
              <a:t>Each query receives PASS or BLOCK, together with the specific rule that fired, as planned.</a:t>
            </a:r>
            <a:endParaRPr lang="en-US"/>
          </a:p>
        </p:txBody>
      </p:sp>
      <p:pic>
        <p:nvPicPr>
          <p:cNvPr id="127" name="Presenton Native SVG Image 28" descr=""/>
          <p:cNvPicPr/>
          <p:nvPr/>
        </p:nvPicPr>
        <p:blipFill>
          <a:blip>
            <a:extLst>
              <a:ext uri="{96DAC541-7B7A-43D3-8B79-37D633B846F1}">
                <asvg:svgBlip xmlns:asvg="http://schemas.microsoft.com/office/drawing/2016/SVG/main" r:embed="rId17"/>
              </a:ext>
            </a:extLst>
          </a:blip>
          <a:stretch>
            <a:fillRect/>
          </a:stretch>
        </p:blipFill>
        <p:spPr>
          <a:xfrm>
            <a:off x="6400800" y="3712071"/>
            <a:ext cx="457200" cy="457200"/>
          </a:xfrm>
          <a:prstGeom prst="rect">
            <a:avLst/>
          </a:prstGeom>
        </p:spPr>
      </p:pic>
      <p:pic>
        <p:nvPicPr>
          <p:cNvPr id="128" name="Presenton Native Image 29" descr=""/>
          <p:cNvPicPr/>
          <p:nvPr/>
        </p:nvPicPr>
        <p:blipFill>
          <a:blip r:embed="rId10" cstate="none"/>
          <a:stretch>
            <a:fillRect/>
          </a:stretch>
        </p:blipFill>
        <p:spPr>
          <a:xfrm>
            <a:off x="6515100" y="3829199"/>
            <a:ext cx="228600" cy="228600"/>
          </a:xfrm>
          <a:prstGeom prst="rect">
            <a:avLst/>
          </a:prstGeom>
        </p:spPr>
      </p:pic>
      <p:sp>
        <p:nvSpPr>
          <p:cNvPr id="28" name="Shape 28"/>
          <p:cNvSpPr/>
          <p:nvPr/>
        </p:nvSpPr>
        <p:spPr>
          <a:xfrm>
            <a:off x="7010400" y="3712071"/>
            <a:ext cx="4457700" cy="255984"/>
          </a:xfrm>
          <a:prstGeom prst="rect">
            <a:avLst/>
          </a:prstGeom>
          <a:noFill/>
        </p:spPr>
        <p:txBody>
          <a:bodyPr wrap="square" lIns="0" tIns="0" rIns="0" bIns="0" anchor="t">
            <a:normAutofit/>
          </a:bodyPr>
          <a:lstStyle/>
          <a:p>
            <a:pPr algn="l">
              <a:lnSpc>
                <a:spcPts val="2016"/>
              </a:lnSpc>
              <a:buNone/>
            </a:pPr>
            <a:r>
              <a:rPr sz="1800" b="0" i="0">
                <a:solidFill>
                  <a:srgbClr val="111827"/>
                </a:solidFill>
                <a:latin typeface="Poppins"/>
                <a:ea typeface="Poppins"/>
              </a:rPr>
              <a:t>Sensitive Columns MASKED</a:t>
            </a:r>
            <a:endParaRPr lang="en-US"/>
          </a:p>
        </p:txBody>
      </p:sp>
      <p:pic>
        <p:nvPicPr>
          <p:cNvPr id="129" name="Presenton Native SVG Image 30" descr=""/>
          <p:cNvPicPr/>
          <p:nvPr/>
        </p:nvPicPr>
        <p:blipFill>
          <a:blip>
            <a:extLst>
              <a:ext uri="{96DAC541-7B7A-43D3-8B79-37D633B846F1}">
                <asvg:svgBlip xmlns:asvg="http://schemas.microsoft.com/office/drawing/2016/SVG/main" r:embed="rId18"/>
              </a:ext>
            </a:extLst>
          </a:blip>
          <a:stretch>
            <a:fillRect/>
          </a:stretch>
        </p:blipFill>
        <p:spPr>
          <a:xfrm>
            <a:off x="7010400" y="4054971"/>
            <a:ext cx="457200" cy="19050"/>
          </a:xfrm>
          <a:prstGeom prst="rect">
            <a:avLst/>
          </a:prstGeom>
        </p:spPr>
      </p:pic>
      <p:sp>
        <p:nvSpPr>
          <p:cNvPr id="29" name="Shape 29"/>
          <p:cNvSpPr/>
          <p:nvPr/>
        </p:nvSpPr>
        <p:spPr>
          <a:xfrm>
            <a:off x="7010400" y="4188321"/>
            <a:ext cx="4457700" cy="742950"/>
          </a:xfrm>
          <a:prstGeom prst="rect">
            <a:avLst/>
          </a:prstGeom>
          <a:noFill/>
        </p:spPr>
        <p:txBody>
          <a:bodyPr wrap="square" lIns="0" tIns="0" rIns="0" bIns="0" anchor="t">
            <a:normAutofit/>
          </a:bodyPr>
          <a:lstStyle/>
          <a:p>
            <a:pPr algn="l">
              <a:lnSpc>
                <a:spcPts val="1950"/>
              </a:lnSpc>
              <a:buNone/>
            </a:pPr>
            <a:r>
              <a:rPr sz="1500" b="0" i="0">
                <a:solidFill>
                  <a:srgbClr val="4B5563"/>
                </a:solidFill>
                <a:latin typeface="Poppins"/>
                <a:ea typeface="Poppins"/>
              </a:rPr>
              <a:t>Sensitive columns are MASKED in the plan, keeping private data out of anything that executes.</a:t>
            </a:r>
            <a:endParaRPr lang="en-US"/>
          </a:p>
        </p:txBody>
      </p:sp>
      <p:pic>
        <p:nvPicPr>
          <p:cNvPr id="130" name="Presenton Native SVG Image 31" descr=""/>
          <p:cNvPicPr/>
          <p:nvPr/>
        </p:nvPicPr>
        <p:blipFill>
          <a:blip>
            <a:extLst>
              <a:ext uri="{96DAC541-7B7A-43D3-8B79-37D633B846F1}">
                <asvg:svgBlip xmlns:asvg="http://schemas.microsoft.com/office/drawing/2016/SVG/main" r:embed="rId19"/>
              </a:ext>
            </a:extLst>
          </a:blip>
          <a:stretch>
            <a:fillRect/>
          </a:stretch>
        </p:blipFill>
        <p:spPr>
          <a:xfrm>
            <a:off x="6400800" y="4912221"/>
            <a:ext cx="457200" cy="457200"/>
          </a:xfrm>
          <a:prstGeom prst="rect">
            <a:avLst/>
          </a:prstGeom>
        </p:spPr>
      </p:pic>
      <p:pic>
        <p:nvPicPr>
          <p:cNvPr id="131" name="Presenton Native Image 32" descr=""/>
          <p:cNvPicPr/>
          <p:nvPr/>
        </p:nvPicPr>
        <p:blipFill>
          <a:blip r:embed="rId11" cstate="none"/>
          <a:stretch>
            <a:fillRect/>
          </a:stretch>
        </p:blipFill>
        <p:spPr>
          <a:xfrm>
            <a:off x="6515100" y="5029349"/>
            <a:ext cx="228600" cy="228600"/>
          </a:xfrm>
          <a:prstGeom prst="rect">
            <a:avLst/>
          </a:prstGeom>
        </p:spPr>
      </p:pic>
      <p:sp>
        <p:nvSpPr>
          <p:cNvPr id="30" name="Shape 30"/>
          <p:cNvSpPr/>
          <p:nvPr/>
        </p:nvSpPr>
        <p:spPr>
          <a:xfrm>
            <a:off x="7010400" y="4912221"/>
            <a:ext cx="4457700" cy="255984"/>
          </a:xfrm>
          <a:prstGeom prst="rect">
            <a:avLst/>
          </a:prstGeom>
          <a:noFill/>
        </p:spPr>
        <p:txBody>
          <a:bodyPr wrap="square" lIns="0" tIns="0" rIns="0" bIns="0" anchor="t">
            <a:normAutofit/>
          </a:bodyPr>
          <a:lstStyle/>
          <a:p>
            <a:pPr algn="l">
              <a:lnSpc>
                <a:spcPts val="2016"/>
              </a:lnSpc>
              <a:buNone/>
            </a:pPr>
            <a:r>
              <a:rPr sz="1800" b="0" i="0">
                <a:solidFill>
                  <a:srgbClr val="111827"/>
                </a:solidFill>
                <a:latin typeface="Poppins"/>
                <a:ea typeface="Poppins"/>
              </a:rPr>
              <a:t>Missing Limits SUGGESTED</a:t>
            </a:r>
            <a:endParaRPr lang="en-US"/>
          </a:p>
        </p:txBody>
      </p:sp>
      <p:pic>
        <p:nvPicPr>
          <p:cNvPr id="132" name="Presenton Native SVG Image 33" descr=""/>
          <p:cNvPicPr/>
          <p:nvPr/>
        </p:nvPicPr>
        <p:blipFill>
          <a:blip>
            <a:extLst>
              <a:ext uri="{96DAC541-7B7A-43D3-8B79-37D633B846F1}">
                <asvg:svgBlip xmlns:asvg="http://schemas.microsoft.com/office/drawing/2016/SVG/main" r:embed="rId20"/>
              </a:ext>
            </a:extLst>
          </a:blip>
          <a:stretch>
            <a:fillRect/>
          </a:stretch>
        </p:blipFill>
        <p:spPr>
          <a:xfrm>
            <a:off x="7010400" y="5255121"/>
            <a:ext cx="457200" cy="19050"/>
          </a:xfrm>
          <a:prstGeom prst="rect">
            <a:avLst/>
          </a:prstGeom>
        </p:spPr>
      </p:pic>
      <p:sp>
        <p:nvSpPr>
          <p:cNvPr id="31" name="Shape 31"/>
          <p:cNvSpPr/>
          <p:nvPr/>
        </p:nvSpPr>
        <p:spPr>
          <a:xfrm>
            <a:off x="7010400" y="5388471"/>
            <a:ext cx="4457700" cy="495300"/>
          </a:xfrm>
          <a:prstGeom prst="rect">
            <a:avLst/>
          </a:prstGeom>
          <a:noFill/>
        </p:spPr>
        <p:txBody>
          <a:bodyPr wrap="square" lIns="0" tIns="0" rIns="0" bIns="0" anchor="t">
            <a:normAutofit/>
          </a:bodyPr>
          <a:lstStyle/>
          <a:p>
            <a:pPr algn="l">
              <a:lnSpc>
                <a:spcPts val="1950"/>
              </a:lnSpc>
              <a:buNone/>
            </a:pPr>
            <a:r>
              <a:rPr sz="1500" b="0" i="0">
                <a:solidFill>
                  <a:srgbClr val="4B5563"/>
                </a:solidFill>
                <a:latin typeface="Poppins"/>
                <a:ea typeface="Poppins"/>
              </a:rPr>
              <a:t>Queries missing row limits get SUGGESTED additions, tightening safety before execution.</a:t>
            </a:r>
            <a:endParaRPr lang="en-US"/>
          </a:p>
        </p:txBody>
      </p:sp>
    </p:spTree>
  </p:cSld>
  <p:clrMapOvr>
    <a:masterClrMapping/>
  </p:clrMapOvr>
</p:sld>
</file>

<file path=ppt/slides/slide6.xml><?xml version="1.0" encoding="utf-8"?>
<p:sld xmlns:asvg="http://schemas.microsoft.com/office/drawing/2016/SVG/main"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33" name="Presenton Native SVG Image 34" descr=""/>
          <p:cNvPicPr/>
          <p:nvPr/>
        </p:nvPicPr>
        <p:blipFill>
          <a:blip>
            <a:extLst>
              <a:ext uri="{96DAC541-7B7A-43D3-8B79-37D633B846F1}">
                <asvg:svgBlip xmlns:asvg="http://schemas.microsoft.com/office/drawing/2016/SVG/main" r:embed="rId8"/>
              </a:ext>
            </a:extLst>
          </a:blip>
          <a:stretch>
            <a:fillRect/>
          </a:stretch>
        </p:blipFill>
        <p:spPr>
          <a:xfrm>
            <a:off x="0" y="0"/>
            <a:ext cx="12192000" cy="6858000"/>
          </a:xfrm>
          <a:prstGeom prst="rect">
            <a:avLst/>
          </a:prstGeom>
        </p:spPr>
      </p:pic>
      <p:pic>
        <p:nvPicPr>
          <p:cNvPr id="134" name="Presenton Native Image 35" descr=""/>
          <p:cNvPicPr/>
          <p:nvPr/>
        </p:nvPicPr>
        <p:blipFill>
          <a:blip r:embed="rId4" cstate="none"/>
          <a:stretch>
            <a:fillRect/>
          </a:stretch>
        </p:blipFill>
        <p:spPr>
          <a:xfrm>
            <a:off x="0" y="0"/>
            <a:ext cx="2438400" cy="6858000"/>
          </a:xfrm>
          <a:prstGeom prst="rect">
            <a:avLst/>
          </a:prstGeom>
        </p:spPr>
      </p:pic>
      <p:pic>
        <p:nvPicPr>
          <p:cNvPr id="135" name="Presenton Native Image 36" descr=""/>
          <p:cNvPicPr/>
          <p:nvPr/>
        </p:nvPicPr>
        <p:blipFill>
          <a:blip r:embed="rId5" cstate="none"/>
          <a:stretch>
            <a:fillRect/>
          </a:stretch>
        </p:blipFill>
        <p:spPr>
          <a:xfrm>
            <a:off x="9753600" y="0"/>
            <a:ext cx="2438400" cy="6858000"/>
          </a:xfrm>
          <a:prstGeom prst="rect">
            <a:avLst/>
          </a:prstGeom>
        </p:spPr>
      </p:pic>
      <p:sp>
        <p:nvSpPr>
          <p:cNvPr id="32" name="Shape 32"/>
          <p:cNvSpPr/>
          <p:nvPr/>
        </p:nvSpPr>
        <p:spPr>
          <a:xfrm>
            <a:off x="762000" y="514350"/>
            <a:ext cx="10706100" cy="457200"/>
          </a:xfrm>
          <a:prstGeom prst="rect">
            <a:avLst/>
          </a:prstGeom>
          <a:noFill/>
        </p:spPr>
        <p:txBody>
          <a:bodyPr wrap="square" lIns="0" tIns="0" rIns="0" bIns="0" anchor="t">
            <a:normAutofit/>
          </a:bodyPr>
          <a:lstStyle/>
          <a:p>
            <a:pPr algn="ctr">
              <a:lnSpc>
                <a:spcPts val="3600"/>
              </a:lnSpc>
              <a:buNone/>
            </a:pPr>
            <a:r>
              <a:rPr sz="4500" b="1" i="0">
                <a:solidFill>
                  <a:srgbClr val="111827"/>
                </a:solidFill>
                <a:latin typeface="Poppins"/>
                <a:ea typeface="Poppins"/>
              </a:rPr>
              <a:t>Team Ownership</a:t>
            </a:r>
            <a:endParaRPr lang="en-US"/>
          </a:p>
        </p:txBody>
      </p:sp>
      <p:pic>
        <p:nvPicPr>
          <p:cNvPr id="136" name="Presenton Native SVG Image 37" descr=""/>
          <p:cNvPicPr/>
          <p:nvPr/>
        </p:nvPicPr>
        <p:blipFill>
          <a:blip>
            <a:extLst>
              <a:ext uri="{96DAC541-7B7A-43D3-8B79-37D633B846F1}">
                <asvg:svgBlip xmlns:asvg="http://schemas.microsoft.com/office/drawing/2016/SVG/main" r:embed="rId9"/>
              </a:ext>
            </a:extLst>
          </a:blip>
          <a:stretch>
            <a:fillRect/>
          </a:stretch>
        </p:blipFill>
        <p:spPr>
          <a:xfrm>
            <a:off x="5715000" y="1181100"/>
            <a:ext cx="762000" cy="38100"/>
          </a:xfrm>
          <a:prstGeom prst="rect">
            <a:avLst/>
          </a:prstGeom>
        </p:spPr>
      </p:pic>
      <p:pic>
        <p:nvPicPr>
          <p:cNvPr id="137" name="Presenton Native Image 38" descr=""/>
          <p:cNvPicPr/>
          <p:nvPr/>
        </p:nvPicPr>
        <p:blipFill>
          <a:blip r:embed="rId6" cstate="none"/>
          <a:stretch>
            <a:fillRect/>
          </a:stretch>
        </p:blipFill>
        <p:spPr>
          <a:xfrm>
            <a:off x="1828800" y="2305050"/>
            <a:ext cx="8534400" cy="2714625"/>
          </a:xfrm>
          <a:prstGeom prst="rect">
            <a:avLst/>
          </a:prstGeom>
        </p:spPr>
      </p:pic>
      <p:sp>
        <p:nvSpPr>
          <p:cNvPr id="33" name="Shape 33"/>
          <p:cNvSpPr/>
          <p:nvPr/>
        </p:nvSpPr>
        <p:spPr>
          <a:xfrm>
            <a:off x="1828800" y="6096000"/>
            <a:ext cx="8572500" cy="457200"/>
          </a:xfrm>
          <a:prstGeom prst="rect">
            <a:avLst/>
          </a:prstGeom>
          <a:noFill/>
        </p:spPr>
        <p:txBody>
          <a:bodyPr wrap="square" lIns="0" tIns="0" rIns="0" bIns="0" anchor="t">
            <a:normAutofit/>
          </a:bodyPr>
          <a:lstStyle/>
          <a:p>
            <a:pPr algn="ctr">
              <a:lnSpc>
                <a:spcPts val="1800"/>
              </a:lnSpc>
              <a:buNone/>
            </a:pPr>
            <a:r>
              <a:rPr sz="1500" b="0" i="0">
                <a:solidFill>
                  <a:srgbClr val="4B5563"/>
                </a:solidFill>
                <a:latin typeface="Poppins"/>
                <a:ea typeface="Poppins"/>
              </a:rPr>
              <a:t>Planned for September 10, 2026, the two-member team pairs M. Mahd Amjad and Arwa Arafeh across four workstreams, with shares of 40%, 20%, 20%, and 20% respectively.</a:t>
            </a:r>
            <a:endParaRPr lang="en-US"/>
          </a:p>
        </p:txBody>
      </p:sp>
    </p:spTree>
  </p:cSld>
  <p:clrMapOvr>
    <a:masterClrMapping/>
  </p:clrMapOvr>
</p:sld>
</file>

<file path=ppt/slides/slide7.xml><?xml version="1.0" encoding="utf-8"?>
<p:sld xmlns:asvg="http://schemas.microsoft.com/office/drawing/2016/SVG/main"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38" name="Presenton Native SVG Image 39" descr=""/>
          <p:cNvPicPr/>
          <p:nvPr/>
        </p:nvPicPr>
        <p:blipFill>
          <a:blip>
            <a:extLst>
              <a:ext uri="{96DAC541-7B7A-43D3-8B79-37D633B846F1}">
                <asvg:svgBlip xmlns:asvg="http://schemas.microsoft.com/office/drawing/2016/SVG/main" r:embed="rId9"/>
              </a:ext>
            </a:extLst>
          </a:blip>
          <a:stretch>
            <a:fillRect/>
          </a:stretch>
        </p:blipFill>
        <p:spPr>
          <a:xfrm>
            <a:off x="0" y="0"/>
            <a:ext cx="12192000" cy="6858000"/>
          </a:xfrm>
          <a:prstGeom prst="rect">
            <a:avLst/>
          </a:prstGeom>
        </p:spPr>
      </p:pic>
      <p:pic>
        <p:nvPicPr>
          <p:cNvPr id="139" name="Presenton Native Image 40" descr=""/>
          <p:cNvPicPr/>
          <p:nvPr/>
        </p:nvPicPr>
        <p:blipFill>
          <a:blip r:embed="rId3" cstate="none"/>
          <a:stretch>
            <a:fillRect/>
          </a:stretch>
        </p:blipFill>
        <p:spPr>
          <a:xfrm>
            <a:off x="0" y="0"/>
            <a:ext cx="2438400" cy="6858000"/>
          </a:xfrm>
          <a:prstGeom prst="rect">
            <a:avLst/>
          </a:prstGeom>
        </p:spPr>
      </p:pic>
      <p:pic>
        <p:nvPicPr>
          <p:cNvPr id="140" name="Presenton Native Image 41" descr=""/>
          <p:cNvPicPr/>
          <p:nvPr/>
        </p:nvPicPr>
        <p:blipFill>
          <a:blip r:embed="rId4" cstate="none"/>
          <a:stretch>
            <a:fillRect/>
          </a:stretch>
        </p:blipFill>
        <p:spPr>
          <a:xfrm>
            <a:off x="9753600" y="0"/>
            <a:ext cx="2438400" cy="6858000"/>
          </a:xfrm>
          <a:prstGeom prst="rect">
            <a:avLst/>
          </a:prstGeom>
        </p:spPr>
      </p:pic>
      <p:sp>
        <p:nvSpPr>
          <p:cNvPr id="34" name="Shape 34"/>
          <p:cNvSpPr/>
          <p:nvPr/>
        </p:nvSpPr>
        <p:spPr>
          <a:xfrm>
            <a:off x="762000" y="2019300"/>
            <a:ext cx="10706100" cy="457200"/>
          </a:xfrm>
          <a:prstGeom prst="rect">
            <a:avLst/>
          </a:prstGeom>
          <a:noFill/>
        </p:spPr>
        <p:txBody>
          <a:bodyPr wrap="square" lIns="0" tIns="0" rIns="0" bIns="0" anchor="t">
            <a:normAutofit/>
          </a:bodyPr>
          <a:lstStyle/>
          <a:p>
            <a:pPr algn="ctr">
              <a:lnSpc>
                <a:spcPts val="3600"/>
              </a:lnSpc>
              <a:buNone/>
            </a:pPr>
            <a:r>
              <a:rPr sz="4500" b="1" i="0">
                <a:solidFill>
                  <a:srgbClr val="111827"/>
                </a:solidFill>
                <a:latin typeface="Poppins"/>
                <a:ea typeface="Poppins"/>
              </a:rPr>
              <a:t>Evaluation Plan</a:t>
            </a:r>
            <a:endParaRPr lang="en-US"/>
          </a:p>
        </p:txBody>
      </p:sp>
      <p:sp>
        <p:nvSpPr>
          <p:cNvPr id="35" name="Shape 35"/>
          <p:cNvSpPr/>
          <p:nvPr/>
        </p:nvSpPr>
        <p:spPr>
          <a:xfrm>
            <a:off x="762000" y="3390900"/>
            <a:ext cx="3390900" cy="457200"/>
          </a:xfrm>
          <a:prstGeom prst="rect">
            <a:avLst/>
          </a:prstGeom>
          <a:noFill/>
        </p:spPr>
        <p:txBody>
          <a:bodyPr wrap="square" lIns="0" tIns="0" rIns="0" bIns="0" anchor="t">
            <a:normAutofit/>
          </a:bodyPr>
          <a:lstStyle/>
          <a:p>
            <a:pPr algn="ctr">
              <a:lnSpc>
                <a:spcPts val="3600"/>
              </a:lnSpc>
              <a:buNone/>
            </a:pPr>
            <a:r>
              <a:rPr sz="4500" b="1" i="0">
                <a:solidFill>
                  <a:srgbClr val="9333EA"/>
                </a:solidFill>
                <a:latin typeface="Poppins"/>
                <a:ea typeface="Poppins"/>
              </a:rPr>
              <a:t>100%</a:t>
            </a:r>
            <a:endParaRPr lang="en-US"/>
          </a:p>
        </p:txBody>
      </p:sp>
      <p:pic>
        <p:nvPicPr>
          <p:cNvPr id="141" name="Presenton Native SVG Image 42" descr=""/>
          <p:cNvPicPr/>
          <p:nvPr/>
        </p:nvPicPr>
        <p:blipFill>
          <a:blip>
            <a:extLst>
              <a:ext uri="{96DAC541-7B7A-43D3-8B79-37D633B846F1}">
                <asvg:svgBlip xmlns:asvg="http://schemas.microsoft.com/office/drawing/2016/SVG/main" r:embed="rId10"/>
              </a:ext>
            </a:extLst>
          </a:blip>
          <a:stretch>
            <a:fillRect/>
          </a:stretch>
        </p:blipFill>
        <p:spPr>
          <a:xfrm>
            <a:off x="762000" y="4188619"/>
            <a:ext cx="3352800" cy="1194197"/>
          </a:xfrm>
          <a:prstGeom prst="rect">
            <a:avLst/>
          </a:prstGeom>
        </p:spPr>
      </p:pic>
      <p:sp>
        <p:nvSpPr>
          <p:cNvPr id="36" name="Shape 36"/>
          <p:cNvSpPr/>
          <p:nvPr/>
        </p:nvSpPr>
        <p:spPr>
          <a:xfrm>
            <a:off x="926306" y="4238327"/>
            <a:ext cx="3009900" cy="977057"/>
          </a:xfrm>
          <a:prstGeom prst="rect">
            <a:avLst/>
          </a:prstGeom>
          <a:noFill/>
        </p:spPr>
        <p:txBody>
          <a:bodyPr wrap="square" lIns="0" tIns="0" rIns="0" bIns="0" anchor="t">
            <a:normAutofit/>
          </a:bodyPr>
          <a:lstStyle/>
          <a:p>
            <a:pPr algn="ctr">
              <a:lnSpc>
                <a:spcPts val="1539"/>
              </a:lnSpc>
              <a:buNone/>
            </a:pPr>
            <a:r>
              <a:rPr sz="1350" b="0" i="0">
                <a:solidFill>
                  <a:srgbClr val="FFFFFF"/>
                </a:solidFill>
                <a:latin typeface="Poppins"/>
                <a:ea typeface="Poppins"/>
              </a:rPr>
              <a:t>Target block rate on destructive attack classes, to be validated against the 30-prompt attack corpus in planned evaluation work.</a:t>
            </a:r>
            <a:endParaRPr lang="en-US"/>
          </a:p>
        </p:txBody>
      </p:sp>
      <p:sp>
        <p:nvSpPr>
          <p:cNvPr id="37" name="Shape 37"/>
          <p:cNvSpPr/>
          <p:nvPr/>
        </p:nvSpPr>
        <p:spPr>
          <a:xfrm>
            <a:off x="4419600" y="3390900"/>
            <a:ext cx="3390900" cy="457200"/>
          </a:xfrm>
          <a:prstGeom prst="rect">
            <a:avLst/>
          </a:prstGeom>
          <a:noFill/>
        </p:spPr>
        <p:txBody>
          <a:bodyPr wrap="square" lIns="0" tIns="0" rIns="0" bIns="0" anchor="t">
            <a:normAutofit/>
          </a:bodyPr>
          <a:lstStyle/>
          <a:p>
            <a:pPr algn="ctr">
              <a:lnSpc>
                <a:spcPts val="3600"/>
              </a:lnSpc>
              <a:buNone/>
            </a:pPr>
            <a:r>
              <a:rPr sz="4500" b="1" i="0">
                <a:solidFill>
                  <a:srgbClr val="9333EA"/>
                </a:solidFill>
                <a:latin typeface="Poppins"/>
                <a:ea typeface="Poppins"/>
              </a:rPr>
              <a:t>&lt;</a:t>
            </a:r>
            <a:r>
              <a:rPr sz="4500" b="1" i="0">
                <a:solidFill>
                  <a:srgbClr val="9333EA"/>
                </a:solidFill>
                <a:latin typeface="Poppins"/>
                <a:ea typeface="Poppins"/>
              </a:rPr>
              <a:t>10%</a:t>
            </a:r>
            <a:endParaRPr lang="en-US"/>
          </a:p>
        </p:txBody>
      </p:sp>
      <p:pic>
        <p:nvPicPr>
          <p:cNvPr id="142" name="Presenton Native SVG Image 43" descr=""/>
          <p:cNvPicPr/>
          <p:nvPr/>
        </p:nvPicPr>
        <p:blipFill>
          <a:blip>
            <a:extLst>
              <a:ext uri="{96DAC541-7B7A-43D3-8B79-37D633B846F1}">
                <asvg:svgBlip xmlns:asvg="http://schemas.microsoft.com/office/drawing/2016/SVG/main" r:embed="rId11"/>
              </a:ext>
            </a:extLst>
          </a:blip>
          <a:stretch>
            <a:fillRect/>
          </a:stretch>
        </p:blipFill>
        <p:spPr>
          <a:xfrm>
            <a:off x="4419600" y="4188619"/>
            <a:ext cx="3352800" cy="1168003"/>
          </a:xfrm>
          <a:prstGeom prst="rect">
            <a:avLst/>
          </a:prstGeom>
        </p:spPr>
      </p:pic>
      <p:sp>
        <p:nvSpPr>
          <p:cNvPr id="38" name="Shape 38"/>
          <p:cNvSpPr/>
          <p:nvPr/>
        </p:nvSpPr>
        <p:spPr>
          <a:xfrm>
            <a:off x="4597003" y="4244876"/>
            <a:ext cx="3009900" cy="977057"/>
          </a:xfrm>
          <a:prstGeom prst="rect">
            <a:avLst/>
          </a:prstGeom>
          <a:noFill/>
        </p:spPr>
        <p:txBody>
          <a:bodyPr wrap="square" lIns="0" tIns="0" rIns="0" bIns="0" anchor="t">
            <a:normAutofit/>
          </a:bodyPr>
          <a:lstStyle/>
          <a:p>
            <a:pPr algn="ctr">
              <a:lnSpc>
                <a:spcPts val="1539"/>
              </a:lnSpc>
              <a:buNone/>
            </a:pPr>
            <a:r>
              <a:rPr sz="1350" b="0" i="0">
                <a:solidFill>
                  <a:srgbClr val="FFFFFF"/>
                </a:solidFill>
                <a:latin typeface="Poppins"/>
                <a:ea typeface="Poppins"/>
              </a:rPr>
              <a:t>False positive ceiling on the 30 benign prompts; results will be reported openly once the evaluation run is completed as planned.</a:t>
            </a:r>
            <a:endParaRPr lang="en-US"/>
          </a:p>
        </p:txBody>
      </p:sp>
      <p:sp>
        <p:nvSpPr>
          <p:cNvPr id="39" name="Shape 39"/>
          <p:cNvSpPr/>
          <p:nvPr/>
        </p:nvSpPr>
        <p:spPr>
          <a:xfrm>
            <a:off x="8077200" y="3390900"/>
            <a:ext cx="3390900" cy="457200"/>
          </a:xfrm>
          <a:prstGeom prst="rect">
            <a:avLst/>
          </a:prstGeom>
          <a:noFill/>
        </p:spPr>
        <p:txBody>
          <a:bodyPr wrap="square" lIns="0" tIns="0" rIns="0" bIns="0" anchor="t">
            <a:normAutofit/>
          </a:bodyPr>
          <a:lstStyle/>
          <a:p>
            <a:pPr algn="ctr">
              <a:lnSpc>
                <a:spcPts val="3600"/>
              </a:lnSpc>
              <a:buNone/>
            </a:pPr>
            <a:r>
              <a:rPr sz="4500" b="1" i="0">
                <a:solidFill>
                  <a:srgbClr val="9333EA"/>
                </a:solidFill>
                <a:latin typeface="Poppins"/>
                <a:ea typeface="Poppins"/>
              </a:rPr>
              <a:t>&lt;</a:t>
            </a:r>
            <a:r>
              <a:rPr sz="4500" b="1" i="0">
                <a:solidFill>
                  <a:srgbClr val="9333EA"/>
                </a:solidFill>
                <a:latin typeface="Poppins"/>
                <a:ea typeface="Poppins"/>
              </a:rPr>
              <a:t>50ms</a:t>
            </a:r>
            <a:endParaRPr lang="en-US"/>
          </a:p>
        </p:txBody>
      </p:sp>
      <p:pic>
        <p:nvPicPr>
          <p:cNvPr id="143" name="Presenton Native SVG Image 44" descr=""/>
          <p:cNvPicPr/>
          <p:nvPr/>
        </p:nvPicPr>
        <p:blipFill>
          <a:blip>
            <a:extLst>
              <a:ext uri="{96DAC541-7B7A-43D3-8B79-37D633B846F1}">
                <asvg:svgBlip xmlns:asvg="http://schemas.microsoft.com/office/drawing/2016/SVG/main" r:embed="rId12"/>
              </a:ext>
            </a:extLst>
          </a:blip>
          <a:stretch>
            <a:fillRect/>
          </a:stretch>
        </p:blipFill>
        <p:spPr>
          <a:xfrm>
            <a:off x="8077200" y="4201716"/>
            <a:ext cx="3352800" cy="1168152"/>
          </a:xfrm>
          <a:prstGeom prst="rect">
            <a:avLst/>
          </a:prstGeom>
        </p:spPr>
      </p:pic>
      <p:sp>
        <p:nvSpPr>
          <p:cNvPr id="40" name="Shape 40"/>
          <p:cNvSpPr/>
          <p:nvPr/>
        </p:nvSpPr>
        <p:spPr>
          <a:xfrm>
            <a:off x="8267700" y="4238327"/>
            <a:ext cx="3009900" cy="977057"/>
          </a:xfrm>
          <a:prstGeom prst="rect">
            <a:avLst/>
          </a:prstGeom>
          <a:noFill/>
        </p:spPr>
        <p:txBody>
          <a:bodyPr wrap="square" lIns="0" tIns="0" rIns="0" bIns="0" anchor="t">
            <a:normAutofit/>
          </a:bodyPr>
          <a:lstStyle/>
          <a:p>
            <a:pPr algn="ctr">
              <a:lnSpc>
                <a:spcPts val="1539"/>
              </a:lnSpc>
              <a:buNone/>
            </a:pPr>
            <a:r>
              <a:rPr sz="1350" b="0" i="0">
                <a:solidFill>
                  <a:srgbClr val="FFFFFF"/>
                </a:solidFill>
                <a:latin typeface="Poppins"/>
                <a:ea typeface="Poppins"/>
              </a:rPr>
              <a:t>Target p95 added latency for the SQL security gate, measured during the planned evaluation rather than claimed from completed runs.</a:t>
            </a:r>
            <a:endParaRPr lang="en-US"/>
          </a:p>
        </p:txBody>
      </p:sp>
    </p:spTree>
  </p:cSld>
  <p:clrMapOvr>
    <a:masterClrMapping/>
  </p:clrMapOvr>
</p:sld>
</file>

<file path=ppt/slides/slide8.xml><?xml version="1.0" encoding="utf-8"?>
<p:sld xmlns:asvg="http://schemas.microsoft.com/office/drawing/2016/SVG/main"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44" name="Presenton Native SVG Image 45" descr=""/>
          <p:cNvPicPr/>
          <p:nvPr/>
        </p:nvPicPr>
        <p:blipFill>
          <a:blip>
            <a:extLst>
              <a:ext uri="{96DAC541-7B7A-43D3-8B79-37D633B846F1}">
                <asvg:svgBlip xmlns:asvg="http://schemas.microsoft.com/office/drawing/2016/SVG/main" r:embed="rId20"/>
              </a:ext>
            </a:extLst>
          </a:blip>
          <a:stretch>
            <a:fillRect/>
          </a:stretch>
        </p:blipFill>
        <p:spPr>
          <a:xfrm>
            <a:off x="0" y="0"/>
            <a:ext cx="12192000" cy="6858000"/>
          </a:xfrm>
          <a:prstGeom prst="rect">
            <a:avLst/>
          </a:prstGeom>
        </p:spPr>
      </p:pic>
      <p:pic>
        <p:nvPicPr>
          <p:cNvPr id="145" name="Presenton Native Image 46" descr=""/>
          <p:cNvPicPr/>
          <p:nvPr/>
        </p:nvPicPr>
        <p:blipFill>
          <a:blip r:embed="rId3" cstate="none"/>
          <a:stretch>
            <a:fillRect/>
          </a:stretch>
        </p:blipFill>
        <p:spPr>
          <a:xfrm>
            <a:off x="0" y="0"/>
            <a:ext cx="1219200" cy="6858000"/>
          </a:xfrm>
          <a:prstGeom prst="rect">
            <a:avLst/>
          </a:prstGeom>
        </p:spPr>
      </p:pic>
      <p:pic>
        <p:nvPicPr>
          <p:cNvPr id="146" name="Presenton Native Image 47" descr=""/>
          <p:cNvPicPr/>
          <p:nvPr/>
        </p:nvPicPr>
        <p:blipFill>
          <a:blip r:embed="rId4" cstate="none"/>
          <a:stretch>
            <a:fillRect/>
          </a:stretch>
        </p:blipFill>
        <p:spPr>
          <a:xfrm>
            <a:off x="0" y="5638800"/>
            <a:ext cx="1828800" cy="1219200"/>
          </a:xfrm>
          <a:prstGeom prst="rect">
            <a:avLst/>
          </a:prstGeom>
        </p:spPr>
      </p:pic>
      <p:pic>
        <p:nvPicPr>
          <p:cNvPr id="147" name="Presenton Native Image 48" descr=""/>
          <p:cNvPicPr/>
          <p:nvPr/>
        </p:nvPicPr>
        <p:blipFill>
          <a:blip r:embed="rId5" cstate="none"/>
          <a:stretch>
            <a:fillRect/>
          </a:stretch>
        </p:blipFill>
        <p:spPr>
          <a:xfrm>
            <a:off x="10820400" y="762000"/>
            <a:ext cx="304800" cy="304800"/>
          </a:xfrm>
          <a:prstGeom prst="rect">
            <a:avLst/>
          </a:prstGeom>
        </p:spPr>
      </p:pic>
      <p:pic>
        <p:nvPicPr>
          <p:cNvPr id="148" name="Presenton Native Image 49" descr=""/>
          <p:cNvPicPr/>
          <p:nvPr/>
        </p:nvPicPr>
        <p:blipFill>
          <a:blip r:embed="rId6" cstate="none"/>
          <a:stretch>
            <a:fillRect/>
          </a:stretch>
        </p:blipFill>
        <p:spPr>
          <a:xfrm>
            <a:off x="8077200" y="1066800"/>
            <a:ext cx="762000" cy="190500"/>
          </a:xfrm>
          <a:prstGeom prst="rect">
            <a:avLst/>
          </a:prstGeom>
        </p:spPr>
      </p:pic>
      <p:sp>
        <p:nvSpPr>
          <p:cNvPr id="41" name="Shape 41"/>
          <p:cNvSpPr/>
          <p:nvPr/>
        </p:nvSpPr>
        <p:spPr>
          <a:xfrm>
            <a:off x="774055" y="396925"/>
            <a:ext cx="6996857" cy="1097161"/>
          </a:xfrm>
          <a:prstGeom prst="rect">
            <a:avLst/>
          </a:prstGeom>
          <a:noFill/>
        </p:spPr>
        <p:txBody>
          <a:bodyPr wrap="square" lIns="0" tIns="0" rIns="0" bIns="0" anchor="t">
            <a:normAutofit/>
          </a:bodyPr>
          <a:lstStyle/>
          <a:p>
            <a:pPr algn="l">
              <a:lnSpc>
                <a:spcPts val="4320"/>
              </a:lnSpc>
              <a:buNone/>
            </a:pPr>
            <a:r>
              <a:rPr sz="5400" b="1" i="0">
                <a:solidFill>
                  <a:srgbClr val="111827"/>
                </a:solidFill>
                <a:latin typeface="Poppins"/>
                <a:ea typeface="Poppins"/>
              </a:rPr>
              <a:t>Course, Milestones, Stack</a:t>
            </a:r>
            <a:endParaRPr lang="en-US"/>
          </a:p>
        </p:txBody>
      </p:sp>
      <p:pic>
        <p:nvPicPr>
          <p:cNvPr id="149" name="Presenton Native SVG Image 50" descr=""/>
          <p:cNvPicPr/>
          <p:nvPr/>
        </p:nvPicPr>
        <p:blipFill>
          <a:blip>
            <a:extLst>
              <a:ext uri="{96DAC541-7B7A-43D3-8B79-37D633B846F1}">
                <asvg:svgBlip xmlns:asvg="http://schemas.microsoft.com/office/drawing/2016/SVG/main" r:embed="rId21"/>
              </a:ext>
            </a:extLst>
          </a:blip>
          <a:stretch>
            <a:fillRect/>
          </a:stretch>
        </p:blipFill>
        <p:spPr>
          <a:xfrm>
            <a:off x="854125" y="2006798"/>
            <a:ext cx="457200" cy="457200"/>
          </a:xfrm>
          <a:prstGeom prst="rect">
            <a:avLst/>
          </a:prstGeom>
        </p:spPr>
      </p:pic>
      <p:pic>
        <p:nvPicPr>
          <p:cNvPr id="150" name="Presenton Native Image 51" descr=""/>
          <p:cNvPicPr/>
          <p:nvPr/>
        </p:nvPicPr>
        <p:blipFill>
          <a:blip r:embed="rId8" cstate="none"/>
          <a:stretch>
            <a:fillRect/>
          </a:stretch>
        </p:blipFill>
        <p:spPr>
          <a:xfrm>
            <a:off x="968425" y="2123926"/>
            <a:ext cx="228600" cy="228600"/>
          </a:xfrm>
          <a:prstGeom prst="rect">
            <a:avLst/>
          </a:prstGeom>
        </p:spPr>
      </p:pic>
      <p:sp>
        <p:nvSpPr>
          <p:cNvPr id="42" name="Shape 42"/>
          <p:cNvSpPr/>
          <p:nvPr/>
        </p:nvSpPr>
        <p:spPr>
          <a:xfrm>
            <a:off x="1463725" y="2006798"/>
            <a:ext cx="2362200" cy="255984"/>
          </a:xfrm>
          <a:prstGeom prst="rect">
            <a:avLst/>
          </a:prstGeom>
          <a:noFill/>
        </p:spPr>
        <p:txBody>
          <a:bodyPr wrap="square" lIns="0" tIns="0" rIns="0" bIns="0" anchor="t">
            <a:normAutofit/>
          </a:bodyPr>
          <a:lstStyle/>
          <a:p>
            <a:pPr algn="l">
              <a:lnSpc>
                <a:spcPts val="2016"/>
              </a:lnSpc>
              <a:buNone/>
            </a:pPr>
            <a:r>
              <a:rPr sz="1800" b="0" i="0">
                <a:solidFill>
                  <a:srgbClr val="111827"/>
                </a:solidFill>
                <a:latin typeface="Poppins"/>
                <a:ea typeface="Poppins"/>
              </a:rPr>
              <a:t>Two-Member Team</a:t>
            </a:r>
            <a:endParaRPr lang="en-US"/>
          </a:p>
        </p:txBody>
      </p:sp>
      <p:sp>
        <p:nvSpPr>
          <p:cNvPr id="43" name="Shape 43"/>
          <p:cNvSpPr/>
          <p:nvPr/>
        </p:nvSpPr>
        <p:spPr>
          <a:xfrm>
            <a:off x="1475780" y="2311598"/>
            <a:ext cx="2362200" cy="891183"/>
          </a:xfrm>
          <a:prstGeom prst="rect">
            <a:avLst/>
          </a:prstGeom>
          <a:noFill/>
        </p:spPr>
        <p:txBody>
          <a:bodyPr wrap="square" lIns="0" tIns="0" rIns="0" bIns="0" anchor="t">
            <a:normAutofit/>
          </a:bodyPr>
          <a:lstStyle/>
          <a:p>
            <a:pPr algn="l">
              <a:lnSpc>
                <a:spcPts val="1755"/>
              </a:lnSpc>
              <a:buNone/>
            </a:pPr>
            <a:r>
              <a:rPr sz="1350" b="0" i="0">
                <a:solidFill>
                  <a:srgbClr val="4B5563"/>
                </a:solidFill>
                <a:latin typeface="Poppins"/>
                <a:ea typeface="Poppins"/>
              </a:rPr>
              <a:t>CS 5391 Software Engineering group project carried out by M. Mahd Amjad and Arwa Arafeh.</a:t>
            </a:r>
            <a:endParaRPr lang="en-US"/>
          </a:p>
        </p:txBody>
      </p:sp>
      <p:pic>
        <p:nvPicPr>
          <p:cNvPr id="151" name="Presenton Native SVG Image 52" descr=""/>
          <p:cNvPicPr/>
          <p:nvPr/>
        </p:nvPicPr>
        <p:blipFill>
          <a:blip>
            <a:extLst>
              <a:ext uri="{96DAC541-7B7A-43D3-8B79-37D633B846F1}">
                <asvg:svgBlip xmlns:asvg="http://schemas.microsoft.com/office/drawing/2016/SVG/main" r:embed="rId22"/>
              </a:ext>
            </a:extLst>
          </a:blip>
          <a:stretch>
            <a:fillRect/>
          </a:stretch>
        </p:blipFill>
        <p:spPr>
          <a:xfrm>
            <a:off x="4321225" y="2006798"/>
            <a:ext cx="457200" cy="457200"/>
          </a:xfrm>
          <a:prstGeom prst="rect">
            <a:avLst/>
          </a:prstGeom>
        </p:spPr>
      </p:pic>
      <p:pic>
        <p:nvPicPr>
          <p:cNvPr id="152" name="Presenton Native Image 53" descr=""/>
          <p:cNvPicPr/>
          <p:nvPr/>
        </p:nvPicPr>
        <p:blipFill>
          <a:blip r:embed="rId10" cstate="none"/>
          <a:stretch>
            <a:fillRect/>
          </a:stretch>
        </p:blipFill>
        <p:spPr>
          <a:xfrm>
            <a:off x="4435525" y="2123926"/>
            <a:ext cx="228600" cy="228600"/>
          </a:xfrm>
          <a:prstGeom prst="rect">
            <a:avLst/>
          </a:prstGeom>
        </p:spPr>
      </p:pic>
      <p:sp>
        <p:nvSpPr>
          <p:cNvPr id="44" name="Shape 44"/>
          <p:cNvSpPr/>
          <p:nvPr/>
        </p:nvSpPr>
        <p:spPr>
          <a:xfrm>
            <a:off x="4930825" y="2006798"/>
            <a:ext cx="2362200" cy="255984"/>
          </a:xfrm>
          <a:prstGeom prst="rect">
            <a:avLst/>
          </a:prstGeom>
          <a:noFill/>
        </p:spPr>
        <p:txBody>
          <a:bodyPr wrap="square" lIns="0" tIns="0" rIns="0" bIns="0" anchor="t">
            <a:normAutofit/>
          </a:bodyPr>
          <a:lstStyle/>
          <a:p>
            <a:pPr algn="l">
              <a:lnSpc>
                <a:spcPts val="2016"/>
              </a:lnSpc>
              <a:buNone/>
            </a:pPr>
            <a:r>
              <a:rPr sz="1800" b="0" i="0">
                <a:solidFill>
                  <a:srgbClr val="111827"/>
                </a:solidFill>
                <a:latin typeface="Poppins"/>
                <a:ea typeface="Poppins"/>
              </a:rPr>
              <a:t>Milestone Plan</a:t>
            </a:r>
            <a:endParaRPr lang="en-US"/>
          </a:p>
        </p:txBody>
      </p:sp>
      <p:sp>
        <p:nvSpPr>
          <p:cNvPr id="45" name="Shape 45"/>
          <p:cNvSpPr/>
          <p:nvPr/>
        </p:nvSpPr>
        <p:spPr>
          <a:xfrm>
            <a:off x="4918621" y="2287488"/>
            <a:ext cx="2362200" cy="891183"/>
          </a:xfrm>
          <a:prstGeom prst="rect">
            <a:avLst/>
          </a:prstGeom>
          <a:noFill/>
        </p:spPr>
        <p:txBody>
          <a:bodyPr wrap="square" lIns="0" tIns="0" rIns="0" bIns="0" anchor="t">
            <a:normAutofit/>
          </a:bodyPr>
          <a:lstStyle/>
          <a:p>
            <a:pPr algn="l">
              <a:lnSpc>
                <a:spcPts val="1755"/>
              </a:lnSpc>
              <a:buNone/>
            </a:pPr>
            <a:r>
              <a:rPr sz="1350" b="0" i="0">
                <a:solidFill>
                  <a:srgbClr val="4B5563"/>
                </a:solidFill>
                <a:latin typeface="Poppins"/>
                <a:ea typeface="Poppins"/>
              </a:rPr>
              <a:t>Proposal and presentation first, then an SRS with numbered requirements mapped to test cases.</a:t>
            </a:r>
            <a:endParaRPr lang="en-US"/>
          </a:p>
        </p:txBody>
      </p:sp>
      <p:pic>
        <p:nvPicPr>
          <p:cNvPr id="153" name="Presenton Native SVG Image 54" descr=""/>
          <p:cNvPicPr/>
          <p:nvPr/>
        </p:nvPicPr>
        <p:blipFill>
          <a:blip>
            <a:extLst>
              <a:ext uri="{96DAC541-7B7A-43D3-8B79-37D633B846F1}">
                <asvg:svgBlip xmlns:asvg="http://schemas.microsoft.com/office/drawing/2016/SVG/main" r:embed="rId23"/>
              </a:ext>
            </a:extLst>
          </a:blip>
          <a:stretch>
            <a:fillRect/>
          </a:stretch>
        </p:blipFill>
        <p:spPr>
          <a:xfrm>
            <a:off x="854125" y="3495824"/>
            <a:ext cx="457200" cy="457200"/>
          </a:xfrm>
          <a:prstGeom prst="rect">
            <a:avLst/>
          </a:prstGeom>
        </p:spPr>
      </p:pic>
      <p:pic>
        <p:nvPicPr>
          <p:cNvPr id="154" name="Presenton Native Image 55" descr=""/>
          <p:cNvPicPr/>
          <p:nvPr/>
        </p:nvPicPr>
        <p:blipFill>
          <a:blip r:embed="rId11" cstate="none"/>
          <a:stretch>
            <a:fillRect/>
          </a:stretch>
        </p:blipFill>
        <p:spPr>
          <a:xfrm>
            <a:off x="968425" y="3612952"/>
            <a:ext cx="228600" cy="228600"/>
          </a:xfrm>
          <a:prstGeom prst="rect">
            <a:avLst/>
          </a:prstGeom>
        </p:spPr>
      </p:pic>
      <p:sp>
        <p:nvSpPr>
          <p:cNvPr id="46" name="Shape 46"/>
          <p:cNvSpPr/>
          <p:nvPr/>
        </p:nvSpPr>
        <p:spPr>
          <a:xfrm>
            <a:off x="1463725" y="3495824"/>
            <a:ext cx="2362200" cy="255984"/>
          </a:xfrm>
          <a:prstGeom prst="rect">
            <a:avLst/>
          </a:prstGeom>
          <a:noFill/>
        </p:spPr>
        <p:txBody>
          <a:bodyPr wrap="square" lIns="0" tIns="0" rIns="0" bIns="0" anchor="t">
            <a:normAutofit/>
          </a:bodyPr>
          <a:lstStyle/>
          <a:p>
            <a:pPr algn="l">
              <a:lnSpc>
                <a:spcPts val="2016"/>
              </a:lnSpc>
              <a:buNone/>
            </a:pPr>
            <a:r>
              <a:rPr sz="1800" b="0" i="0">
                <a:solidFill>
                  <a:srgbClr val="111827"/>
                </a:solidFill>
                <a:latin typeface="Poppins"/>
                <a:ea typeface="Poppins"/>
              </a:rPr>
              <a:t>Flask and SQLite</a:t>
            </a:r>
            <a:endParaRPr lang="en-US"/>
          </a:p>
        </p:txBody>
      </p:sp>
      <p:sp>
        <p:nvSpPr>
          <p:cNvPr id="47" name="Shape 47"/>
          <p:cNvSpPr/>
          <p:nvPr/>
        </p:nvSpPr>
        <p:spPr>
          <a:xfrm>
            <a:off x="1463725" y="3800624"/>
            <a:ext cx="2362200" cy="891183"/>
          </a:xfrm>
          <a:prstGeom prst="rect">
            <a:avLst/>
          </a:prstGeom>
          <a:noFill/>
        </p:spPr>
        <p:txBody>
          <a:bodyPr wrap="square" lIns="0" tIns="0" rIns="0" bIns="0" anchor="t">
            <a:normAutofit/>
          </a:bodyPr>
          <a:lstStyle/>
          <a:p>
            <a:pPr algn="l">
              <a:lnSpc>
                <a:spcPts val="1755"/>
              </a:lnSpc>
              <a:buNone/>
            </a:pPr>
            <a:r>
              <a:rPr sz="1350" b="0" i="0">
                <a:solidFill>
                  <a:srgbClr val="4B5563"/>
                </a:solidFill>
                <a:latin typeface="Poppins"/>
                <a:ea typeface="Poppins"/>
              </a:rPr>
              <a:t>Python and Flask build the web app; SQLite stores a demo database with sensitive columns.</a:t>
            </a:r>
            <a:endParaRPr lang="en-US"/>
          </a:p>
        </p:txBody>
      </p:sp>
      <p:pic>
        <p:nvPicPr>
          <p:cNvPr id="155" name="Presenton Native SVG Image 56" descr=""/>
          <p:cNvPicPr/>
          <p:nvPr/>
        </p:nvPicPr>
        <p:blipFill>
          <a:blip>
            <a:extLst>
              <a:ext uri="{96DAC541-7B7A-43D3-8B79-37D633B846F1}">
                <asvg:svgBlip xmlns:asvg="http://schemas.microsoft.com/office/drawing/2016/SVG/main" r:embed="rId24"/>
              </a:ext>
            </a:extLst>
          </a:blip>
          <a:stretch>
            <a:fillRect/>
          </a:stretch>
        </p:blipFill>
        <p:spPr>
          <a:xfrm>
            <a:off x="4321225" y="3495824"/>
            <a:ext cx="457200" cy="457200"/>
          </a:xfrm>
          <a:prstGeom prst="rect">
            <a:avLst/>
          </a:prstGeom>
        </p:spPr>
      </p:pic>
      <p:pic>
        <p:nvPicPr>
          <p:cNvPr id="156" name="Presenton Native Image 57" descr=""/>
          <p:cNvPicPr/>
          <p:nvPr/>
        </p:nvPicPr>
        <p:blipFill>
          <a:blip r:embed="rId12" cstate="none"/>
          <a:stretch>
            <a:fillRect/>
          </a:stretch>
        </p:blipFill>
        <p:spPr>
          <a:xfrm>
            <a:off x="4435525" y="3612952"/>
            <a:ext cx="228600" cy="228600"/>
          </a:xfrm>
          <a:prstGeom prst="rect">
            <a:avLst/>
          </a:prstGeom>
        </p:spPr>
      </p:pic>
      <p:sp>
        <p:nvSpPr>
          <p:cNvPr id="48" name="Shape 48"/>
          <p:cNvSpPr/>
          <p:nvPr/>
        </p:nvSpPr>
        <p:spPr>
          <a:xfrm>
            <a:off x="4930825" y="3495824"/>
            <a:ext cx="2362200" cy="255984"/>
          </a:xfrm>
          <a:prstGeom prst="rect">
            <a:avLst/>
          </a:prstGeom>
          <a:noFill/>
        </p:spPr>
        <p:txBody>
          <a:bodyPr wrap="square" lIns="0" tIns="0" rIns="0" bIns="0" anchor="t">
            <a:normAutofit/>
          </a:bodyPr>
          <a:lstStyle/>
          <a:p>
            <a:pPr algn="l">
              <a:lnSpc>
                <a:spcPts val="2016"/>
              </a:lnSpc>
              <a:buNone/>
            </a:pPr>
            <a:r>
              <a:rPr sz="1800" b="0" i="0">
                <a:solidFill>
                  <a:srgbClr val="111827"/>
                </a:solidFill>
                <a:latin typeface="Poppins"/>
                <a:ea typeface="Poppins"/>
              </a:rPr>
              <a:t>pytest and CI</a:t>
            </a:r>
            <a:endParaRPr lang="en-US"/>
          </a:p>
        </p:txBody>
      </p:sp>
      <p:sp>
        <p:nvSpPr>
          <p:cNvPr id="49" name="Shape 49"/>
          <p:cNvSpPr/>
          <p:nvPr/>
        </p:nvSpPr>
        <p:spPr>
          <a:xfrm>
            <a:off x="4930825" y="3800624"/>
            <a:ext cx="2362200" cy="891183"/>
          </a:xfrm>
          <a:prstGeom prst="rect">
            <a:avLst/>
          </a:prstGeom>
          <a:noFill/>
        </p:spPr>
        <p:txBody>
          <a:bodyPr wrap="square" lIns="0" tIns="0" rIns="0" bIns="0" anchor="t">
            <a:normAutofit/>
          </a:bodyPr>
          <a:lstStyle/>
          <a:p>
            <a:pPr algn="l">
              <a:lnSpc>
                <a:spcPts val="1755"/>
              </a:lnSpc>
              <a:buNone/>
            </a:pPr>
            <a:r>
              <a:rPr sz="1350" b="0" i="0">
                <a:solidFill>
                  <a:srgbClr val="4B5563"/>
                </a:solidFill>
                <a:latin typeface="Poppins"/>
                <a:ea typeface="Poppins"/>
              </a:rPr>
              <a:t>pytest runs the test suite and GitHub Actions provides continuous integration checks.</a:t>
            </a:r>
            <a:endParaRPr lang="en-US"/>
          </a:p>
        </p:txBody>
      </p:sp>
      <p:pic>
        <p:nvPicPr>
          <p:cNvPr id="157" name="Presenton Native SVG Image 58" descr=""/>
          <p:cNvPicPr/>
          <p:nvPr/>
        </p:nvPicPr>
        <p:blipFill>
          <a:blip>
            <a:extLst>
              <a:ext uri="{96DAC541-7B7A-43D3-8B79-37D633B846F1}">
                <asvg:svgBlip xmlns:asvg="http://schemas.microsoft.com/office/drawing/2016/SVG/main" r:embed="rId25"/>
              </a:ext>
            </a:extLst>
          </a:blip>
          <a:stretch>
            <a:fillRect/>
          </a:stretch>
        </p:blipFill>
        <p:spPr>
          <a:xfrm>
            <a:off x="854125" y="4984849"/>
            <a:ext cx="457200" cy="457200"/>
          </a:xfrm>
          <a:prstGeom prst="rect">
            <a:avLst/>
          </a:prstGeom>
        </p:spPr>
      </p:pic>
      <p:pic>
        <p:nvPicPr>
          <p:cNvPr id="158" name="Presenton Native Image 59" descr=""/>
          <p:cNvPicPr/>
          <p:nvPr/>
        </p:nvPicPr>
        <p:blipFill>
          <a:blip r:embed="rId14" cstate="none"/>
          <a:stretch>
            <a:fillRect/>
          </a:stretch>
        </p:blipFill>
        <p:spPr>
          <a:xfrm>
            <a:off x="968425" y="5101977"/>
            <a:ext cx="228600" cy="228600"/>
          </a:xfrm>
          <a:prstGeom prst="rect">
            <a:avLst/>
          </a:prstGeom>
        </p:spPr>
      </p:pic>
      <p:sp>
        <p:nvSpPr>
          <p:cNvPr id="50" name="Shape 50"/>
          <p:cNvSpPr/>
          <p:nvPr/>
        </p:nvSpPr>
        <p:spPr>
          <a:xfrm>
            <a:off x="1463725" y="4984849"/>
            <a:ext cx="2362200" cy="255984"/>
          </a:xfrm>
          <a:prstGeom prst="rect">
            <a:avLst/>
          </a:prstGeom>
          <a:noFill/>
        </p:spPr>
        <p:txBody>
          <a:bodyPr wrap="square" lIns="0" tIns="0" rIns="0" bIns="0" anchor="t">
            <a:normAutofit/>
          </a:bodyPr>
          <a:lstStyle/>
          <a:p>
            <a:pPr algn="l">
              <a:lnSpc>
                <a:spcPts val="2016"/>
              </a:lnSpc>
              <a:buNone/>
            </a:pPr>
            <a:r>
              <a:rPr sz="1800" b="0" i="0">
                <a:solidFill>
                  <a:srgbClr val="111827"/>
                </a:solidFill>
                <a:latin typeface="Poppins"/>
                <a:ea typeface="Poppins"/>
              </a:rPr>
              <a:t>Mock LLM Mode</a:t>
            </a:r>
            <a:endParaRPr lang="en-US"/>
          </a:p>
        </p:txBody>
      </p:sp>
      <p:sp>
        <p:nvSpPr>
          <p:cNvPr id="51" name="Shape 51"/>
          <p:cNvSpPr/>
          <p:nvPr/>
        </p:nvSpPr>
        <p:spPr>
          <a:xfrm>
            <a:off x="1463725" y="5289649"/>
            <a:ext cx="2362200" cy="891183"/>
          </a:xfrm>
          <a:prstGeom prst="rect">
            <a:avLst/>
          </a:prstGeom>
          <a:noFill/>
        </p:spPr>
        <p:txBody>
          <a:bodyPr wrap="square" lIns="0" tIns="0" rIns="0" bIns="0" anchor="t">
            <a:normAutofit/>
          </a:bodyPr>
          <a:lstStyle/>
          <a:p>
            <a:pPr algn="l">
              <a:lnSpc>
                <a:spcPts val="1755"/>
              </a:lnSpc>
              <a:buNone/>
            </a:pPr>
            <a:r>
              <a:rPr sz="1350" b="0" i="0">
                <a:solidFill>
                  <a:srgbClr val="4B5563"/>
                </a:solidFill>
                <a:latin typeface="Poppins"/>
                <a:ea typeface="Poppins"/>
              </a:rPr>
              <a:t>A mock LLM mode keeps demos deterministic; a live LLM integration remains optional.</a:t>
            </a:r>
            <a:endParaRPr lang="en-US"/>
          </a:p>
        </p:txBody>
      </p:sp>
      <p:pic>
        <p:nvPicPr>
          <p:cNvPr id="159" name="Presenton Native SVG Image 60" descr=""/>
          <p:cNvPicPr/>
          <p:nvPr/>
        </p:nvPicPr>
        <p:blipFill>
          <a:blip>
            <a:extLst>
              <a:ext uri="{96DAC541-7B7A-43D3-8B79-37D633B846F1}">
                <asvg:svgBlip xmlns:asvg="http://schemas.microsoft.com/office/drawing/2016/SVG/main" r:embed="rId26"/>
              </a:ext>
            </a:extLst>
          </a:blip>
          <a:stretch>
            <a:fillRect/>
          </a:stretch>
        </p:blipFill>
        <p:spPr>
          <a:xfrm>
            <a:off x="4321225" y="4984849"/>
            <a:ext cx="457200" cy="457200"/>
          </a:xfrm>
          <a:prstGeom prst="rect">
            <a:avLst/>
          </a:prstGeom>
        </p:spPr>
      </p:pic>
      <p:pic>
        <p:nvPicPr>
          <p:cNvPr id="160" name="Presenton Native Image 61" descr=""/>
          <p:cNvPicPr/>
          <p:nvPr/>
        </p:nvPicPr>
        <p:blipFill>
          <a:blip r:embed="rId16" cstate="none"/>
          <a:stretch>
            <a:fillRect/>
          </a:stretch>
        </p:blipFill>
        <p:spPr>
          <a:xfrm>
            <a:off x="4435525" y="5101977"/>
            <a:ext cx="228600" cy="228600"/>
          </a:xfrm>
          <a:prstGeom prst="rect">
            <a:avLst/>
          </a:prstGeom>
        </p:spPr>
      </p:pic>
      <p:sp>
        <p:nvSpPr>
          <p:cNvPr id="52" name="Shape 52"/>
          <p:cNvSpPr/>
          <p:nvPr/>
        </p:nvSpPr>
        <p:spPr>
          <a:xfrm>
            <a:off x="4930825" y="4984849"/>
            <a:ext cx="2362200" cy="255984"/>
          </a:xfrm>
          <a:prstGeom prst="rect">
            <a:avLst/>
          </a:prstGeom>
          <a:noFill/>
        </p:spPr>
        <p:txBody>
          <a:bodyPr wrap="square" lIns="0" tIns="0" rIns="0" bIns="0" anchor="t">
            <a:normAutofit/>
          </a:bodyPr>
          <a:lstStyle/>
          <a:p>
            <a:pPr algn="l">
              <a:lnSpc>
                <a:spcPts val="2016"/>
              </a:lnSpc>
              <a:buNone/>
            </a:pPr>
            <a:r>
              <a:rPr sz="1800" b="0" i="0">
                <a:solidFill>
                  <a:srgbClr val="111827"/>
                </a:solidFill>
                <a:latin typeface="Poppins"/>
                <a:ea typeface="Poppins"/>
              </a:rPr>
              <a:t>Final Demo</a:t>
            </a:r>
            <a:endParaRPr lang="en-US"/>
          </a:p>
        </p:txBody>
      </p:sp>
      <p:sp>
        <p:nvSpPr>
          <p:cNvPr id="53" name="Shape 53"/>
          <p:cNvSpPr/>
          <p:nvPr/>
        </p:nvSpPr>
        <p:spPr>
          <a:xfrm>
            <a:off x="4930825" y="5289649"/>
            <a:ext cx="2362200" cy="891183"/>
          </a:xfrm>
          <a:prstGeom prst="rect">
            <a:avLst/>
          </a:prstGeom>
          <a:noFill/>
        </p:spPr>
        <p:txBody>
          <a:bodyPr wrap="square" lIns="0" tIns="0" rIns="0" bIns="0" anchor="t">
            <a:normAutofit/>
          </a:bodyPr>
          <a:lstStyle/>
          <a:p>
            <a:pPr algn="l">
              <a:lnSpc>
                <a:spcPts val="1755"/>
              </a:lnSpc>
              <a:buNone/>
            </a:pPr>
            <a:r>
              <a:rPr sz="1350" b="0" i="0">
                <a:solidFill>
                  <a:srgbClr val="4B5563"/>
                </a:solidFill>
                <a:latin typeface="Poppins"/>
                <a:ea typeface="Poppins"/>
              </a:rPr>
              <a:t>Implementation and demo round out the milestone schedule ahead of the final.</a:t>
            </a:r>
            <a:endParaRPr lang="en-US"/>
          </a:p>
        </p:txBody>
      </p:sp>
      <p:pic>
        <p:nvPicPr>
          <p:cNvPr id="161" name="Presenton Native SVG Image 62" descr=""/>
          <p:cNvPicPr/>
          <p:nvPr/>
        </p:nvPicPr>
        <p:blipFill>
          <a:blip>
            <a:extLst>
              <a:ext uri="{96DAC541-7B7A-43D3-8B79-37D633B846F1}">
                <asvg:svgBlip xmlns:asvg="http://schemas.microsoft.com/office/drawing/2016/SVG/main" r:embed="rId27"/>
              </a:ext>
            </a:extLst>
          </a:blip>
          <a:stretch>
            <a:fillRect/>
          </a:stretch>
        </p:blipFill>
        <p:spPr>
          <a:xfrm>
            <a:off x="7772400" y="1981200"/>
            <a:ext cx="3657600" cy="3048000"/>
          </a:xfrm>
          <a:prstGeom prst="rect">
            <a:avLst/>
          </a:prstGeom>
        </p:spPr>
      </p:pic>
      <p:pic>
        <p:nvPicPr>
          <p:cNvPr id="162" name="Presenton Raster Image 63" descr=""/>
          <p:cNvPicPr/>
          <p:nvPr/>
        </p:nvPicPr>
        <p:blipFill>
          <a:blip r:embed="rId18" cstate="none"/>
          <a:stretch>
            <a:fillRect/>
          </a:stretch>
        </p:blipFill>
        <p:spPr>
          <a:xfrm>
            <a:off x="7772400" y="1981200"/>
            <a:ext cx="3657600" cy="304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QueryGuard A Safety Gate for LLM-Generated SQL  Presenters M. Mahd Amjad and Arwa Arafeh  Date</dc:title>
  <dc:subject>Generated by Presenton export-core</dc:subject>
  <dc:creator>Presenton</dc:creator>
  <cp:lastModifiedBy>Presenton</cp:lastModifiedBy>
  <dcterms:created xsi:type="dcterms:W3CDTF">2026-09-05T14:59:12.414Z</dcterms:created>
  <dcterms:modified xsi:type="dcterms:W3CDTF">2026-09-05T14:59:12.414Z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1.0.148</vt:lpwstr>
  </op:property>
  <op:property fmtid="{D5CDD505-2E9C-101B-9397-08002B2CF9AE}" pid="3" name="OfficeCLI.LastModified">
    <vt:lpwstr xmlns:vt="http://schemas.openxmlformats.org/officeDocument/2006/docPropsVTypes">2026-09-09T11:40:57Z</vt:lpwstr>
  </op:property>
</op:Properties>
</file>