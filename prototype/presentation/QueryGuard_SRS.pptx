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CS5391 · GROUP PROJECT 1 · REQUIREMENT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5913C"/>
                </a:solidFill>
                <a:latin typeface="Georgia"/>
              </a:rPr>
              <a:t>QueryGuard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F0E8"/>
                </a:solidFill>
                <a:latin typeface="Segoe UI"/>
              </a:rPr>
              <a:t>An AI writes SQL from your question. A safety gate checks it</a:t>
            </a:r>
          </a:p>
          <a:p>
            <a:pPr algn="l"/>
            <a:r>
              <a:rPr sz="2000" b="0">
                <a:solidFill>
                  <a:srgbClr val="F2F0E8"/>
                </a:solidFill>
                <a:latin typeface="Segoe UI"/>
              </a:rPr>
              <a:t>before anything touches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Mahd Amjad  ·  Arwa Ali Arafeh</a:t>
            </a:r>
          </a:p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CS5391 Survey of Software Engineering · Fall 2026 · Dr. Xiao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THE PROBLEM · ARWA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Letting people ask a database questions in plain English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02152" cy="19202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FB3C8"/>
                </a:solidFill>
                <a:latin typeface="Segoe UI"/>
              </a:rPr>
              <a:t>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Anyone can get answers without knowing SQL. The AI writes the query for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02152" cy="19202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egoe UI"/>
              </a:rPr>
              <a:t>DANGEROUS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0428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One wrong or malicious query deletes records, or walks SSNs out the front door.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502152" cy="19202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01952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341"/>
                </a:solidFill>
                <a:latin typeface="Segoe UI"/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04288"/>
            <a:ext cx="30449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Nothing in that pipeline checks the AI's work. Unsafe by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FB3C8"/>
                </a:solidFill>
                <a:latin typeface="Segoe UI"/>
              </a:rPr>
              <a:t>So: keep the AI, add a gate.</a:t>
            </a:r>
          </a:p>
          <a:p>
            <a:pPr algn="l"/>
            <a:r>
              <a:rPr sz="1800" b="0">
                <a:solidFill>
                  <a:srgbClr val="9FB3C8"/>
                </a:solidFill>
                <a:latin typeface="Segoe UI"/>
              </a:rPr>
              <a:t>A deterministic check between the AI and the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WHAT QUERYGUARD DOES · ARWA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Five steps, one recorded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9144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0E8"/>
                </a:solidFill>
                <a:latin typeface="Segoe UI"/>
              </a:rPr>
              <a:t>1. You ask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2057400" cy="9144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0E8"/>
                </a:solidFill>
                <a:latin typeface="Segoe UI"/>
              </a:rPr>
              <a:t>2. The AI drafts the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2057400" cy="9144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0E8"/>
                </a:solidFill>
                <a:latin typeface="Segoe UI"/>
              </a:rPr>
              <a:t>3. The gate checks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828800"/>
            <a:ext cx="2057400" cy="9144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0E8"/>
                </a:solidFill>
                <a:latin typeface="Segoe UI"/>
              </a:rPr>
              <a:t>4. Safe queries run,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2057400" cy="9144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2011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0E8"/>
                </a:solidFill>
                <a:latin typeface="Segoe UI"/>
              </a:rPr>
              <a:t>5. Everything is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0E8"/>
                </a:solidFill>
                <a:latin typeface="Segoe UI"/>
              </a:rPr>
              <a:t>Three outcomes, in plain words: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1554480" cy="4572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850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3D17C"/>
                </a:solidFill>
                <a:latin typeface="Segoe UI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6850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ran as asked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78808"/>
            <a:ext cx="1554480" cy="4572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B341"/>
                </a:solidFill>
                <a:latin typeface="Segoe UI"/>
              </a:rPr>
              <a:t>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2519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answered, private columns removed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45736"/>
            <a:ext cx="1554480" cy="4572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18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Segoe UI"/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188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stopped, nothing touched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USER STORIES · ARWA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Who wants what, and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2296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As A demo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84708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I want to ask a question and see an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4708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2BB"/>
                </a:solidFill>
                <a:latin typeface="Segoe UI"/>
              </a:rPr>
              <a:t>so that the product works end to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881360" cy="82296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As A privacy-conscious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0720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I want to know SSNs can never appear in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072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2BB"/>
                </a:solidFill>
                <a:latin typeface="Segoe UI"/>
              </a:rPr>
              <a:t>so that the privacy claim is believed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881360" cy="82296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As A compliance 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673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I want to browse a log of every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673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2BB"/>
                </a:solidFill>
                <a:latin typeface="Segoe UI"/>
              </a:rPr>
              <a:t>so that what ran and why is verifiable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881360" cy="82296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274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As An evaluator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274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I want to run one command against known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7274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2BB"/>
                </a:solidFill>
                <a:latin typeface="Segoe UI"/>
              </a:rPr>
              <a:t>so that safety is measured, not asserted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THE GATE · MAHD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Nine rules, checked on every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No destructive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6459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DELETE, UPDATE, DROP never run. Read-only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One query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no stacked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No hidden write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comment tricks are caught by re-parsing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Only allowed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everything outside the clinic tables is refused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Private columns stay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masked, and indirect routes (grouping, ordering)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No system-table snooping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05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no mapping the database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No execution tricks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6634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no code execution, file attaches, or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Huge answers get a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1663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unbounded reads get a LIMIT suggestion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9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</a:rPr>
              <a:t>Unreadable means blocked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6692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if the gate cannot parse it, nothing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HOW IT IS BUILT · MAHD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Boring on purpose, verified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14630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FB3C8"/>
                </a:solidFill>
                <a:latin typeface="Segoe UI"/>
              </a:rPr>
              <a:t>RULES ON THE PARSED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Rules run on a parsed SQL tree, never on raw text. Comment tricks and hidden writes survive no other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14630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FB3C8"/>
                </a:solidFill>
                <a:latin typeface="Segoe UI"/>
              </a:rPr>
              <a:t>READ-ONLY, ONE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0428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The executor holds a read-only connection. Blocked queries never reach the database. Every decision is logged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303520" cy="14630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FB3C8"/>
                </a:solidFill>
                <a:latin typeface="Segoe UI"/>
              </a:rPr>
              <a:t>NO EXTERNAL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020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A deterministic stand-in stands in for the live AI, so tests and demos never depend on an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146304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47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FB3C8"/>
                </a:solidFill>
                <a:latin typeface="Segoe UI"/>
              </a:rPr>
              <a:t>CONTINUOUS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5020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Every push runs 40 tests plus a 64-case labeled corpus. Any miss fails the build.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Segoe UI"/>
              </a:rPr>
              <a:t>Practices from this course: user stories, test-first development, refactoring, continuous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MEASURED RESULTS · MAHD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F0E8"/>
                </a:solidFill>
                <a:latin typeface="Segoe UI"/>
              </a:rPr>
              <a:t>Measured, not asserted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057400" cy="13716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3D17C"/>
                </a:solidFill>
                <a:latin typeface="Segoe UI"/>
              </a:rPr>
              <a:t>34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BB"/>
                </a:solidFill>
                <a:latin typeface="Segoe UI"/>
              </a:rPr>
              <a:t>attacks stopped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737360"/>
            <a:ext cx="2057400" cy="13716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3D17C"/>
                </a:solidFill>
                <a:latin typeface="Segoe UI"/>
              </a:rPr>
              <a:t>0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146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BB"/>
                </a:solidFill>
                <a:latin typeface="Segoe UI"/>
              </a:rPr>
              <a:t>safe questions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737360"/>
            <a:ext cx="2057400" cy="13716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874519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9FB3C8"/>
                </a:solidFill>
                <a:latin typeface="Segoe UI"/>
              </a:rPr>
              <a:t>0.57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146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BB"/>
                </a:solidFill>
                <a:latin typeface="Segoe UI"/>
              </a:rPr>
              <a:t>slowest check (target 50)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737360"/>
            <a:ext cx="2057400" cy="13716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874519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8"/>
                </a:solidFill>
                <a:latin typeface="Segoe U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5146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BB"/>
                </a:solidFill>
                <a:latin typeface="Segoe UI"/>
              </a:rPr>
              <a:t>automated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737360"/>
            <a:ext cx="2057400" cy="137160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874519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8"/>
                </a:solidFill>
                <a:latin typeface="Segoe UI"/>
              </a:rPr>
              <a:t>384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5146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BB"/>
                </a:solidFill>
                <a:latin typeface="Segoe UI"/>
              </a:rPr>
              <a:t>rewrite-stability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One honest note: 9 of the 34 attacks were answered with private columns removed (MASK)</a:t>
            </a:r>
          </a:p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instead of blocked. Nothing leaked. That is the designed outcome, reported separately so the numbers stay honest.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B3C8"/>
                </a:solidFill>
                <a:latin typeface="Segoe UI"/>
              </a:rPr>
              <a:t>The live AI mode is not built yet. The demo runs on a deterministic stand-in,</a:t>
            </a:r>
          </a:p>
          <a:p>
            <a:pPr algn="l"/>
            <a:r>
              <a:rPr sz="1500" b="0">
                <a:solidFill>
                  <a:srgbClr val="9FB3C8"/>
                </a:solidFill>
                <a:latin typeface="Segoe UI"/>
              </a:rPr>
              <a:t>so nothing on this slide depends on an external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</a:rPr>
              <a:t>WHAT IS NEXT · MAHD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0E8"/>
                </a:solidFill>
                <a:latin typeface="Segoe UI"/>
              </a:rPr>
              <a:t>The demo is the argument.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881360" cy="73152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94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FB3C8"/>
                </a:solidFill>
                <a:latin typeface="Segoe UI"/>
              </a:rPr>
              <a:t>Live AI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49424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swap the stand-in for a real model behind the same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10881360" cy="73152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1810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FB3C8"/>
                </a:solidFill>
                <a:latin typeface="Segoe UI"/>
              </a:rPr>
              <a:t>Intent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18104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does the SQL do what the question asked (stretch)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79"/>
            <a:ext cx="10881360" cy="731520"/>
          </a:xfrm>
          <a:prstGeom prst="roundRect">
            <a:avLst/>
          </a:prstGeom>
          <a:solidFill>
            <a:srgbClr val="1B2027"/>
          </a:solidFill>
          <a:ln>
            <a:solidFill>
              <a:srgbClr val="2A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8678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FB3C8"/>
                </a:solidFill>
                <a:latin typeface="Segoe UI"/>
              </a:rPr>
              <a:t>Corpus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986783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0E8"/>
                </a:solidFill>
                <a:latin typeface="Segoe UI"/>
              </a:rPr>
              <a:t>fuzzed attack variants, so the guard tests itself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Live demo: safe question, blocked attack, masked private columns, the log.</a:t>
            </a:r>
          </a:p>
          <a:p>
            <a:pPr algn="l"/>
            <a:r>
              <a:rPr sz="1500" b="0">
                <a:solidFill>
                  <a:srgbClr val="A8B2BB"/>
                </a:solidFill>
                <a:latin typeface="Segoe UI"/>
              </a:rPr>
              <a:t>Mahd Amjad · Arwa Ali Arafeh · github.com/Mahd-Amjad/queryguard-cs5391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